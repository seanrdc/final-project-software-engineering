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The problem and our idea" id="{297104df-b2f4-a5fa-95b8-fdf9a2f532d6}">
          <p14:sldIdLst>
            <p14:sldId id="256"/>
            <p14:sldId id="257"/>
            <p14:sldId id="258"/>
          </p14:sldIdLst>
        </p14:section>
        <p14:section name="Part 2: Studying the clinic" id="{f2b4580b-72f7-2316-df38-1999f5c0c0d4}">
          <p14:sldIdLst>
            <p14:sldId id="259"/>
            <p14:sldId id="260"/>
            <p14:sldId id="261"/>
          </p14:sldIdLst>
        </p14:section>
        <p14:section name="Part 3: Designing the system" id="{bf9d3812-b60c-57e0-43bd-17213138d2e6}">
          <p14:sldIdLst>
            <p14:sldId id="262"/>
            <p14:sldId id="263"/>
            <p14:sldId id="264"/>
          </p14:sldIdLst>
        </p14:section>
        <p14:section name="Part 4: The system, from arrival to record" id="{484cfc31-efdd-97f3-e6ce-44761339192e}">
          <p14:sldIdLst>
            <p14:sldId id="265"/>
            <p14:sldId id="266"/>
            <p14:sldId id="267"/>
          </p14:sldIdLst>
        </p14:section>
        <p14:section name="Part 5: Appointments, medicine, reports and privacy" id="{61bd61c9-e2cd-1177-96b3-eb04112f52f7}">
          <p14:sldIdLst>
            <p14:sldId id="268"/>
            <p14:sldId id="269"/>
            <p14:sldId id="270"/>
          </p14:sldIdLst>
        </p14:section>
        <p14:section name="Part 6: How we built it, and what is next" id="{398254b5-1201-5d09-e1fd-cecb07584303}">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 Jarin Dela Cruz
Good day, everyone. We are a group of third-year Computer Science students from section CS-302 of Holy Angel University, and this is our final project in Software Engineering under Prof. Evicen Flores.
Our project is called HAU-Sync. It is a patient record and appointment system that we built for the Holy Angel University Clinic.
In this video, the six of us will walk you through the problem we saw, how we studied it, how we designed the system, and then the working system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 Jarin Dela Cruz
Let us start with the problem. Right now, the University Clinic does almost everything by hand.
When you visit the clinic, your name goes into a handwritten patient log. Your medical record is on paper. Even the list of medicines in stock is kept by hand.
Paper works, but it is slow. During busy hours, when many students come in at the same time, the staff have to write, find and pass papers around. It is hard to search for an old record, and a sheet of paper can easily be misplaced.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 Jarin Dela Cruz
So our idea is simple. Instead of passing paper from one person to the next, everyone in the clinic looks at the same record.
The front desk logs the patient. The nurse records the visit. And the doctor sees that same record right away on their own screen, without anyone handing anything over.
The system runs only inside the clinic, on the clinic's own network. Nothing leaves the clinic's computers. That matters because health information is sensitive and is protected by the Data Privacy Act of 2012.
To explain how we studied the clinic, here is Mikko.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Mikko Brandon B. Panergo
Thank you, Sean. Before we wrote any code, we first had to understand the place where the system will be used.
The clinic is on the ground floor of the PGN Building, in the middle of the campus, so it is easy for students and employees to reach. It has a waiting area, an infirmary, two doctor's offices and a dental office.
The good news is that the clinic already has what the system needs. It has computers and a router, it has its own internet connection, and the building has a generator. So we did not need to ask for any new equipment. We designed the system to fit what is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Mikko Brandon B. Panergo
We also sat down with the clinic personnel for an interview, and four things stood out.
First, everything is handwritten, so the staff write the same details again and again.
Second, the school portal no longer supports the clinic, so they have no digital way to keep patient information.
Third, the front desk slows down during peak hours, when student traffic is at its highest.
And fourth, they want the system to stay inside the clinic, because patient information must stay private. These four findings shaped everything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Mikko Brandon B. Panergo
From the interview and our project paper, we wrote down the requirements. We ended up with fifteen functional requirements and fifteen non-functional requirements.
The functional requirements are the things the system does: signing in with a role, keeping patient records, recording visits, managing appointments, tracking the medicine inventory, making reports and showing a dashboard.
The non-functional requirements describe how well it should do those things: it must be secure, it must keep data private, it must be easy to use, and it must be reliable.
Next, Bernard will show how we turned these requirements into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Bernard Rodriguez Jr.
Thanks, Mikko. This is our Level 0 diagram, also called the context diagram. It shows the whole system as one circle, and the people who give it information and get information back.
There are three kinds of users. The clinic staff, which means the nurses and the student assistants. The doctor. And the clinic coordinator, who manages the clinic.
You might notice that the patient is not here. That is on purpose. The clinic asked for a clinic-only system, so patients do not have accounts. The staff enter the patient's details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Bernard Rodriguez Jr.
Now we open that one circle and look inside. This is our Level 1 data flow diagram.
The system is made of seven processes: managing patient records, managing appointments, recording visits and consultations, managing the medicine inventory, generating reports, signing in and showing the dashboard, and managing accounts and the audit log.
It also has seven data stores, which is where the information is kept. The arrows show how information moves. For example, when a nurse releases medicine during a visit, that goes to the inventory process, which takes it off the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Bernard Rodriguez Jr.
This is our use case diagram. It answers one question: who is allowed to do what?
The clinic staff check patients in, record visits, release medicine and book appointments.
The doctor writes the consultation notes and the diagnosis.
The coordinator can do everything the staff and the doctor can, and also confirms appointments, manages the accounts and reads the audit log.
This is important for privacy. Each person only sees and does what their work needs. Now Gil will show you the actual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Gil Miranda
Thank you, Bernard. Now let us look at the real thing. This is the dashboard, the first screen you see after signing in.
It puts the clinic's whole day on one screen: the visits today, the appointments today, the medicines that are running low, and the latest notifications.
And it updates live. If the front desk checks in a patient, the nurse and the doctor see it on their screens right away. Nobody needs to refresh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Gil Miranda
When a patient walks in, the staff search for them by name or by ID number, tap a common complaint such as headache or fever, and check them in. It only takes a few taps.
That opens a visit record. The nurse enters the vital signs, the assessment and the treatment. The system also checks what is typed. If someone enters a value that is not possible, like an oxygen level of one hundred twenty percent, it will not accept it.
Then the doctor opens the very same visit and adds the consultation notes and the diagnosis. While the doctor is editing, the system tells the nurse, so they do not overwrite each other's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Gil Miranda
Every patient has one record. At the very top, the system shows the alerts first: allergies, health conditions and restrictions. So the staff see the important warnings before anything else.
Below that is the full history of the patient's visits, from the newest to the oldest. The staff can also attach files, such as a lab result.
And patients are never deleted. If a record is no longer needed, it is archived, so the history is always kept. Next is Mclaren.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Mclaren Ais Miranda
Thanks, Gil. Let us continue with appointments. The staff can book an appointment and move it to another day. A new appointment starts as pending, and the coordinator confirms or cancels it. When the patient arrives, one tap checks them in.
For medicine, the system keeps count for the clinic. When a nurse releases medicine during a visit, the stock goes down by itself. When a medicine is running low, the system gives a warning. And every release is written in a log, so the clinic can always see where the medicine went.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Mclaren Ais Miranda
The clinic also needs to submit reports. Before, someone had to count everything by hand.
Now the staff just choose a period, such as a month, a semester or the summer term, and the system shows the numbers and the charts: how many visits there were, what kind, from which department, and the most common complaints.
The report can be downloaded as a file that opens in Excel, or saved inside the system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Mclaren Ais Miranda
Because this is health information, we treated privacy as a main feature, not as an extra.
First, the data stays in the clinic. The system runs on the clinic's own network.
Second, access depends on your role, so you only see what your work needs.
Third, every time someone views or changes a patient's record, it is written in an audit log that the coordinator can read.
And fourth, a computer that is left unused for an hour signs itself out. All of this is in keeping with the Data Privacy Act of 2012. To explain how we built all of this, here is Paolo.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Paolo Villanueva
Thank you, Mclaren. Here is how the system works behind the screen, in simple terms.
The system has two halves. The first half is what you see in the browser. We built it with React and TypeScript. The second half is the backend, which keeps the rules and the data. We built it with Python and FastAPI, and it saves everything in a database.
At the clinic, one computer acts as the server. The front desk, the nurse and the doctor simply open one address in their browser. The server also sends live updates to every station, which is why a change on one screen appears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Paolo Villanueva
For our process, we followed the Agile model. That means we built the system in small parts, tested each part, and improved it as we learned more from the clinic.
We worked in five phases. First, the proposal and its approval. Second, gathering the requirements through the interview. Third, the database and the backend. Fourth, the screens. And fifth, where we are now, testing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Paolo Villanueva
We do not just hope that the system works. We wrote automated tests that check it for us every time we change the code: 75 tests for the backend and 275 tests for the screens.
We also want to be honest about one thing. Every feature in our project paper is built, except the urgent-case queue, which our team decided to leave out.
From here, there are three steps left. We finish testing as a team. Then the clinic personnel try the system and tell us what to change. And finally, we install it on the clinic's computer and turn it over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Paolo Villanueva, then everyone
To sum up: HAU-Sync replaces the clinic's paper with one shared record that is faster to use, easier to search, and safer for patient information.
We would like to thank the Holy Angel University Clinic for their time and support, and Prof. Evicen Flores for guiding us.
(Everyone)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7A1C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4"/>
                </a:solidFill>
              </a:rPr>
              <a:t>HAU-Sync  ·  CS-302</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eal back 1"/>
          <p:cNvSpPr/>
          <p:nvPr/>
        </p:nvSpPr>
        <p:spPr>
          <a:xfrm>
            <a:off x="4023360" y="640080"/>
            <a:ext cx="1097280" cy="1097280"/>
          </a:xfrm>
          <a:prstGeom prst="ellipse">
            <a:avLst/>
          </a:prstGeom>
          <a:solidFill>
            <a:srgbClr val="FFFFFF"/>
          </a:solidFill>
          <a:ln w="12700">
            <a:solidFill>
              <a:srgbClr val="FFFFFF"/>
            </a:solidFill>
            <a:prstDash val="solid"/>
          </a:ln>
        </p:spPr>
      </p:sp>
      <p:pic>
        <p:nvPicPr>
          <p:cNvPr id="4" name="Seal 2" descr="C:\Users\sean\Documents\Github Repos\Final-Project-Software-Engineering\frontend\src\assets\hau-logo.png">    </p:cNvPr>
          <p:cNvPicPr>
            <a:picLocks noChangeAspect="1"/>
          </p:cNvPicPr>
          <p:nvPr/>
        </p:nvPicPr>
        <p:blipFill>
          <a:blip r:embed="rId1"/>
          <a:stretch>
            <a:fillRect/>
          </a:stretch>
        </p:blipFill>
        <p:spPr>
          <a:xfrm>
            <a:off x="4114800" y="731520"/>
            <a:ext cx="914400" cy="914400"/>
          </a:xfrm>
          <a:prstGeom prst="rect">
            <a:avLst/>
          </a:prstGeom>
        </p:spPr>
      </p:pic>
      <p:sp>
        <p:nvSpPr>
          <p:cNvPr id="5" name="Text 3"/>
          <p:cNvSpPr txBox="1"/>
          <p:nvPr/>
        </p:nvSpPr>
        <p:spPr>
          <a:xfrm>
            <a:off x="457200" y="1920240"/>
            <a:ext cx="8229600" cy="914400"/>
          </a:xfrm>
          <a:prstGeom prst="rect">
            <a:avLst/>
          </a:prstGeom>
          <a:noFill/>
          <a:ln/>
        </p:spPr>
        <p:txBody>
          <a:bodyPr wrap="square" lIns="0" tIns="0" rIns="0" bIns="0" rtlCol="0" anchor="ctr"/>
          <a:lstStyle/>
          <a:p>
            <a:pPr algn="ctr" indent="0" marL="0">
              <a:buNone/>
            </a:pPr>
            <a:r>
              <a:rPr lang="en-US" sz="6000" b="1" dirty="0">
                <a:solidFill>
                  <a:schemeClr val="bg1"/>
                </a:solidFill>
                <a:latin typeface="+mj-lt" pitchFamily="34" charset="0"/>
                <a:ea typeface="+mj-lt" pitchFamily="34" charset="-122"/>
                <a:cs typeface="+mj-lt" pitchFamily="34" charset="-120"/>
              </a:rPr>
              <a:t>HAU-Sync</a:t>
            </a:r>
            <a:endParaRPr lang="en-US" sz="6000" dirty="0"/>
          </a:p>
        </p:txBody>
      </p:sp>
      <p:sp>
        <p:nvSpPr>
          <p:cNvPr id="6" name="Text 4"/>
          <p:cNvSpPr txBox="1"/>
          <p:nvPr/>
        </p:nvSpPr>
        <p:spPr>
          <a:xfrm>
            <a:off x="914400" y="2880360"/>
            <a:ext cx="7315200" cy="731520"/>
          </a:xfrm>
          <a:prstGeom prst="rect">
            <a:avLst/>
          </a:prstGeom>
          <a:noFill/>
          <a:ln/>
        </p:spPr>
        <p:txBody>
          <a:bodyPr wrap="square" lIns="0" tIns="0" rIns="0" bIns="0" rtlCol="0" anchor="ctr"/>
          <a:lstStyle/>
          <a:p>
            <a:pPr algn="ctr" indent="0" marL="0">
              <a:buNone/>
            </a:pPr>
            <a:r>
              <a:rPr lang="en-US" sz="1800" dirty="0">
                <a:solidFill>
                  <a:schemeClr val="bg1"/>
                </a:solidFill>
              </a:rPr>
              <a:t>Patient Record Management and Appointment System</a:t>
            </a:r>
            <a:endParaRPr lang="en-US" sz="1800" dirty="0"/>
          </a:p>
          <a:p>
            <a:pPr algn="ctr" indent="0" marL="0">
              <a:buNone/>
            </a:pPr>
            <a:r>
              <a:rPr lang="en-US" sz="1800" dirty="0">
                <a:solidFill>
                  <a:schemeClr val="bg1"/>
                </a:solidFill>
              </a:rPr>
              <a:t>for the Holy Angel University Clinic</a:t>
            </a:r>
            <a:endParaRPr lang="en-US" sz="1800" dirty="0"/>
          </a:p>
        </p:txBody>
      </p:sp>
      <p:sp>
        <p:nvSpPr>
          <p:cNvPr id="7" name="Text 5"/>
          <p:cNvSpPr txBox="1"/>
          <p:nvPr/>
        </p:nvSpPr>
        <p:spPr>
          <a:xfrm>
            <a:off x="914400" y="4251960"/>
            <a:ext cx="7315200" cy="274320"/>
          </a:xfrm>
          <a:prstGeom prst="rect">
            <a:avLst/>
          </a:prstGeom>
          <a:noFill/>
          <a:ln/>
        </p:spPr>
        <p:txBody>
          <a:bodyPr wrap="square" lIns="0" tIns="0" rIns="0" bIns="0" rtlCol="0" anchor="ctr"/>
          <a:lstStyle/>
          <a:p>
            <a:pPr algn="ctr" indent="0" marL="0">
              <a:buNone/>
            </a:pPr>
            <a:r>
              <a:rPr lang="en-US" sz="1200" dirty="0">
                <a:solidFill>
                  <a:schemeClr val="accent2"/>
                </a:solidFill>
              </a:rPr>
              <a:t>CS-302  ·  Software Engineering Final Project  ·  Prof. Evicen Flores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Today, the clinic works on paper</a:t>
            </a:r>
            <a:endParaRPr lang="en-US" sz="3200" dirty="0"/>
          </a:p>
        </p:txBody>
      </p:sp>
      <p:sp>
        <p:nvSpPr>
          <p:cNvPr id="3" name="Eyebrow 6"/>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PROBLEM</a:t>
            </a:r>
            <a:endParaRPr lang="en-US" sz="1100" dirty="0"/>
          </a:p>
        </p:txBody>
      </p:sp>
      <p:sp>
        <p:nvSpPr>
          <p:cNvPr id="5" name="Card 7"/>
          <p:cNvSpPr/>
          <p:nvPr/>
        </p:nvSpPr>
        <p:spPr>
          <a:xfrm>
            <a:off x="457200" y="1371600"/>
            <a:ext cx="2560320" cy="2103120"/>
          </a:xfrm>
          <a:prstGeom prst="roundRect">
            <a:avLst>
              <a:gd name="adj" fmla="val 3478"/>
            </a:avLst>
          </a:prstGeom>
          <a:solidFill>
            <a:schemeClr val="bg2"/>
          </a:solidFill>
          <a:ln w="12700">
            <a:solidFill>
              <a:schemeClr val="bg2"/>
            </a:solidFill>
            <a:prstDash val="solid"/>
          </a:ln>
        </p:spPr>
      </p:sp>
      <p:sp>
        <p:nvSpPr>
          <p:cNvPr id="6" name="Badge 8"/>
          <p:cNvSpPr/>
          <p:nvPr/>
        </p:nvSpPr>
        <p:spPr>
          <a:xfrm>
            <a:off x="1417320" y="1600200"/>
            <a:ext cx="640080" cy="640080"/>
          </a:xfrm>
          <a:prstGeom prst="ellipse">
            <a:avLst/>
          </a:prstGeom>
          <a:solidFill>
            <a:schemeClr val="accent1"/>
          </a:solidFill>
          <a:ln w="12700">
            <a:solidFill>
              <a:schemeClr val="accent1"/>
            </a:solidFill>
            <a:prstDash val="solid"/>
          </a:ln>
        </p:spPr>
      </p:sp>
      <p:pic>
        <p:nvPicPr>
          <p:cNvPr id="7" name="Icon 9" descr="preencoded.png">    </p:cNvPr>
          <p:cNvPicPr>
            <a:picLocks noChangeAspect="1"/>
          </p:cNvPicPr>
          <p:nvPr/>
        </p:nvPicPr>
        <p:blipFill>
          <a:blip r:embed="rId1"/>
          <a:stretch>
            <a:fillRect/>
          </a:stretch>
        </p:blipFill>
        <p:spPr>
          <a:xfrm>
            <a:off x="1590142" y="1773022"/>
            <a:ext cx="294437" cy="294437"/>
          </a:xfrm>
          <a:prstGeom prst="rect">
            <a:avLst/>
          </a:prstGeom>
        </p:spPr>
      </p:pic>
      <p:sp>
        <p:nvSpPr>
          <p:cNvPr id="8" name="Text 10"/>
          <p:cNvSpPr txBox="1"/>
          <p:nvPr/>
        </p:nvSpPr>
        <p:spPr>
          <a:xfrm>
            <a:off x="640080" y="2423160"/>
            <a:ext cx="2194560" cy="320040"/>
          </a:xfrm>
          <a:prstGeom prst="rect">
            <a:avLst/>
          </a:prstGeom>
          <a:noFill/>
          <a:ln/>
        </p:spPr>
        <p:txBody>
          <a:bodyPr wrap="square" lIns="0" tIns="0" rIns="0" bIns="0" rtlCol="0" anchor="ctr"/>
          <a:lstStyle/>
          <a:p>
            <a:pPr algn="ctr" indent="0" marL="0">
              <a:buNone/>
            </a:pPr>
            <a:r>
              <a:rPr lang="en-US" sz="1800" b="1" dirty="0">
                <a:solidFill>
                  <a:schemeClr val="tx1"/>
                </a:solidFill>
              </a:rPr>
              <a:t>Patient log</a:t>
            </a:r>
            <a:endParaRPr lang="en-US" sz="1800" dirty="0"/>
          </a:p>
        </p:txBody>
      </p:sp>
      <p:sp>
        <p:nvSpPr>
          <p:cNvPr id="9" name="Text 11"/>
          <p:cNvSpPr txBox="1"/>
          <p:nvPr/>
        </p:nvSpPr>
        <p:spPr>
          <a:xfrm>
            <a:off x="640080" y="2788920"/>
            <a:ext cx="2194560" cy="502920"/>
          </a:xfrm>
          <a:prstGeom prst="rect">
            <a:avLst/>
          </a:prstGeom>
          <a:noFill/>
          <a:ln/>
        </p:spPr>
        <p:txBody>
          <a:bodyPr wrap="square" lIns="0" tIns="0" rIns="0" bIns="0" rtlCol="0" anchor="t"/>
          <a:lstStyle/>
          <a:p>
            <a:pPr algn="ctr" indent="0" marL="0">
              <a:buNone/>
            </a:pPr>
            <a:r>
              <a:rPr lang="en-US" sz="1400" dirty="0">
                <a:solidFill>
                  <a:schemeClr val="accent4"/>
                </a:solidFill>
              </a:rPr>
              <a:t>Written by hand at the front desk</a:t>
            </a:r>
            <a:endParaRPr lang="en-US" sz="1400" dirty="0"/>
          </a:p>
        </p:txBody>
      </p:sp>
      <p:sp>
        <p:nvSpPr>
          <p:cNvPr id="10" name="Card 12"/>
          <p:cNvSpPr/>
          <p:nvPr/>
        </p:nvSpPr>
        <p:spPr>
          <a:xfrm>
            <a:off x="3291840" y="1371600"/>
            <a:ext cx="2560320" cy="2103120"/>
          </a:xfrm>
          <a:prstGeom prst="roundRect">
            <a:avLst>
              <a:gd name="adj" fmla="val 3478"/>
            </a:avLst>
          </a:prstGeom>
          <a:solidFill>
            <a:schemeClr val="bg2"/>
          </a:solidFill>
          <a:ln w="12700">
            <a:solidFill>
              <a:schemeClr val="bg2"/>
            </a:solidFill>
            <a:prstDash val="solid"/>
          </a:ln>
        </p:spPr>
      </p:sp>
      <p:sp>
        <p:nvSpPr>
          <p:cNvPr id="11" name="Badge 13"/>
          <p:cNvSpPr/>
          <p:nvPr/>
        </p:nvSpPr>
        <p:spPr>
          <a:xfrm>
            <a:off x="4251960" y="1600200"/>
            <a:ext cx="640080" cy="640080"/>
          </a:xfrm>
          <a:prstGeom prst="ellipse">
            <a:avLst/>
          </a:prstGeom>
          <a:solidFill>
            <a:schemeClr val="accent1"/>
          </a:solidFill>
          <a:ln w="12700">
            <a:solidFill>
              <a:schemeClr val="accent1"/>
            </a:solidFill>
            <a:prstDash val="solid"/>
          </a:ln>
        </p:spPr>
      </p:sp>
      <p:pic>
        <p:nvPicPr>
          <p:cNvPr id="12" name="Icon 14" descr="preencoded.png">    </p:cNvPr>
          <p:cNvPicPr>
            <a:picLocks noChangeAspect="1"/>
          </p:cNvPicPr>
          <p:nvPr/>
        </p:nvPicPr>
        <p:blipFill>
          <a:blip r:embed="rId2"/>
          <a:stretch>
            <a:fillRect/>
          </a:stretch>
        </p:blipFill>
        <p:spPr>
          <a:xfrm>
            <a:off x="4424782" y="1773022"/>
            <a:ext cx="294437" cy="294437"/>
          </a:xfrm>
          <a:prstGeom prst="rect">
            <a:avLst/>
          </a:prstGeom>
        </p:spPr>
      </p:pic>
      <p:sp>
        <p:nvSpPr>
          <p:cNvPr id="13" name="Text 15"/>
          <p:cNvSpPr txBox="1"/>
          <p:nvPr/>
        </p:nvSpPr>
        <p:spPr>
          <a:xfrm>
            <a:off x="3474720" y="2423160"/>
            <a:ext cx="2194560" cy="320040"/>
          </a:xfrm>
          <a:prstGeom prst="rect">
            <a:avLst/>
          </a:prstGeom>
          <a:noFill/>
          <a:ln/>
        </p:spPr>
        <p:txBody>
          <a:bodyPr wrap="square" lIns="0" tIns="0" rIns="0" bIns="0" rtlCol="0" anchor="ctr"/>
          <a:lstStyle/>
          <a:p>
            <a:pPr algn="ctr" indent="0" marL="0">
              <a:buNone/>
            </a:pPr>
            <a:r>
              <a:rPr lang="en-US" sz="1800" b="1" dirty="0">
                <a:solidFill>
                  <a:schemeClr val="tx1"/>
                </a:solidFill>
              </a:rPr>
              <a:t>Patient records</a:t>
            </a:r>
            <a:endParaRPr lang="en-US" sz="1800" dirty="0"/>
          </a:p>
        </p:txBody>
      </p:sp>
      <p:sp>
        <p:nvSpPr>
          <p:cNvPr id="14" name="Text 16"/>
          <p:cNvSpPr txBox="1"/>
          <p:nvPr/>
        </p:nvSpPr>
        <p:spPr>
          <a:xfrm>
            <a:off x="3474720" y="2788920"/>
            <a:ext cx="2194560" cy="502920"/>
          </a:xfrm>
          <a:prstGeom prst="rect">
            <a:avLst/>
          </a:prstGeom>
          <a:noFill/>
          <a:ln/>
        </p:spPr>
        <p:txBody>
          <a:bodyPr wrap="square" lIns="0" tIns="0" rIns="0" bIns="0" rtlCol="0" anchor="t"/>
          <a:lstStyle/>
          <a:p>
            <a:pPr algn="ctr" indent="0" marL="0">
              <a:buNone/>
            </a:pPr>
            <a:r>
              <a:rPr lang="en-US" sz="1400" dirty="0">
                <a:solidFill>
                  <a:schemeClr val="accent4"/>
                </a:solidFill>
              </a:rPr>
              <a:t>Kept on paper and passed around</a:t>
            </a:r>
            <a:endParaRPr lang="en-US" sz="1400" dirty="0"/>
          </a:p>
        </p:txBody>
      </p:sp>
      <p:sp>
        <p:nvSpPr>
          <p:cNvPr id="15" name="Card 17"/>
          <p:cNvSpPr/>
          <p:nvPr/>
        </p:nvSpPr>
        <p:spPr>
          <a:xfrm>
            <a:off x="6126480" y="1371600"/>
            <a:ext cx="2560320" cy="2103120"/>
          </a:xfrm>
          <a:prstGeom prst="roundRect">
            <a:avLst>
              <a:gd name="adj" fmla="val 3478"/>
            </a:avLst>
          </a:prstGeom>
          <a:solidFill>
            <a:schemeClr val="bg2"/>
          </a:solidFill>
          <a:ln w="12700">
            <a:solidFill>
              <a:schemeClr val="bg2"/>
            </a:solidFill>
            <a:prstDash val="solid"/>
          </a:ln>
        </p:spPr>
      </p:sp>
      <p:sp>
        <p:nvSpPr>
          <p:cNvPr id="16" name="Badge 18"/>
          <p:cNvSpPr/>
          <p:nvPr/>
        </p:nvSpPr>
        <p:spPr>
          <a:xfrm>
            <a:off x="7086600" y="1600200"/>
            <a:ext cx="640080" cy="640080"/>
          </a:xfrm>
          <a:prstGeom prst="ellipse">
            <a:avLst/>
          </a:prstGeom>
          <a:solidFill>
            <a:schemeClr val="accent1"/>
          </a:solidFill>
          <a:ln w="12700">
            <a:solidFill>
              <a:schemeClr val="accent1"/>
            </a:solidFill>
            <a:prstDash val="solid"/>
          </a:ln>
        </p:spPr>
      </p:sp>
      <p:pic>
        <p:nvPicPr>
          <p:cNvPr id="17" name="Icon 19" descr="preencoded.png">    </p:cNvPr>
          <p:cNvPicPr>
            <a:picLocks noChangeAspect="1"/>
          </p:cNvPicPr>
          <p:nvPr/>
        </p:nvPicPr>
        <p:blipFill>
          <a:blip r:embed="rId3"/>
          <a:stretch>
            <a:fillRect/>
          </a:stretch>
        </p:blipFill>
        <p:spPr>
          <a:xfrm>
            <a:off x="7259422" y="1773022"/>
            <a:ext cx="294437" cy="294437"/>
          </a:xfrm>
          <a:prstGeom prst="rect">
            <a:avLst/>
          </a:prstGeom>
        </p:spPr>
      </p:pic>
      <p:sp>
        <p:nvSpPr>
          <p:cNvPr id="18" name="Text 20"/>
          <p:cNvSpPr txBox="1"/>
          <p:nvPr/>
        </p:nvSpPr>
        <p:spPr>
          <a:xfrm>
            <a:off x="6309360" y="2423160"/>
            <a:ext cx="2194560" cy="320040"/>
          </a:xfrm>
          <a:prstGeom prst="rect">
            <a:avLst/>
          </a:prstGeom>
          <a:noFill/>
          <a:ln/>
        </p:spPr>
        <p:txBody>
          <a:bodyPr wrap="square" lIns="0" tIns="0" rIns="0" bIns="0" rtlCol="0" anchor="ctr"/>
          <a:lstStyle/>
          <a:p>
            <a:pPr algn="ctr" indent="0" marL="0">
              <a:buNone/>
            </a:pPr>
            <a:r>
              <a:rPr lang="en-US" sz="1800" b="1" dirty="0">
                <a:solidFill>
                  <a:schemeClr val="tx1"/>
                </a:solidFill>
              </a:rPr>
              <a:t>Medicine inventory</a:t>
            </a:r>
            <a:endParaRPr lang="en-US" sz="1800" dirty="0"/>
          </a:p>
        </p:txBody>
      </p:sp>
      <p:sp>
        <p:nvSpPr>
          <p:cNvPr id="19" name="Text 21"/>
          <p:cNvSpPr txBox="1"/>
          <p:nvPr/>
        </p:nvSpPr>
        <p:spPr>
          <a:xfrm>
            <a:off x="6309360" y="2788920"/>
            <a:ext cx="2194560" cy="502920"/>
          </a:xfrm>
          <a:prstGeom prst="rect">
            <a:avLst/>
          </a:prstGeom>
          <a:noFill/>
          <a:ln/>
        </p:spPr>
        <p:txBody>
          <a:bodyPr wrap="square" lIns="0" tIns="0" rIns="0" bIns="0" rtlCol="0" anchor="t"/>
          <a:lstStyle/>
          <a:p>
            <a:pPr algn="ctr" indent="0" marL="0">
              <a:buNone/>
            </a:pPr>
            <a:r>
              <a:rPr lang="en-US" sz="1400" dirty="0">
                <a:solidFill>
                  <a:schemeClr val="accent4"/>
                </a:solidFill>
              </a:rPr>
              <a:t>Counted and updated by hand</a:t>
            </a:r>
            <a:endParaRPr lang="en-US" sz="1400" dirty="0"/>
          </a:p>
        </p:txBody>
      </p:sp>
      <p:sp>
        <p:nvSpPr>
          <p:cNvPr id="20" name="Text 22"/>
          <p:cNvSpPr txBox="1"/>
          <p:nvPr/>
        </p:nvSpPr>
        <p:spPr>
          <a:xfrm>
            <a:off x="457200" y="3840480"/>
            <a:ext cx="8229600" cy="365760"/>
          </a:xfrm>
          <a:prstGeom prst="rect">
            <a:avLst/>
          </a:prstGeom>
          <a:noFill/>
          <a:ln/>
        </p:spPr>
        <p:txBody>
          <a:bodyPr wrap="square" lIns="0" tIns="0" rIns="0" bIns="0" rtlCol="0" anchor="ctr"/>
          <a:lstStyle/>
          <a:p>
            <a:pPr algn="ctr" indent="0" marL="0">
              <a:buNone/>
            </a:pPr>
            <a:r>
              <a:rPr lang="en-US" sz="1800" i="1" dirty="0">
                <a:solidFill>
                  <a:schemeClr val="accent1"/>
                </a:solidFill>
              </a:rPr>
              <a:t>Slow at peak hours. Hard to search. Easy to misplace.</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One record, shared by everyone</a:t>
            </a:r>
            <a:endParaRPr lang="en-US" sz="3200" dirty="0"/>
          </a:p>
        </p:txBody>
      </p:sp>
      <p:sp>
        <p:nvSpPr>
          <p:cNvPr id="3" name="Eyebrow 23"/>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OUR IDEA</a:t>
            </a:r>
            <a:endParaRPr lang="en-US" sz="1100" dirty="0"/>
          </a:p>
        </p:txBody>
      </p:sp>
      <p:sp>
        <p:nvSpPr>
          <p:cNvPr id="5" name="Badge 24"/>
          <p:cNvSpPr/>
          <p:nvPr/>
        </p:nvSpPr>
        <p:spPr>
          <a:xfrm>
            <a:off x="1325880" y="1417320"/>
            <a:ext cx="1005840" cy="1005840"/>
          </a:xfrm>
          <a:prstGeom prst="ellipse">
            <a:avLst/>
          </a:prstGeom>
          <a:solidFill>
            <a:schemeClr val="accent1"/>
          </a:solidFill>
          <a:ln w="12700">
            <a:solidFill>
              <a:schemeClr val="accent1"/>
            </a:solidFill>
            <a:prstDash val="solid"/>
          </a:ln>
        </p:spPr>
      </p:sp>
      <p:pic>
        <p:nvPicPr>
          <p:cNvPr id="6" name="Icon 25" descr="preencoded.png">    </p:cNvPr>
          <p:cNvPicPr>
            <a:picLocks noChangeAspect="1"/>
          </p:cNvPicPr>
          <p:nvPr/>
        </p:nvPicPr>
        <p:blipFill>
          <a:blip r:embed="rId1"/>
          <a:stretch>
            <a:fillRect/>
          </a:stretch>
        </p:blipFill>
        <p:spPr>
          <a:xfrm>
            <a:off x="1597457" y="1688897"/>
            <a:ext cx="462686" cy="462686"/>
          </a:xfrm>
          <a:prstGeom prst="rect">
            <a:avLst/>
          </a:prstGeom>
        </p:spPr>
      </p:pic>
      <p:sp>
        <p:nvSpPr>
          <p:cNvPr id="7" name="Text 26"/>
          <p:cNvSpPr txBox="1"/>
          <p:nvPr/>
        </p:nvSpPr>
        <p:spPr>
          <a:xfrm>
            <a:off x="822960" y="2560320"/>
            <a:ext cx="2011680" cy="365760"/>
          </a:xfrm>
          <a:prstGeom prst="rect">
            <a:avLst/>
          </a:prstGeom>
          <a:noFill/>
          <a:ln/>
        </p:spPr>
        <p:txBody>
          <a:bodyPr wrap="square" lIns="0" tIns="0" rIns="0" bIns="0" rtlCol="0" anchor="ctr"/>
          <a:lstStyle/>
          <a:p>
            <a:pPr algn="ctr" indent="0" marL="0">
              <a:buNone/>
            </a:pPr>
            <a:r>
              <a:rPr lang="en-US" sz="2000" b="1" dirty="0">
                <a:solidFill>
                  <a:schemeClr val="tx1"/>
                </a:solidFill>
              </a:rPr>
              <a:t>Front desk</a:t>
            </a:r>
            <a:endParaRPr lang="en-US" sz="2000" dirty="0"/>
          </a:p>
        </p:txBody>
      </p:sp>
      <p:sp>
        <p:nvSpPr>
          <p:cNvPr id="8" name="Text 27"/>
          <p:cNvSpPr txBox="1"/>
          <p:nvPr/>
        </p:nvSpPr>
        <p:spPr>
          <a:xfrm>
            <a:off x="822960" y="2926080"/>
            <a:ext cx="2011680" cy="320040"/>
          </a:xfrm>
          <a:prstGeom prst="rect">
            <a:avLst/>
          </a:prstGeom>
          <a:noFill/>
          <a:ln/>
        </p:spPr>
        <p:txBody>
          <a:bodyPr wrap="square" lIns="0" tIns="0" rIns="0" bIns="0" rtlCol="0" anchor="t"/>
          <a:lstStyle/>
          <a:p>
            <a:pPr algn="ctr" indent="0" marL="0">
              <a:buNone/>
            </a:pPr>
            <a:r>
              <a:rPr lang="en-US" sz="1500" dirty="0">
                <a:solidFill>
                  <a:schemeClr val="accent4"/>
                </a:solidFill>
              </a:rPr>
              <a:t>logs the patient</a:t>
            </a:r>
            <a:endParaRPr lang="en-US" sz="1500" dirty="0"/>
          </a:p>
        </p:txBody>
      </p:sp>
      <p:pic>
        <p:nvPicPr>
          <p:cNvPr id="9" name="Arrow 28" descr="preencoded.png">    </p:cNvPr>
          <p:cNvPicPr>
            <a:picLocks noChangeAspect="1"/>
          </p:cNvPicPr>
          <p:nvPr/>
        </p:nvPicPr>
        <p:blipFill>
          <a:blip r:embed="rId2"/>
          <a:stretch>
            <a:fillRect/>
          </a:stretch>
        </p:blipFill>
        <p:spPr>
          <a:xfrm>
            <a:off x="3017520" y="1737360"/>
            <a:ext cx="365760" cy="365760"/>
          </a:xfrm>
          <a:prstGeom prst="rect">
            <a:avLst/>
          </a:prstGeom>
        </p:spPr>
      </p:pic>
      <p:sp>
        <p:nvSpPr>
          <p:cNvPr id="10" name="Badge 29"/>
          <p:cNvSpPr/>
          <p:nvPr/>
        </p:nvSpPr>
        <p:spPr>
          <a:xfrm>
            <a:off x="4069080" y="1417320"/>
            <a:ext cx="1005840" cy="1005840"/>
          </a:xfrm>
          <a:prstGeom prst="ellipse">
            <a:avLst/>
          </a:prstGeom>
          <a:solidFill>
            <a:schemeClr val="accent1"/>
          </a:solidFill>
          <a:ln w="12700">
            <a:solidFill>
              <a:schemeClr val="accent1"/>
            </a:solidFill>
            <a:prstDash val="solid"/>
          </a:ln>
        </p:spPr>
      </p:sp>
      <p:pic>
        <p:nvPicPr>
          <p:cNvPr id="11" name="Icon 30" descr="preencoded.png">    </p:cNvPr>
          <p:cNvPicPr>
            <a:picLocks noChangeAspect="1"/>
          </p:cNvPicPr>
          <p:nvPr/>
        </p:nvPicPr>
        <p:blipFill>
          <a:blip r:embed="rId3"/>
          <a:stretch>
            <a:fillRect/>
          </a:stretch>
        </p:blipFill>
        <p:spPr>
          <a:xfrm>
            <a:off x="4340657" y="1688897"/>
            <a:ext cx="462686" cy="462686"/>
          </a:xfrm>
          <a:prstGeom prst="rect">
            <a:avLst/>
          </a:prstGeom>
        </p:spPr>
      </p:pic>
      <p:sp>
        <p:nvSpPr>
          <p:cNvPr id="12" name="Text 31"/>
          <p:cNvSpPr txBox="1"/>
          <p:nvPr/>
        </p:nvSpPr>
        <p:spPr>
          <a:xfrm>
            <a:off x="3566160" y="2560320"/>
            <a:ext cx="2011680" cy="365760"/>
          </a:xfrm>
          <a:prstGeom prst="rect">
            <a:avLst/>
          </a:prstGeom>
          <a:noFill/>
          <a:ln/>
        </p:spPr>
        <p:txBody>
          <a:bodyPr wrap="square" lIns="0" tIns="0" rIns="0" bIns="0" rtlCol="0" anchor="ctr"/>
          <a:lstStyle/>
          <a:p>
            <a:pPr algn="ctr" indent="0" marL="0">
              <a:buNone/>
            </a:pPr>
            <a:r>
              <a:rPr lang="en-US" sz="2000" b="1" dirty="0">
                <a:solidFill>
                  <a:schemeClr val="tx1"/>
                </a:solidFill>
              </a:rPr>
              <a:t>Nurse</a:t>
            </a:r>
            <a:endParaRPr lang="en-US" sz="2000" dirty="0"/>
          </a:p>
        </p:txBody>
      </p:sp>
      <p:sp>
        <p:nvSpPr>
          <p:cNvPr id="13" name="Text 32"/>
          <p:cNvSpPr txBox="1"/>
          <p:nvPr/>
        </p:nvSpPr>
        <p:spPr>
          <a:xfrm>
            <a:off x="3566160" y="2926080"/>
            <a:ext cx="2011680" cy="320040"/>
          </a:xfrm>
          <a:prstGeom prst="rect">
            <a:avLst/>
          </a:prstGeom>
          <a:noFill/>
          <a:ln/>
        </p:spPr>
        <p:txBody>
          <a:bodyPr wrap="square" lIns="0" tIns="0" rIns="0" bIns="0" rtlCol="0" anchor="t"/>
          <a:lstStyle/>
          <a:p>
            <a:pPr algn="ctr" indent="0" marL="0">
              <a:buNone/>
            </a:pPr>
            <a:r>
              <a:rPr lang="en-US" sz="1500" dirty="0">
                <a:solidFill>
                  <a:schemeClr val="accent4"/>
                </a:solidFill>
              </a:rPr>
              <a:t>records the visit</a:t>
            </a:r>
            <a:endParaRPr lang="en-US" sz="1500" dirty="0"/>
          </a:p>
        </p:txBody>
      </p:sp>
      <p:pic>
        <p:nvPicPr>
          <p:cNvPr id="14" name="Arrow 33" descr="preencoded.png">    </p:cNvPr>
          <p:cNvPicPr>
            <a:picLocks noChangeAspect="1"/>
          </p:cNvPicPr>
          <p:nvPr/>
        </p:nvPicPr>
        <p:blipFill>
          <a:blip r:embed="rId4"/>
          <a:stretch>
            <a:fillRect/>
          </a:stretch>
        </p:blipFill>
        <p:spPr>
          <a:xfrm>
            <a:off x="5760720" y="1737360"/>
            <a:ext cx="365760" cy="365760"/>
          </a:xfrm>
          <a:prstGeom prst="rect">
            <a:avLst/>
          </a:prstGeom>
        </p:spPr>
      </p:pic>
      <p:sp>
        <p:nvSpPr>
          <p:cNvPr id="15" name="Badge 34"/>
          <p:cNvSpPr/>
          <p:nvPr/>
        </p:nvSpPr>
        <p:spPr>
          <a:xfrm>
            <a:off x="6812280" y="1417320"/>
            <a:ext cx="1005840" cy="1005840"/>
          </a:xfrm>
          <a:prstGeom prst="ellipse">
            <a:avLst/>
          </a:prstGeom>
          <a:solidFill>
            <a:schemeClr val="accent1"/>
          </a:solidFill>
          <a:ln w="12700">
            <a:solidFill>
              <a:schemeClr val="accent1"/>
            </a:solidFill>
            <a:prstDash val="solid"/>
          </a:ln>
        </p:spPr>
      </p:sp>
      <p:pic>
        <p:nvPicPr>
          <p:cNvPr id="16" name="Icon 35" descr="preencoded.png">    </p:cNvPr>
          <p:cNvPicPr>
            <a:picLocks noChangeAspect="1"/>
          </p:cNvPicPr>
          <p:nvPr/>
        </p:nvPicPr>
        <p:blipFill>
          <a:blip r:embed="rId5"/>
          <a:stretch>
            <a:fillRect/>
          </a:stretch>
        </p:blipFill>
        <p:spPr>
          <a:xfrm>
            <a:off x="7083857" y="1688897"/>
            <a:ext cx="462686" cy="462686"/>
          </a:xfrm>
          <a:prstGeom prst="rect">
            <a:avLst/>
          </a:prstGeom>
        </p:spPr>
      </p:pic>
      <p:sp>
        <p:nvSpPr>
          <p:cNvPr id="17" name="Text 36"/>
          <p:cNvSpPr txBox="1"/>
          <p:nvPr/>
        </p:nvSpPr>
        <p:spPr>
          <a:xfrm>
            <a:off x="6309360" y="2560320"/>
            <a:ext cx="2011680" cy="365760"/>
          </a:xfrm>
          <a:prstGeom prst="rect">
            <a:avLst/>
          </a:prstGeom>
          <a:noFill/>
          <a:ln/>
        </p:spPr>
        <p:txBody>
          <a:bodyPr wrap="square" lIns="0" tIns="0" rIns="0" bIns="0" rtlCol="0" anchor="ctr"/>
          <a:lstStyle/>
          <a:p>
            <a:pPr algn="ctr" indent="0" marL="0">
              <a:buNone/>
            </a:pPr>
            <a:r>
              <a:rPr lang="en-US" sz="2000" b="1" dirty="0">
                <a:solidFill>
                  <a:schemeClr val="tx1"/>
                </a:solidFill>
              </a:rPr>
              <a:t>Doctor</a:t>
            </a:r>
            <a:endParaRPr lang="en-US" sz="2000" dirty="0"/>
          </a:p>
        </p:txBody>
      </p:sp>
      <p:sp>
        <p:nvSpPr>
          <p:cNvPr id="18" name="Text 37"/>
          <p:cNvSpPr txBox="1"/>
          <p:nvPr/>
        </p:nvSpPr>
        <p:spPr>
          <a:xfrm>
            <a:off x="6309360" y="2926080"/>
            <a:ext cx="2011680" cy="320040"/>
          </a:xfrm>
          <a:prstGeom prst="rect">
            <a:avLst/>
          </a:prstGeom>
          <a:noFill/>
          <a:ln/>
        </p:spPr>
        <p:txBody>
          <a:bodyPr wrap="square" lIns="0" tIns="0" rIns="0" bIns="0" rtlCol="0" anchor="t"/>
          <a:lstStyle/>
          <a:p>
            <a:pPr algn="ctr" indent="0" marL="0">
              <a:buNone/>
            </a:pPr>
            <a:r>
              <a:rPr lang="en-US" sz="1500" dirty="0">
                <a:solidFill>
                  <a:schemeClr val="accent4"/>
                </a:solidFill>
              </a:rPr>
              <a:t>sees the same record at once</a:t>
            </a:r>
            <a:endParaRPr lang="en-US" sz="1500" dirty="0"/>
          </a:p>
        </p:txBody>
      </p:sp>
      <p:sp>
        <p:nvSpPr>
          <p:cNvPr id="19" name="Card 38"/>
          <p:cNvSpPr/>
          <p:nvPr/>
        </p:nvSpPr>
        <p:spPr>
          <a:xfrm>
            <a:off x="1371600" y="3703320"/>
            <a:ext cx="6400800" cy="594360"/>
          </a:xfrm>
          <a:prstGeom prst="roundRect">
            <a:avLst>
              <a:gd name="adj" fmla="val 12308"/>
            </a:avLst>
          </a:prstGeom>
          <a:solidFill>
            <a:schemeClr val="bg2"/>
          </a:solidFill>
          <a:ln w="12700">
            <a:solidFill>
              <a:schemeClr val="bg2"/>
            </a:solidFill>
            <a:prstDash val="solid"/>
          </a:ln>
        </p:spPr>
      </p:sp>
      <p:sp>
        <p:nvSpPr>
          <p:cNvPr id="20" name="Text 39"/>
          <p:cNvSpPr txBox="1"/>
          <p:nvPr/>
        </p:nvSpPr>
        <p:spPr>
          <a:xfrm>
            <a:off x="1371600" y="3703320"/>
            <a:ext cx="6400800" cy="594360"/>
          </a:xfrm>
          <a:prstGeom prst="rect">
            <a:avLst/>
          </a:prstGeom>
          <a:noFill/>
          <a:ln/>
        </p:spPr>
        <p:txBody>
          <a:bodyPr wrap="square" lIns="0" tIns="0" rIns="0" bIns="0" rtlCol="0" anchor="ctr"/>
          <a:lstStyle/>
          <a:p>
            <a:pPr algn="ctr" indent="0" marL="0">
              <a:buNone/>
            </a:pPr>
            <a:r>
              <a:rPr lang="en-US" sz="1600" b="1" dirty="0">
                <a:solidFill>
                  <a:schemeClr val="accent1"/>
                </a:solidFill>
              </a:rPr>
              <a:t>No paper handed over. Nothing leaves the clinic's computers.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The site: the University Clinic</a:t>
            </a:r>
            <a:endParaRPr lang="en-US" sz="3200" dirty="0"/>
          </a:p>
        </p:txBody>
      </p:sp>
      <p:sp>
        <p:nvSpPr>
          <p:cNvPr id="3" name="Eyebrow 40"/>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SITE CONTEXT</a:t>
            </a:r>
            <a:endParaRPr lang="en-US" sz="1100" dirty="0"/>
          </a:p>
        </p:txBody>
      </p:sp>
      <p:pic>
        <p:nvPicPr>
          <p:cNvPr id="5" name="Site diagram 41" descr="C:\Users\sean\Documents\Github Repos\Final-Project-Software-Engineering\docs\diagrams\site-context-diagram.jpeg">    </p:cNvPr>
          <p:cNvPicPr>
            <a:picLocks noChangeAspect="1"/>
          </p:cNvPicPr>
          <p:nvPr/>
        </p:nvPicPr>
        <p:blipFill>
          <a:blip r:embed="rId1"/>
          <a:stretch>
            <a:fillRect/>
          </a:stretch>
        </p:blipFill>
        <p:spPr>
          <a:xfrm>
            <a:off x="1188720" y="1234440"/>
            <a:ext cx="6766560" cy="2665615"/>
          </a:xfrm>
          <a:prstGeom prst="rect">
            <a:avLst/>
          </a:prstGeom>
        </p:spPr>
      </p:pic>
      <p:sp>
        <p:nvSpPr>
          <p:cNvPr id="6" name="Badge 42"/>
          <p:cNvSpPr/>
          <p:nvPr/>
        </p:nvSpPr>
        <p:spPr>
          <a:xfrm>
            <a:off x="457200" y="4069080"/>
            <a:ext cx="457200" cy="457200"/>
          </a:xfrm>
          <a:prstGeom prst="ellipse">
            <a:avLst/>
          </a:prstGeom>
          <a:solidFill>
            <a:schemeClr val="accent1"/>
          </a:solidFill>
          <a:ln w="12700">
            <a:solidFill>
              <a:schemeClr val="accent1"/>
            </a:solidFill>
            <a:prstDash val="solid"/>
          </a:ln>
        </p:spPr>
      </p:sp>
      <p:pic>
        <p:nvPicPr>
          <p:cNvPr id="7" name="Icon 43" descr="preencoded.png">    </p:cNvPr>
          <p:cNvPicPr>
            <a:picLocks noChangeAspect="1"/>
          </p:cNvPicPr>
          <p:nvPr/>
        </p:nvPicPr>
        <p:blipFill>
          <a:blip r:embed="rId2"/>
          <a:stretch>
            <a:fillRect/>
          </a:stretch>
        </p:blipFill>
        <p:spPr>
          <a:xfrm>
            <a:off x="580644" y="4192524"/>
            <a:ext cx="210312" cy="210312"/>
          </a:xfrm>
          <a:prstGeom prst="rect">
            <a:avLst/>
          </a:prstGeom>
        </p:spPr>
      </p:pic>
      <p:sp>
        <p:nvSpPr>
          <p:cNvPr id="8" name="Text 44"/>
          <p:cNvSpPr txBox="1"/>
          <p:nvPr/>
        </p:nvSpPr>
        <p:spPr>
          <a:xfrm>
            <a:off x="1024128" y="4069080"/>
            <a:ext cx="2011680" cy="457200"/>
          </a:xfrm>
          <a:prstGeom prst="rect">
            <a:avLst/>
          </a:prstGeom>
          <a:noFill/>
          <a:ln/>
        </p:spPr>
        <p:txBody>
          <a:bodyPr wrap="square" lIns="0" tIns="0" rIns="0" bIns="0" rtlCol="0" anchor="ctr"/>
          <a:lstStyle/>
          <a:p>
            <a:pPr indent="0" marL="0">
              <a:buNone/>
            </a:pPr>
            <a:r>
              <a:rPr lang="en-US" sz="1400" dirty="0">
                <a:solidFill>
                  <a:schemeClr val="tx1"/>
                </a:solidFill>
              </a:rPr>
              <a:t>Computers and a router already in place</a:t>
            </a:r>
            <a:endParaRPr lang="en-US" sz="1400" dirty="0"/>
          </a:p>
        </p:txBody>
      </p:sp>
      <p:sp>
        <p:nvSpPr>
          <p:cNvPr id="9" name="Badge 45"/>
          <p:cNvSpPr/>
          <p:nvPr/>
        </p:nvSpPr>
        <p:spPr>
          <a:xfrm>
            <a:off x="3291840" y="4069080"/>
            <a:ext cx="457200" cy="457200"/>
          </a:xfrm>
          <a:prstGeom prst="ellipse">
            <a:avLst/>
          </a:prstGeom>
          <a:solidFill>
            <a:schemeClr val="accent1"/>
          </a:solidFill>
          <a:ln w="12700">
            <a:solidFill>
              <a:schemeClr val="accent1"/>
            </a:solidFill>
            <a:prstDash val="solid"/>
          </a:ln>
        </p:spPr>
      </p:sp>
      <p:pic>
        <p:nvPicPr>
          <p:cNvPr id="10" name="Icon 46" descr="preencoded.png">    </p:cNvPr>
          <p:cNvPicPr>
            <a:picLocks noChangeAspect="1"/>
          </p:cNvPicPr>
          <p:nvPr/>
        </p:nvPicPr>
        <p:blipFill>
          <a:blip r:embed="rId3"/>
          <a:stretch>
            <a:fillRect/>
          </a:stretch>
        </p:blipFill>
        <p:spPr>
          <a:xfrm>
            <a:off x="3415284" y="4192524"/>
            <a:ext cx="210312" cy="210312"/>
          </a:xfrm>
          <a:prstGeom prst="rect">
            <a:avLst/>
          </a:prstGeom>
        </p:spPr>
      </p:pic>
      <p:sp>
        <p:nvSpPr>
          <p:cNvPr id="11" name="Text 47"/>
          <p:cNvSpPr txBox="1"/>
          <p:nvPr/>
        </p:nvSpPr>
        <p:spPr>
          <a:xfrm>
            <a:off x="3858768" y="4069080"/>
            <a:ext cx="2011680" cy="457200"/>
          </a:xfrm>
          <a:prstGeom prst="rect">
            <a:avLst/>
          </a:prstGeom>
          <a:noFill/>
          <a:ln/>
        </p:spPr>
        <p:txBody>
          <a:bodyPr wrap="square" lIns="0" tIns="0" rIns="0" bIns="0" rtlCol="0" anchor="ctr"/>
          <a:lstStyle/>
          <a:p>
            <a:pPr indent="0" marL="0">
              <a:buNone/>
            </a:pPr>
            <a:r>
              <a:rPr lang="en-US" sz="1400" dirty="0">
                <a:solidFill>
                  <a:schemeClr val="tx1"/>
                </a:solidFill>
              </a:rPr>
              <a:t>Its own internet connection</a:t>
            </a:r>
            <a:endParaRPr lang="en-US" sz="1400" dirty="0"/>
          </a:p>
        </p:txBody>
      </p:sp>
      <p:sp>
        <p:nvSpPr>
          <p:cNvPr id="12" name="Badge 48"/>
          <p:cNvSpPr/>
          <p:nvPr/>
        </p:nvSpPr>
        <p:spPr>
          <a:xfrm>
            <a:off x="6126480" y="4069080"/>
            <a:ext cx="457200" cy="457200"/>
          </a:xfrm>
          <a:prstGeom prst="ellipse">
            <a:avLst/>
          </a:prstGeom>
          <a:solidFill>
            <a:schemeClr val="accent1"/>
          </a:solidFill>
          <a:ln w="12700">
            <a:solidFill>
              <a:schemeClr val="accent1"/>
            </a:solidFill>
            <a:prstDash val="solid"/>
          </a:ln>
        </p:spPr>
      </p:sp>
      <p:pic>
        <p:nvPicPr>
          <p:cNvPr id="13" name="Icon 49" descr="preencoded.png">    </p:cNvPr>
          <p:cNvPicPr>
            <a:picLocks noChangeAspect="1"/>
          </p:cNvPicPr>
          <p:nvPr/>
        </p:nvPicPr>
        <p:blipFill>
          <a:blip r:embed="rId4"/>
          <a:stretch>
            <a:fillRect/>
          </a:stretch>
        </p:blipFill>
        <p:spPr>
          <a:xfrm>
            <a:off x="6249924" y="4192524"/>
            <a:ext cx="210312" cy="210312"/>
          </a:xfrm>
          <a:prstGeom prst="rect">
            <a:avLst/>
          </a:prstGeom>
        </p:spPr>
      </p:pic>
      <p:sp>
        <p:nvSpPr>
          <p:cNvPr id="14" name="Text 50"/>
          <p:cNvSpPr txBox="1"/>
          <p:nvPr/>
        </p:nvSpPr>
        <p:spPr>
          <a:xfrm>
            <a:off x="6693408" y="4069080"/>
            <a:ext cx="2011680" cy="457200"/>
          </a:xfrm>
          <a:prstGeom prst="rect">
            <a:avLst/>
          </a:prstGeom>
          <a:noFill/>
          <a:ln/>
        </p:spPr>
        <p:txBody>
          <a:bodyPr wrap="square" lIns="0" tIns="0" rIns="0" bIns="0" rtlCol="0" anchor="ctr"/>
          <a:lstStyle/>
          <a:p>
            <a:pPr indent="0" marL="0">
              <a:buNone/>
            </a:pPr>
            <a:r>
              <a:rPr lang="en-US" sz="1400" dirty="0">
                <a:solidFill>
                  <a:schemeClr val="tx1"/>
                </a:solidFill>
              </a:rPr>
              <a:t>A building with a generator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What the clinic told us</a:t>
            </a:r>
            <a:endParaRPr lang="en-US" sz="3200" dirty="0"/>
          </a:p>
        </p:txBody>
      </p:sp>
      <p:sp>
        <p:nvSpPr>
          <p:cNvPr id="3" name="Eyebrow 51"/>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INTERVIEW</a:t>
            </a:r>
            <a:endParaRPr lang="en-US" sz="1100" dirty="0"/>
          </a:p>
        </p:txBody>
      </p:sp>
      <p:sp>
        <p:nvSpPr>
          <p:cNvPr id="5" name="Card 52"/>
          <p:cNvSpPr/>
          <p:nvPr/>
        </p:nvSpPr>
        <p:spPr>
          <a:xfrm>
            <a:off x="457200" y="1325880"/>
            <a:ext cx="3977640" cy="1371600"/>
          </a:xfrm>
          <a:prstGeom prst="roundRect">
            <a:avLst>
              <a:gd name="adj" fmla="val 5333"/>
            </a:avLst>
          </a:prstGeom>
          <a:solidFill>
            <a:schemeClr val="bg2"/>
          </a:solidFill>
          <a:ln w="12700">
            <a:solidFill>
              <a:schemeClr val="bg2"/>
            </a:solidFill>
            <a:prstDash val="solid"/>
          </a:ln>
        </p:spPr>
      </p:sp>
      <p:sp>
        <p:nvSpPr>
          <p:cNvPr id="6" name="Badge 53"/>
          <p:cNvSpPr/>
          <p:nvPr/>
        </p:nvSpPr>
        <p:spPr>
          <a:xfrm>
            <a:off x="731520" y="1737360"/>
            <a:ext cx="548640" cy="548640"/>
          </a:xfrm>
          <a:prstGeom prst="ellipse">
            <a:avLst/>
          </a:prstGeom>
          <a:solidFill>
            <a:schemeClr val="accent1"/>
          </a:solidFill>
          <a:ln w="12700">
            <a:solidFill>
              <a:schemeClr val="accent1"/>
            </a:solidFill>
            <a:prstDash val="solid"/>
          </a:ln>
        </p:spPr>
      </p:sp>
      <p:pic>
        <p:nvPicPr>
          <p:cNvPr id="7" name="Icon 54" descr="preencoded.png">    </p:cNvPr>
          <p:cNvPicPr>
            <a:picLocks noChangeAspect="1"/>
          </p:cNvPicPr>
          <p:nvPr/>
        </p:nvPicPr>
        <p:blipFill>
          <a:blip r:embed="rId1"/>
          <a:stretch>
            <a:fillRect/>
          </a:stretch>
        </p:blipFill>
        <p:spPr>
          <a:xfrm>
            <a:off x="879653" y="1885493"/>
            <a:ext cx="252374" cy="252374"/>
          </a:xfrm>
          <a:prstGeom prst="rect">
            <a:avLst/>
          </a:prstGeom>
        </p:spPr>
      </p:pic>
      <p:sp>
        <p:nvSpPr>
          <p:cNvPr id="8" name="Text 55"/>
          <p:cNvSpPr txBox="1"/>
          <p:nvPr/>
        </p:nvSpPr>
        <p:spPr>
          <a:xfrm>
            <a:off x="1508760" y="1600200"/>
            <a:ext cx="2743200" cy="365760"/>
          </a:xfrm>
          <a:prstGeom prst="rect">
            <a:avLst/>
          </a:prstGeom>
          <a:noFill/>
          <a:ln/>
        </p:spPr>
        <p:txBody>
          <a:bodyPr wrap="square" lIns="0" tIns="0" rIns="0" bIns="0" rtlCol="0" anchor="ctr"/>
          <a:lstStyle/>
          <a:p>
            <a:pPr indent="0" marL="0">
              <a:buNone/>
            </a:pPr>
            <a:r>
              <a:rPr lang="en-US" sz="1600" b="1" dirty="0">
                <a:solidFill>
                  <a:schemeClr val="tx1"/>
                </a:solidFill>
              </a:rPr>
              <a:t>Everything is handwritten</a:t>
            </a:r>
            <a:endParaRPr lang="en-US" sz="1600" dirty="0"/>
          </a:p>
        </p:txBody>
      </p:sp>
      <p:sp>
        <p:nvSpPr>
          <p:cNvPr id="9" name="Text 56"/>
          <p:cNvSpPr txBox="1"/>
          <p:nvPr/>
        </p:nvSpPr>
        <p:spPr>
          <a:xfrm>
            <a:off x="1508760" y="1984248"/>
            <a:ext cx="2743200" cy="502920"/>
          </a:xfrm>
          <a:prstGeom prst="rect">
            <a:avLst/>
          </a:prstGeom>
          <a:noFill/>
          <a:ln/>
        </p:spPr>
        <p:txBody>
          <a:bodyPr wrap="square" lIns="0" tIns="0" rIns="0" bIns="0" rtlCol="0" anchor="t"/>
          <a:lstStyle/>
          <a:p>
            <a:pPr indent="0" marL="0">
              <a:buNone/>
            </a:pPr>
            <a:r>
              <a:rPr lang="en-US" sz="1400" dirty="0">
                <a:solidFill>
                  <a:schemeClr val="accent4"/>
                </a:solidFill>
              </a:rPr>
              <a:t>The same details are written again and again</a:t>
            </a:r>
            <a:endParaRPr lang="en-US" sz="1400" dirty="0"/>
          </a:p>
        </p:txBody>
      </p:sp>
      <p:sp>
        <p:nvSpPr>
          <p:cNvPr id="10" name="Card 57"/>
          <p:cNvSpPr/>
          <p:nvPr/>
        </p:nvSpPr>
        <p:spPr>
          <a:xfrm>
            <a:off x="4709160" y="1325880"/>
            <a:ext cx="3977640" cy="1371600"/>
          </a:xfrm>
          <a:prstGeom prst="roundRect">
            <a:avLst>
              <a:gd name="adj" fmla="val 5333"/>
            </a:avLst>
          </a:prstGeom>
          <a:solidFill>
            <a:schemeClr val="bg2"/>
          </a:solidFill>
          <a:ln w="12700">
            <a:solidFill>
              <a:schemeClr val="bg2"/>
            </a:solidFill>
            <a:prstDash val="solid"/>
          </a:ln>
        </p:spPr>
      </p:sp>
      <p:sp>
        <p:nvSpPr>
          <p:cNvPr id="11" name="Badge 58"/>
          <p:cNvSpPr/>
          <p:nvPr/>
        </p:nvSpPr>
        <p:spPr>
          <a:xfrm>
            <a:off x="4983480" y="1737360"/>
            <a:ext cx="548640" cy="548640"/>
          </a:xfrm>
          <a:prstGeom prst="ellipse">
            <a:avLst/>
          </a:prstGeom>
          <a:solidFill>
            <a:schemeClr val="accent1"/>
          </a:solidFill>
          <a:ln w="12700">
            <a:solidFill>
              <a:schemeClr val="accent1"/>
            </a:solidFill>
            <a:prstDash val="solid"/>
          </a:ln>
        </p:spPr>
      </p:sp>
      <p:pic>
        <p:nvPicPr>
          <p:cNvPr id="12" name="Icon 59" descr="preencoded.png">    </p:cNvPr>
          <p:cNvPicPr>
            <a:picLocks noChangeAspect="1"/>
          </p:cNvPicPr>
          <p:nvPr/>
        </p:nvPicPr>
        <p:blipFill>
          <a:blip r:embed="rId2"/>
          <a:stretch>
            <a:fillRect/>
          </a:stretch>
        </p:blipFill>
        <p:spPr>
          <a:xfrm>
            <a:off x="5131613" y="1885493"/>
            <a:ext cx="252374" cy="252374"/>
          </a:xfrm>
          <a:prstGeom prst="rect">
            <a:avLst/>
          </a:prstGeom>
        </p:spPr>
      </p:pic>
      <p:sp>
        <p:nvSpPr>
          <p:cNvPr id="13" name="Text 60"/>
          <p:cNvSpPr txBox="1"/>
          <p:nvPr/>
        </p:nvSpPr>
        <p:spPr>
          <a:xfrm>
            <a:off x="5760720" y="1600200"/>
            <a:ext cx="2743200" cy="365760"/>
          </a:xfrm>
          <a:prstGeom prst="rect">
            <a:avLst/>
          </a:prstGeom>
          <a:noFill/>
          <a:ln/>
        </p:spPr>
        <p:txBody>
          <a:bodyPr wrap="square" lIns="0" tIns="0" rIns="0" bIns="0" rtlCol="0" anchor="ctr"/>
          <a:lstStyle/>
          <a:p>
            <a:pPr indent="0" marL="0">
              <a:buNone/>
            </a:pPr>
            <a:r>
              <a:rPr lang="en-US" sz="1600" b="1" dirty="0">
                <a:solidFill>
                  <a:schemeClr val="tx1"/>
                </a:solidFill>
              </a:rPr>
              <a:t>No school portal support</a:t>
            </a:r>
            <a:endParaRPr lang="en-US" sz="1600" dirty="0"/>
          </a:p>
        </p:txBody>
      </p:sp>
      <p:sp>
        <p:nvSpPr>
          <p:cNvPr id="14" name="Text 61"/>
          <p:cNvSpPr txBox="1"/>
          <p:nvPr/>
        </p:nvSpPr>
        <p:spPr>
          <a:xfrm>
            <a:off x="5760720" y="1984248"/>
            <a:ext cx="2743200" cy="502920"/>
          </a:xfrm>
          <a:prstGeom prst="rect">
            <a:avLst/>
          </a:prstGeom>
          <a:noFill/>
          <a:ln/>
        </p:spPr>
        <p:txBody>
          <a:bodyPr wrap="square" lIns="0" tIns="0" rIns="0" bIns="0" rtlCol="0" anchor="t"/>
          <a:lstStyle/>
          <a:p>
            <a:pPr indent="0" marL="0">
              <a:buNone/>
            </a:pPr>
            <a:r>
              <a:rPr lang="en-US" sz="1400" dirty="0">
                <a:solidFill>
                  <a:schemeClr val="accent4"/>
                </a:solidFill>
              </a:rPr>
              <a:t>No digital way to keep patient information</a:t>
            </a:r>
            <a:endParaRPr lang="en-US" sz="1400" dirty="0"/>
          </a:p>
        </p:txBody>
      </p:sp>
      <p:sp>
        <p:nvSpPr>
          <p:cNvPr id="15" name="Card 62"/>
          <p:cNvSpPr/>
          <p:nvPr/>
        </p:nvSpPr>
        <p:spPr>
          <a:xfrm>
            <a:off x="457200" y="2926080"/>
            <a:ext cx="3977640" cy="1371600"/>
          </a:xfrm>
          <a:prstGeom prst="roundRect">
            <a:avLst>
              <a:gd name="adj" fmla="val 5333"/>
            </a:avLst>
          </a:prstGeom>
          <a:solidFill>
            <a:schemeClr val="bg2"/>
          </a:solidFill>
          <a:ln w="12700">
            <a:solidFill>
              <a:schemeClr val="bg2"/>
            </a:solidFill>
            <a:prstDash val="solid"/>
          </a:ln>
        </p:spPr>
      </p:sp>
      <p:sp>
        <p:nvSpPr>
          <p:cNvPr id="16" name="Badge 63"/>
          <p:cNvSpPr/>
          <p:nvPr/>
        </p:nvSpPr>
        <p:spPr>
          <a:xfrm>
            <a:off x="731520" y="3337560"/>
            <a:ext cx="548640" cy="548640"/>
          </a:xfrm>
          <a:prstGeom prst="ellipse">
            <a:avLst/>
          </a:prstGeom>
          <a:solidFill>
            <a:schemeClr val="accent1"/>
          </a:solidFill>
          <a:ln w="12700">
            <a:solidFill>
              <a:schemeClr val="accent1"/>
            </a:solidFill>
            <a:prstDash val="solid"/>
          </a:ln>
        </p:spPr>
      </p:sp>
      <p:pic>
        <p:nvPicPr>
          <p:cNvPr id="17" name="Icon 64" descr="preencoded.png">    </p:cNvPr>
          <p:cNvPicPr>
            <a:picLocks noChangeAspect="1"/>
          </p:cNvPicPr>
          <p:nvPr/>
        </p:nvPicPr>
        <p:blipFill>
          <a:blip r:embed="rId3"/>
          <a:stretch>
            <a:fillRect/>
          </a:stretch>
        </p:blipFill>
        <p:spPr>
          <a:xfrm>
            <a:off x="879653" y="3485693"/>
            <a:ext cx="252374" cy="252374"/>
          </a:xfrm>
          <a:prstGeom prst="rect">
            <a:avLst/>
          </a:prstGeom>
        </p:spPr>
      </p:pic>
      <p:sp>
        <p:nvSpPr>
          <p:cNvPr id="18" name="Text 65"/>
          <p:cNvSpPr txBox="1"/>
          <p:nvPr/>
        </p:nvSpPr>
        <p:spPr>
          <a:xfrm>
            <a:off x="1508760" y="3200400"/>
            <a:ext cx="2743200" cy="365760"/>
          </a:xfrm>
          <a:prstGeom prst="rect">
            <a:avLst/>
          </a:prstGeom>
          <a:noFill/>
          <a:ln/>
        </p:spPr>
        <p:txBody>
          <a:bodyPr wrap="square" lIns="0" tIns="0" rIns="0" bIns="0" rtlCol="0" anchor="ctr"/>
          <a:lstStyle/>
          <a:p>
            <a:pPr indent="0" marL="0">
              <a:buNone/>
            </a:pPr>
            <a:r>
              <a:rPr lang="en-US" sz="1600" b="1" dirty="0">
                <a:solidFill>
                  <a:schemeClr val="tx1"/>
                </a:solidFill>
              </a:rPr>
              <a:t>Peak hours slow the front desk</a:t>
            </a:r>
            <a:endParaRPr lang="en-US" sz="1600" dirty="0"/>
          </a:p>
        </p:txBody>
      </p:sp>
      <p:sp>
        <p:nvSpPr>
          <p:cNvPr id="19" name="Text 66"/>
          <p:cNvSpPr txBox="1"/>
          <p:nvPr/>
        </p:nvSpPr>
        <p:spPr>
          <a:xfrm>
            <a:off x="1508760" y="3584448"/>
            <a:ext cx="2743200" cy="502920"/>
          </a:xfrm>
          <a:prstGeom prst="rect">
            <a:avLst/>
          </a:prstGeom>
          <a:noFill/>
          <a:ln/>
        </p:spPr>
        <p:txBody>
          <a:bodyPr wrap="square" lIns="0" tIns="0" rIns="0" bIns="0" rtlCol="0" anchor="t"/>
          <a:lstStyle/>
          <a:p>
            <a:pPr indent="0" marL="0">
              <a:buNone/>
            </a:pPr>
            <a:r>
              <a:rPr lang="en-US" sz="1400" dirty="0">
                <a:solidFill>
                  <a:schemeClr val="accent4"/>
                </a:solidFill>
              </a:rPr>
              <a:t>Many students arrive at the same time</a:t>
            </a:r>
            <a:endParaRPr lang="en-US" sz="1400" dirty="0"/>
          </a:p>
        </p:txBody>
      </p:sp>
      <p:sp>
        <p:nvSpPr>
          <p:cNvPr id="20" name="Card 67"/>
          <p:cNvSpPr/>
          <p:nvPr/>
        </p:nvSpPr>
        <p:spPr>
          <a:xfrm>
            <a:off x="4709160" y="2926080"/>
            <a:ext cx="3977640" cy="1371600"/>
          </a:xfrm>
          <a:prstGeom prst="roundRect">
            <a:avLst>
              <a:gd name="adj" fmla="val 5333"/>
            </a:avLst>
          </a:prstGeom>
          <a:solidFill>
            <a:schemeClr val="bg2"/>
          </a:solidFill>
          <a:ln w="12700">
            <a:solidFill>
              <a:schemeClr val="bg2"/>
            </a:solidFill>
            <a:prstDash val="solid"/>
          </a:ln>
        </p:spPr>
      </p:sp>
      <p:sp>
        <p:nvSpPr>
          <p:cNvPr id="21" name="Badge 68"/>
          <p:cNvSpPr/>
          <p:nvPr/>
        </p:nvSpPr>
        <p:spPr>
          <a:xfrm>
            <a:off x="4983480" y="3337560"/>
            <a:ext cx="548640" cy="548640"/>
          </a:xfrm>
          <a:prstGeom prst="ellipse">
            <a:avLst/>
          </a:prstGeom>
          <a:solidFill>
            <a:schemeClr val="accent1"/>
          </a:solidFill>
          <a:ln w="12700">
            <a:solidFill>
              <a:schemeClr val="accent1"/>
            </a:solidFill>
            <a:prstDash val="solid"/>
          </a:ln>
        </p:spPr>
      </p:sp>
      <p:pic>
        <p:nvPicPr>
          <p:cNvPr id="22" name="Icon 69" descr="preencoded.png">    </p:cNvPr>
          <p:cNvPicPr>
            <a:picLocks noChangeAspect="1"/>
          </p:cNvPicPr>
          <p:nvPr/>
        </p:nvPicPr>
        <p:blipFill>
          <a:blip r:embed="rId4"/>
          <a:stretch>
            <a:fillRect/>
          </a:stretch>
        </p:blipFill>
        <p:spPr>
          <a:xfrm>
            <a:off x="5131613" y="3485693"/>
            <a:ext cx="252374" cy="252374"/>
          </a:xfrm>
          <a:prstGeom prst="rect">
            <a:avLst/>
          </a:prstGeom>
        </p:spPr>
      </p:pic>
      <p:sp>
        <p:nvSpPr>
          <p:cNvPr id="23" name="Text 70"/>
          <p:cNvSpPr txBox="1"/>
          <p:nvPr/>
        </p:nvSpPr>
        <p:spPr>
          <a:xfrm>
            <a:off x="5760720" y="3200400"/>
            <a:ext cx="2743200" cy="365760"/>
          </a:xfrm>
          <a:prstGeom prst="rect">
            <a:avLst/>
          </a:prstGeom>
          <a:noFill/>
          <a:ln/>
        </p:spPr>
        <p:txBody>
          <a:bodyPr wrap="square" lIns="0" tIns="0" rIns="0" bIns="0" rtlCol="0" anchor="ctr"/>
          <a:lstStyle/>
          <a:p>
            <a:pPr indent="0" marL="0">
              <a:buNone/>
            </a:pPr>
            <a:r>
              <a:rPr lang="en-US" sz="1600" b="1" dirty="0">
                <a:solidFill>
                  <a:schemeClr val="tx1"/>
                </a:solidFill>
              </a:rPr>
              <a:t>Keep it inside the clinic</a:t>
            </a:r>
            <a:endParaRPr lang="en-US" sz="1600" dirty="0"/>
          </a:p>
        </p:txBody>
      </p:sp>
      <p:sp>
        <p:nvSpPr>
          <p:cNvPr id="24" name="Text 71"/>
          <p:cNvSpPr txBox="1"/>
          <p:nvPr/>
        </p:nvSpPr>
        <p:spPr>
          <a:xfrm>
            <a:off x="5760720" y="3584448"/>
            <a:ext cx="2743200" cy="502920"/>
          </a:xfrm>
          <a:prstGeom prst="rect">
            <a:avLst/>
          </a:prstGeom>
          <a:noFill/>
          <a:ln/>
        </p:spPr>
        <p:txBody>
          <a:bodyPr wrap="square" lIns="0" tIns="0" rIns="0" bIns="0" rtlCol="0" anchor="t"/>
          <a:lstStyle/>
          <a:p>
            <a:pPr indent="0" marL="0">
              <a:buNone/>
            </a:pPr>
            <a:r>
              <a:rPr lang="en-US" sz="1400" dirty="0">
                <a:solidFill>
                  <a:schemeClr val="accent4"/>
                </a:solidFill>
              </a:rPr>
              <a:t>Patient information must stay private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What the system must do</a:t>
            </a:r>
            <a:endParaRPr lang="en-US" sz="3200" dirty="0"/>
          </a:p>
        </p:txBody>
      </p:sp>
      <p:sp>
        <p:nvSpPr>
          <p:cNvPr id="3" name="Eyebrow 72"/>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REQUIREMENTS</a:t>
            </a:r>
            <a:endParaRPr lang="en-US" sz="1100" dirty="0"/>
          </a:p>
        </p:txBody>
      </p:sp>
      <p:sp>
        <p:nvSpPr>
          <p:cNvPr id="5" name="Card 73"/>
          <p:cNvSpPr/>
          <p:nvPr/>
        </p:nvSpPr>
        <p:spPr>
          <a:xfrm>
            <a:off x="457200" y="1325880"/>
            <a:ext cx="3977640" cy="2651760"/>
          </a:xfrm>
          <a:prstGeom prst="roundRect">
            <a:avLst>
              <a:gd name="adj" fmla="val 2759"/>
            </a:avLst>
          </a:prstGeom>
          <a:solidFill>
            <a:schemeClr val="bg2"/>
          </a:solidFill>
          <a:ln w="12700">
            <a:solidFill>
              <a:schemeClr val="bg2"/>
            </a:solidFill>
            <a:prstDash val="solid"/>
          </a:ln>
        </p:spPr>
      </p:sp>
      <p:sp>
        <p:nvSpPr>
          <p:cNvPr id="6" name="Text 74"/>
          <p:cNvSpPr txBox="1"/>
          <p:nvPr/>
        </p:nvSpPr>
        <p:spPr>
          <a:xfrm>
            <a:off x="731520" y="1463040"/>
            <a:ext cx="1371600" cy="91440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15</a:t>
            </a:r>
            <a:endParaRPr lang="en-US" sz="6600" dirty="0"/>
          </a:p>
        </p:txBody>
      </p:sp>
      <p:sp>
        <p:nvSpPr>
          <p:cNvPr id="7" name="Text 75"/>
          <p:cNvSpPr txBox="1"/>
          <p:nvPr/>
        </p:nvSpPr>
        <p:spPr>
          <a:xfrm>
            <a:off x="2103120" y="1600200"/>
            <a:ext cx="2194560" cy="640080"/>
          </a:xfrm>
          <a:prstGeom prst="rect">
            <a:avLst/>
          </a:prstGeom>
          <a:noFill/>
          <a:ln/>
        </p:spPr>
        <p:txBody>
          <a:bodyPr wrap="square" lIns="0" tIns="0" rIns="0" bIns="0" rtlCol="0" anchor="ctr"/>
          <a:lstStyle/>
          <a:p>
            <a:pPr indent="0" marL="0">
              <a:buNone/>
            </a:pPr>
            <a:r>
              <a:rPr lang="en-US" sz="1600" b="1" dirty="0">
                <a:solidFill>
                  <a:schemeClr val="tx1"/>
                </a:solidFill>
              </a:rPr>
              <a:t>functional requirements</a:t>
            </a:r>
            <a:endParaRPr lang="en-US" sz="1600" dirty="0"/>
          </a:p>
        </p:txBody>
      </p:sp>
      <p:sp>
        <p:nvSpPr>
          <p:cNvPr id="8" name="Text 76"/>
          <p:cNvSpPr txBox="1"/>
          <p:nvPr/>
        </p:nvSpPr>
        <p:spPr>
          <a:xfrm>
            <a:off x="731520" y="2514600"/>
            <a:ext cx="3429000" cy="274320"/>
          </a:xfrm>
          <a:prstGeom prst="rect">
            <a:avLst/>
          </a:prstGeom>
          <a:noFill/>
          <a:ln/>
        </p:spPr>
        <p:txBody>
          <a:bodyPr wrap="square" lIns="0" tIns="0" rIns="0" bIns="0" rtlCol="0" anchor="t"/>
          <a:lstStyle/>
          <a:p>
            <a:pPr indent="0" marL="0">
              <a:buNone/>
            </a:pPr>
            <a:r>
              <a:rPr lang="en-US" sz="1200" i="1" dirty="0">
                <a:solidFill>
                  <a:schemeClr val="accent4"/>
                </a:solidFill>
              </a:rPr>
              <a:t>What the system does</a:t>
            </a:r>
            <a:endParaRPr lang="en-US" sz="1200" dirty="0"/>
          </a:p>
        </p:txBody>
      </p:sp>
      <p:sp>
        <p:nvSpPr>
          <p:cNvPr id="9" name="Text 77"/>
          <p:cNvSpPr txBox="1"/>
          <p:nvPr/>
        </p:nvSpPr>
        <p:spPr>
          <a:xfrm>
            <a:off x="731520" y="2834640"/>
            <a:ext cx="3429000" cy="1371600"/>
          </a:xfrm>
          <a:prstGeom prst="rect">
            <a:avLst/>
          </a:prstGeom>
          <a:noFill/>
          <a:ln/>
        </p:spPr>
        <p:txBody>
          <a:bodyPr wrap="square" lIns="0" tIns="0" rIns="0" bIns="0" rtlCol="0" anchor="t"/>
          <a:lstStyle/>
          <a:p>
            <a:pPr indent="0" marL="0">
              <a:buNone/>
            </a:pPr>
            <a:r>
              <a:rPr lang="en-US" sz="1500" dirty="0">
                <a:solidFill>
                  <a:schemeClr val="tx1"/>
                </a:solidFill>
              </a:rPr>
              <a:t>Sign-in and roles  ·  Patient records  ·  Visits  ·  Appointments  ·  Inventory  ·  Reports  ·  Dashboard</a:t>
            </a:r>
            <a:endParaRPr lang="en-US" sz="1500" dirty="0"/>
          </a:p>
        </p:txBody>
      </p:sp>
      <p:sp>
        <p:nvSpPr>
          <p:cNvPr id="10" name="Card 78"/>
          <p:cNvSpPr/>
          <p:nvPr/>
        </p:nvSpPr>
        <p:spPr>
          <a:xfrm>
            <a:off x="4709160" y="1325880"/>
            <a:ext cx="3977640" cy="2651760"/>
          </a:xfrm>
          <a:prstGeom prst="roundRect">
            <a:avLst>
              <a:gd name="adj" fmla="val 2759"/>
            </a:avLst>
          </a:prstGeom>
          <a:solidFill>
            <a:schemeClr val="bg2"/>
          </a:solidFill>
          <a:ln w="12700">
            <a:solidFill>
              <a:schemeClr val="bg2"/>
            </a:solidFill>
            <a:prstDash val="solid"/>
          </a:ln>
        </p:spPr>
      </p:sp>
      <p:sp>
        <p:nvSpPr>
          <p:cNvPr id="11" name="Text 79"/>
          <p:cNvSpPr txBox="1"/>
          <p:nvPr/>
        </p:nvSpPr>
        <p:spPr>
          <a:xfrm>
            <a:off x="4983480" y="1463040"/>
            <a:ext cx="1371600" cy="91440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15</a:t>
            </a:r>
            <a:endParaRPr lang="en-US" sz="6600" dirty="0"/>
          </a:p>
        </p:txBody>
      </p:sp>
      <p:sp>
        <p:nvSpPr>
          <p:cNvPr id="12" name="Text 80"/>
          <p:cNvSpPr txBox="1"/>
          <p:nvPr/>
        </p:nvSpPr>
        <p:spPr>
          <a:xfrm>
            <a:off x="6355080" y="1600200"/>
            <a:ext cx="2194560" cy="640080"/>
          </a:xfrm>
          <a:prstGeom prst="rect">
            <a:avLst/>
          </a:prstGeom>
          <a:noFill/>
          <a:ln/>
        </p:spPr>
        <p:txBody>
          <a:bodyPr wrap="square" lIns="0" tIns="0" rIns="0" bIns="0" rtlCol="0" anchor="ctr"/>
          <a:lstStyle/>
          <a:p>
            <a:pPr indent="0" marL="0">
              <a:buNone/>
            </a:pPr>
            <a:r>
              <a:rPr lang="en-US" sz="1600" b="1" dirty="0">
                <a:solidFill>
                  <a:schemeClr val="tx1"/>
                </a:solidFill>
              </a:rPr>
              <a:t>non-functional requirements</a:t>
            </a:r>
            <a:endParaRPr lang="en-US" sz="1600" dirty="0"/>
          </a:p>
        </p:txBody>
      </p:sp>
      <p:sp>
        <p:nvSpPr>
          <p:cNvPr id="13" name="Text 81"/>
          <p:cNvSpPr txBox="1"/>
          <p:nvPr/>
        </p:nvSpPr>
        <p:spPr>
          <a:xfrm>
            <a:off x="4983480" y="2514600"/>
            <a:ext cx="3429000" cy="274320"/>
          </a:xfrm>
          <a:prstGeom prst="rect">
            <a:avLst/>
          </a:prstGeom>
          <a:noFill/>
          <a:ln/>
        </p:spPr>
        <p:txBody>
          <a:bodyPr wrap="square" lIns="0" tIns="0" rIns="0" bIns="0" rtlCol="0" anchor="t"/>
          <a:lstStyle/>
          <a:p>
            <a:pPr indent="0" marL="0">
              <a:buNone/>
            </a:pPr>
            <a:r>
              <a:rPr lang="en-US" sz="1200" i="1" dirty="0">
                <a:solidFill>
                  <a:schemeClr val="accent4"/>
                </a:solidFill>
              </a:rPr>
              <a:t>How well it does it</a:t>
            </a:r>
            <a:endParaRPr lang="en-US" sz="1200" dirty="0"/>
          </a:p>
        </p:txBody>
      </p:sp>
      <p:sp>
        <p:nvSpPr>
          <p:cNvPr id="14" name="Text 82"/>
          <p:cNvSpPr txBox="1"/>
          <p:nvPr/>
        </p:nvSpPr>
        <p:spPr>
          <a:xfrm>
            <a:off x="4983480" y="2834640"/>
            <a:ext cx="3429000" cy="1371600"/>
          </a:xfrm>
          <a:prstGeom prst="rect">
            <a:avLst/>
          </a:prstGeom>
          <a:noFill/>
          <a:ln/>
        </p:spPr>
        <p:txBody>
          <a:bodyPr wrap="square" lIns="0" tIns="0" rIns="0" bIns="0" rtlCol="0" anchor="t"/>
          <a:lstStyle/>
          <a:p>
            <a:pPr indent="0" marL="0">
              <a:buNone/>
            </a:pPr>
            <a:r>
              <a:rPr lang="en-US" sz="1500" dirty="0">
                <a:solidFill>
                  <a:schemeClr val="tx1"/>
                </a:solidFill>
              </a:rPr>
              <a:t>Security  ·  Data privacy  ·  Usability  ·  Reliability  ·  Backups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Level 0: the system at a glance</a:t>
            </a:r>
            <a:endParaRPr lang="en-US" sz="3200" dirty="0"/>
          </a:p>
        </p:txBody>
      </p:sp>
      <p:sp>
        <p:nvSpPr>
          <p:cNvPr id="3" name="Eyebrow 83"/>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ANALYSIS</a:t>
            </a:r>
            <a:endParaRPr lang="en-US" sz="1100" dirty="0"/>
          </a:p>
        </p:txBody>
      </p:sp>
      <p:pic>
        <p:nvPicPr>
          <p:cNvPr id="5" name="Level 0 diagram 84" descr="C:\Users\sean\Documents\Github Repos\Final-Project-Software-Engineering\docs\diagrams\level-0-context-diagram.png">    </p:cNvPr>
          <p:cNvPicPr>
            <a:picLocks noChangeAspect="1"/>
          </p:cNvPicPr>
          <p:nvPr/>
        </p:nvPicPr>
        <p:blipFill>
          <a:blip r:embed="rId1"/>
          <a:stretch>
            <a:fillRect/>
          </a:stretch>
        </p:blipFill>
        <p:spPr>
          <a:xfrm>
            <a:off x="457200" y="1188720"/>
            <a:ext cx="4615962" cy="3429000"/>
          </a:xfrm>
          <a:prstGeom prst="rect">
            <a:avLst/>
          </a:prstGeom>
        </p:spPr>
      </p:pic>
      <p:sp>
        <p:nvSpPr>
          <p:cNvPr id="6" name="Text 85"/>
          <p:cNvSpPr txBox="1"/>
          <p:nvPr/>
        </p:nvSpPr>
        <p:spPr>
          <a:xfrm>
            <a:off x="5438922" y="1280160"/>
            <a:ext cx="3247878" cy="320040"/>
          </a:xfrm>
          <a:prstGeom prst="rect">
            <a:avLst/>
          </a:prstGeom>
          <a:noFill/>
          <a:ln/>
        </p:spPr>
        <p:txBody>
          <a:bodyPr wrap="square" lIns="0" tIns="0" rIns="0" bIns="0" rtlCol="0" anchor="t"/>
          <a:lstStyle/>
          <a:p>
            <a:pPr indent="0" marL="0">
              <a:buNone/>
            </a:pPr>
            <a:r>
              <a:rPr lang="en-US" sz="1600" b="1" dirty="0">
                <a:solidFill>
                  <a:schemeClr val="tx1"/>
                </a:solidFill>
              </a:rPr>
              <a:t>Three kinds of users</a:t>
            </a:r>
            <a:endParaRPr lang="en-US" sz="1600" dirty="0"/>
          </a:p>
        </p:txBody>
      </p:sp>
      <p:sp>
        <p:nvSpPr>
          <p:cNvPr id="7" name="Badge 86"/>
          <p:cNvSpPr/>
          <p:nvPr/>
        </p:nvSpPr>
        <p:spPr>
          <a:xfrm>
            <a:off x="5438922" y="1783080"/>
            <a:ext cx="548640" cy="548640"/>
          </a:xfrm>
          <a:prstGeom prst="ellipse">
            <a:avLst/>
          </a:prstGeom>
          <a:solidFill>
            <a:schemeClr val="accent1"/>
          </a:solidFill>
          <a:ln w="12700">
            <a:solidFill>
              <a:schemeClr val="accent1"/>
            </a:solidFill>
            <a:prstDash val="solid"/>
          </a:ln>
        </p:spPr>
      </p:sp>
      <p:pic>
        <p:nvPicPr>
          <p:cNvPr id="8" name="Icon 87" descr="preencoded.png">    </p:cNvPr>
          <p:cNvPicPr>
            <a:picLocks noChangeAspect="1"/>
          </p:cNvPicPr>
          <p:nvPr/>
        </p:nvPicPr>
        <p:blipFill>
          <a:blip r:embed="rId2"/>
          <a:stretch>
            <a:fillRect/>
          </a:stretch>
        </p:blipFill>
        <p:spPr>
          <a:xfrm>
            <a:off x="5587054" y="1931213"/>
            <a:ext cx="252374" cy="252374"/>
          </a:xfrm>
          <a:prstGeom prst="rect">
            <a:avLst/>
          </a:prstGeom>
        </p:spPr>
      </p:pic>
      <p:sp>
        <p:nvSpPr>
          <p:cNvPr id="9" name="Text 88"/>
          <p:cNvSpPr txBox="1"/>
          <p:nvPr/>
        </p:nvSpPr>
        <p:spPr>
          <a:xfrm>
            <a:off x="6170442" y="1764792"/>
            <a:ext cx="2516358" cy="292608"/>
          </a:xfrm>
          <a:prstGeom prst="rect">
            <a:avLst/>
          </a:prstGeom>
          <a:noFill/>
          <a:ln/>
        </p:spPr>
        <p:txBody>
          <a:bodyPr wrap="square" lIns="0" tIns="0" rIns="0" bIns="0" rtlCol="0" anchor="ctr"/>
          <a:lstStyle/>
          <a:p>
            <a:pPr indent="0" marL="0">
              <a:buNone/>
            </a:pPr>
            <a:r>
              <a:rPr lang="en-US" sz="1600" b="1" dirty="0">
                <a:solidFill>
                  <a:schemeClr val="tx1"/>
                </a:solidFill>
              </a:rPr>
              <a:t>Clinic staff</a:t>
            </a:r>
            <a:endParaRPr lang="en-US" sz="1600" dirty="0"/>
          </a:p>
        </p:txBody>
      </p:sp>
      <p:sp>
        <p:nvSpPr>
          <p:cNvPr id="10" name="Text 89"/>
          <p:cNvSpPr txBox="1"/>
          <p:nvPr/>
        </p:nvSpPr>
        <p:spPr>
          <a:xfrm>
            <a:off x="6170442" y="2057400"/>
            <a:ext cx="2516358" cy="457200"/>
          </a:xfrm>
          <a:prstGeom prst="rect">
            <a:avLst/>
          </a:prstGeom>
          <a:noFill/>
          <a:ln/>
        </p:spPr>
        <p:txBody>
          <a:bodyPr wrap="square" lIns="0" tIns="0" rIns="0" bIns="0" rtlCol="0" anchor="t"/>
          <a:lstStyle/>
          <a:p>
            <a:pPr indent="0" marL="0">
              <a:buNone/>
            </a:pPr>
            <a:r>
              <a:rPr lang="en-US" sz="1400" dirty="0">
                <a:solidFill>
                  <a:schemeClr val="accent4"/>
                </a:solidFill>
              </a:rPr>
              <a:t>Nurses and student assistants</a:t>
            </a:r>
            <a:endParaRPr lang="en-US" sz="1400" dirty="0"/>
          </a:p>
        </p:txBody>
      </p:sp>
      <p:sp>
        <p:nvSpPr>
          <p:cNvPr id="11" name="Badge 90"/>
          <p:cNvSpPr/>
          <p:nvPr/>
        </p:nvSpPr>
        <p:spPr>
          <a:xfrm>
            <a:off x="5438922" y="2651760"/>
            <a:ext cx="548640" cy="548640"/>
          </a:xfrm>
          <a:prstGeom prst="ellipse">
            <a:avLst/>
          </a:prstGeom>
          <a:solidFill>
            <a:schemeClr val="accent1"/>
          </a:solidFill>
          <a:ln w="12700">
            <a:solidFill>
              <a:schemeClr val="accent1"/>
            </a:solidFill>
            <a:prstDash val="solid"/>
          </a:ln>
        </p:spPr>
      </p:sp>
      <p:pic>
        <p:nvPicPr>
          <p:cNvPr id="12" name="Icon 91" descr="preencoded.png">    </p:cNvPr>
          <p:cNvPicPr>
            <a:picLocks noChangeAspect="1"/>
          </p:cNvPicPr>
          <p:nvPr/>
        </p:nvPicPr>
        <p:blipFill>
          <a:blip r:embed="rId3"/>
          <a:stretch>
            <a:fillRect/>
          </a:stretch>
        </p:blipFill>
        <p:spPr>
          <a:xfrm>
            <a:off x="5587054" y="2799893"/>
            <a:ext cx="252374" cy="252374"/>
          </a:xfrm>
          <a:prstGeom prst="rect">
            <a:avLst/>
          </a:prstGeom>
        </p:spPr>
      </p:pic>
      <p:sp>
        <p:nvSpPr>
          <p:cNvPr id="13" name="Text 92"/>
          <p:cNvSpPr txBox="1"/>
          <p:nvPr/>
        </p:nvSpPr>
        <p:spPr>
          <a:xfrm>
            <a:off x="6170442" y="2633472"/>
            <a:ext cx="2516358" cy="292608"/>
          </a:xfrm>
          <a:prstGeom prst="rect">
            <a:avLst/>
          </a:prstGeom>
          <a:noFill/>
          <a:ln/>
        </p:spPr>
        <p:txBody>
          <a:bodyPr wrap="square" lIns="0" tIns="0" rIns="0" bIns="0" rtlCol="0" anchor="ctr"/>
          <a:lstStyle/>
          <a:p>
            <a:pPr indent="0" marL="0">
              <a:buNone/>
            </a:pPr>
            <a:r>
              <a:rPr lang="en-US" sz="1600" b="1" dirty="0">
                <a:solidFill>
                  <a:schemeClr val="tx1"/>
                </a:solidFill>
              </a:rPr>
              <a:t>Doctor</a:t>
            </a:r>
            <a:endParaRPr lang="en-US" sz="1600" dirty="0"/>
          </a:p>
        </p:txBody>
      </p:sp>
      <p:sp>
        <p:nvSpPr>
          <p:cNvPr id="14" name="Text 93"/>
          <p:cNvSpPr txBox="1"/>
          <p:nvPr/>
        </p:nvSpPr>
        <p:spPr>
          <a:xfrm>
            <a:off x="6170442" y="2926080"/>
            <a:ext cx="2516358" cy="457200"/>
          </a:xfrm>
          <a:prstGeom prst="rect">
            <a:avLst/>
          </a:prstGeom>
          <a:noFill/>
          <a:ln/>
        </p:spPr>
        <p:txBody>
          <a:bodyPr wrap="square" lIns="0" tIns="0" rIns="0" bIns="0" rtlCol="0" anchor="t"/>
          <a:lstStyle/>
          <a:p>
            <a:pPr indent="0" marL="0">
              <a:buNone/>
            </a:pPr>
            <a:r>
              <a:rPr lang="en-US" sz="1400" dirty="0">
                <a:solidFill>
                  <a:schemeClr val="accent4"/>
                </a:solidFill>
              </a:rPr>
              <a:t>Attending physician</a:t>
            </a:r>
            <a:endParaRPr lang="en-US" sz="1400" dirty="0"/>
          </a:p>
        </p:txBody>
      </p:sp>
      <p:sp>
        <p:nvSpPr>
          <p:cNvPr id="15" name="Badge 94"/>
          <p:cNvSpPr/>
          <p:nvPr/>
        </p:nvSpPr>
        <p:spPr>
          <a:xfrm>
            <a:off x="5438922" y="3520440"/>
            <a:ext cx="548640" cy="548640"/>
          </a:xfrm>
          <a:prstGeom prst="ellipse">
            <a:avLst/>
          </a:prstGeom>
          <a:solidFill>
            <a:schemeClr val="accent1"/>
          </a:solidFill>
          <a:ln w="12700">
            <a:solidFill>
              <a:schemeClr val="accent1"/>
            </a:solidFill>
            <a:prstDash val="solid"/>
          </a:ln>
        </p:spPr>
      </p:sp>
      <p:pic>
        <p:nvPicPr>
          <p:cNvPr id="16" name="Icon 95" descr="preencoded.png">    </p:cNvPr>
          <p:cNvPicPr>
            <a:picLocks noChangeAspect="1"/>
          </p:cNvPicPr>
          <p:nvPr/>
        </p:nvPicPr>
        <p:blipFill>
          <a:blip r:embed="rId4"/>
          <a:stretch>
            <a:fillRect/>
          </a:stretch>
        </p:blipFill>
        <p:spPr>
          <a:xfrm>
            <a:off x="5587054" y="3668573"/>
            <a:ext cx="252374" cy="252374"/>
          </a:xfrm>
          <a:prstGeom prst="rect">
            <a:avLst/>
          </a:prstGeom>
        </p:spPr>
      </p:pic>
      <p:sp>
        <p:nvSpPr>
          <p:cNvPr id="17" name="Text 96"/>
          <p:cNvSpPr txBox="1"/>
          <p:nvPr/>
        </p:nvSpPr>
        <p:spPr>
          <a:xfrm>
            <a:off x="6170442" y="3502152"/>
            <a:ext cx="2516358" cy="292608"/>
          </a:xfrm>
          <a:prstGeom prst="rect">
            <a:avLst/>
          </a:prstGeom>
          <a:noFill/>
          <a:ln/>
        </p:spPr>
        <p:txBody>
          <a:bodyPr wrap="square" lIns="0" tIns="0" rIns="0" bIns="0" rtlCol="0" anchor="ctr"/>
          <a:lstStyle/>
          <a:p>
            <a:pPr indent="0" marL="0">
              <a:buNone/>
            </a:pPr>
            <a:r>
              <a:rPr lang="en-US" sz="1600" b="1" dirty="0">
                <a:solidFill>
                  <a:schemeClr val="tx1"/>
                </a:solidFill>
              </a:rPr>
              <a:t>Clinic coordinator</a:t>
            </a:r>
            <a:endParaRPr lang="en-US" sz="1600" dirty="0"/>
          </a:p>
        </p:txBody>
      </p:sp>
      <p:sp>
        <p:nvSpPr>
          <p:cNvPr id="18" name="Text 97"/>
          <p:cNvSpPr txBox="1"/>
          <p:nvPr/>
        </p:nvSpPr>
        <p:spPr>
          <a:xfrm>
            <a:off x="6170442" y="3794760"/>
            <a:ext cx="2516358" cy="457200"/>
          </a:xfrm>
          <a:prstGeom prst="rect">
            <a:avLst/>
          </a:prstGeom>
          <a:noFill/>
          <a:ln/>
        </p:spPr>
        <p:txBody>
          <a:bodyPr wrap="square" lIns="0" tIns="0" rIns="0" bIns="0" rtlCol="0" anchor="t"/>
          <a:lstStyle/>
          <a:p>
            <a:pPr indent="0" marL="0">
              <a:buNone/>
            </a:pPr>
            <a:r>
              <a:rPr lang="en-US" sz="1400" dirty="0">
                <a:solidFill>
                  <a:schemeClr val="accent4"/>
                </a:solidFill>
              </a:rPr>
              <a:t>Manages the clinic</a:t>
            </a:r>
            <a:endParaRPr lang="en-US" sz="1400" dirty="0"/>
          </a:p>
        </p:txBody>
      </p:sp>
      <p:sp>
        <p:nvSpPr>
          <p:cNvPr id="19" name="Text 98"/>
          <p:cNvSpPr txBox="1"/>
          <p:nvPr/>
        </p:nvSpPr>
        <p:spPr>
          <a:xfrm>
            <a:off x="5438922" y="4297680"/>
            <a:ext cx="3247878" cy="274320"/>
          </a:xfrm>
          <a:prstGeom prst="rect">
            <a:avLst/>
          </a:prstGeom>
          <a:noFill/>
          <a:ln/>
        </p:spPr>
        <p:txBody>
          <a:bodyPr wrap="square" lIns="0" tIns="0" rIns="0" bIns="0" rtlCol="0" anchor="t"/>
          <a:lstStyle/>
          <a:p>
            <a:pPr indent="0" marL="0">
              <a:buNone/>
            </a:pPr>
            <a:r>
              <a:rPr lang="en-US" sz="1400" i="1" dirty="0">
                <a:solidFill>
                  <a:schemeClr val="accent1"/>
                </a:solidFill>
              </a:rPr>
              <a:t>Patients have no account.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Level 1: inside the system</a:t>
            </a:r>
            <a:endParaRPr lang="en-US" sz="3200" dirty="0"/>
          </a:p>
        </p:txBody>
      </p:sp>
      <p:sp>
        <p:nvSpPr>
          <p:cNvPr id="3" name="Eyebrow 99"/>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ANALYSIS</a:t>
            </a:r>
            <a:endParaRPr lang="en-US" sz="1100" dirty="0"/>
          </a:p>
        </p:txBody>
      </p:sp>
      <p:pic>
        <p:nvPicPr>
          <p:cNvPr id="5" name="Level 1 diagram 100" descr="C:\Users\sean\Documents\Github Repos\Final-Project-Software-Engineering\docs\diagrams\level-1-data-flow-diagram.png">    </p:cNvPr>
          <p:cNvPicPr>
            <a:picLocks noChangeAspect="1"/>
          </p:cNvPicPr>
          <p:nvPr/>
        </p:nvPicPr>
        <p:blipFill>
          <a:blip r:embed="rId1"/>
          <a:stretch>
            <a:fillRect/>
          </a:stretch>
        </p:blipFill>
        <p:spPr>
          <a:xfrm>
            <a:off x="3700754" y="1188720"/>
            <a:ext cx="4986046" cy="3429000"/>
          </a:xfrm>
          <a:prstGeom prst="rect">
            <a:avLst/>
          </a:prstGeom>
        </p:spPr>
      </p:pic>
      <p:sp>
        <p:nvSpPr>
          <p:cNvPr id="6" name="Card 101"/>
          <p:cNvSpPr/>
          <p:nvPr/>
        </p:nvSpPr>
        <p:spPr>
          <a:xfrm>
            <a:off x="457200" y="1188720"/>
            <a:ext cx="2877794" cy="1645920"/>
          </a:xfrm>
          <a:prstGeom prst="roundRect">
            <a:avLst>
              <a:gd name="adj" fmla="val 4444"/>
            </a:avLst>
          </a:prstGeom>
          <a:solidFill>
            <a:schemeClr val="bg2"/>
          </a:solidFill>
          <a:ln w="12700">
            <a:solidFill>
              <a:schemeClr val="bg2"/>
            </a:solidFill>
            <a:prstDash val="solid"/>
          </a:ln>
        </p:spPr>
      </p:sp>
      <p:sp>
        <p:nvSpPr>
          <p:cNvPr id="7" name="Text 102"/>
          <p:cNvSpPr txBox="1"/>
          <p:nvPr/>
        </p:nvSpPr>
        <p:spPr>
          <a:xfrm>
            <a:off x="457200" y="1325880"/>
            <a:ext cx="2877794" cy="914400"/>
          </a:xfrm>
          <a:prstGeom prst="rect">
            <a:avLst/>
          </a:prstGeom>
          <a:noFill/>
          <a:ln/>
        </p:spPr>
        <p:txBody>
          <a:bodyPr wrap="square" lIns="0" tIns="0" rIns="0" bIns="0" rtlCol="0" anchor="ctr"/>
          <a:lstStyle/>
          <a:p>
            <a:pPr algn="ctr" indent="0" marL="0">
              <a:buNone/>
            </a:pPr>
            <a:r>
              <a:rPr lang="en-US" sz="6600" b="1" dirty="0">
                <a:solidFill>
                  <a:schemeClr val="accent1"/>
                </a:solidFill>
                <a:latin typeface="+mj-lt" pitchFamily="34" charset="0"/>
                <a:ea typeface="+mj-lt" pitchFamily="34" charset="-122"/>
                <a:cs typeface="+mj-lt" pitchFamily="34" charset="-120"/>
              </a:rPr>
              <a:t>7</a:t>
            </a:r>
            <a:endParaRPr lang="en-US" sz="6600" dirty="0"/>
          </a:p>
        </p:txBody>
      </p:sp>
      <p:sp>
        <p:nvSpPr>
          <p:cNvPr id="8" name="Text 103"/>
          <p:cNvSpPr txBox="1"/>
          <p:nvPr/>
        </p:nvSpPr>
        <p:spPr>
          <a:xfrm>
            <a:off x="457200" y="2240280"/>
            <a:ext cx="2877794" cy="365760"/>
          </a:xfrm>
          <a:prstGeom prst="rect">
            <a:avLst/>
          </a:prstGeom>
          <a:noFill/>
          <a:ln/>
        </p:spPr>
        <p:txBody>
          <a:bodyPr wrap="square" lIns="0" tIns="0" rIns="0" bIns="0" rtlCol="0" anchor="ctr"/>
          <a:lstStyle/>
          <a:p>
            <a:pPr algn="ctr" indent="0" marL="0">
              <a:buNone/>
            </a:pPr>
            <a:r>
              <a:rPr lang="en-US" sz="1600" dirty="0">
                <a:solidFill>
                  <a:schemeClr val="tx1"/>
                </a:solidFill>
              </a:rPr>
              <a:t>processes</a:t>
            </a:r>
            <a:endParaRPr lang="en-US" sz="1600" dirty="0"/>
          </a:p>
        </p:txBody>
      </p:sp>
      <p:sp>
        <p:nvSpPr>
          <p:cNvPr id="9" name="Card 104"/>
          <p:cNvSpPr/>
          <p:nvPr/>
        </p:nvSpPr>
        <p:spPr>
          <a:xfrm>
            <a:off x="457200" y="2971800"/>
            <a:ext cx="2877794" cy="1645920"/>
          </a:xfrm>
          <a:prstGeom prst="roundRect">
            <a:avLst>
              <a:gd name="adj" fmla="val 4444"/>
            </a:avLst>
          </a:prstGeom>
          <a:solidFill>
            <a:schemeClr val="bg2"/>
          </a:solidFill>
          <a:ln w="12700">
            <a:solidFill>
              <a:schemeClr val="bg2"/>
            </a:solidFill>
            <a:prstDash val="solid"/>
          </a:ln>
        </p:spPr>
      </p:sp>
      <p:sp>
        <p:nvSpPr>
          <p:cNvPr id="10" name="Text 105"/>
          <p:cNvSpPr txBox="1"/>
          <p:nvPr/>
        </p:nvSpPr>
        <p:spPr>
          <a:xfrm>
            <a:off x="457200" y="3108960"/>
            <a:ext cx="2877794" cy="914400"/>
          </a:xfrm>
          <a:prstGeom prst="rect">
            <a:avLst/>
          </a:prstGeom>
          <a:noFill/>
          <a:ln/>
        </p:spPr>
        <p:txBody>
          <a:bodyPr wrap="square" lIns="0" tIns="0" rIns="0" bIns="0" rtlCol="0" anchor="ctr"/>
          <a:lstStyle/>
          <a:p>
            <a:pPr algn="ctr" indent="0" marL="0">
              <a:buNone/>
            </a:pPr>
            <a:r>
              <a:rPr lang="en-US" sz="6600" b="1" dirty="0">
                <a:solidFill>
                  <a:schemeClr val="accent1"/>
                </a:solidFill>
                <a:latin typeface="+mj-lt" pitchFamily="34" charset="0"/>
                <a:ea typeface="+mj-lt" pitchFamily="34" charset="-122"/>
                <a:cs typeface="+mj-lt" pitchFamily="34" charset="-120"/>
              </a:rPr>
              <a:t>7</a:t>
            </a:r>
            <a:endParaRPr lang="en-US" sz="6600" dirty="0"/>
          </a:p>
        </p:txBody>
      </p:sp>
      <p:sp>
        <p:nvSpPr>
          <p:cNvPr id="11" name="Text 106"/>
          <p:cNvSpPr txBox="1"/>
          <p:nvPr/>
        </p:nvSpPr>
        <p:spPr>
          <a:xfrm>
            <a:off x="457200" y="4023360"/>
            <a:ext cx="2877794" cy="365760"/>
          </a:xfrm>
          <a:prstGeom prst="rect">
            <a:avLst/>
          </a:prstGeom>
          <a:noFill/>
          <a:ln/>
        </p:spPr>
        <p:txBody>
          <a:bodyPr wrap="square" lIns="0" tIns="0" rIns="0" bIns="0" rtlCol="0" anchor="ctr"/>
          <a:lstStyle/>
          <a:p>
            <a:pPr algn="ctr" indent="0" marL="0">
              <a:buNone/>
            </a:pPr>
            <a:r>
              <a:rPr lang="en-US" sz="1600" dirty="0">
                <a:solidFill>
                  <a:schemeClr val="tx1"/>
                </a:solidFill>
              </a:rPr>
              <a:t>data stores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Who can do what</a:t>
            </a:r>
            <a:endParaRPr lang="en-US" sz="3200" dirty="0"/>
          </a:p>
        </p:txBody>
      </p:sp>
      <p:sp>
        <p:nvSpPr>
          <p:cNvPr id="3" name="Eyebrow 107"/>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SOFTWARE MODEL</a:t>
            </a:r>
            <a:endParaRPr lang="en-US" sz="1100" dirty="0"/>
          </a:p>
        </p:txBody>
      </p:sp>
      <p:pic>
        <p:nvPicPr>
          <p:cNvPr id="5" name="Use case diagram 108" descr="C:\Users\sean\Documents\Github Repos\Final-Project-Software-Engineering\docs\diagrams\use-case-diagram.png">    </p:cNvPr>
          <p:cNvPicPr>
            <a:picLocks noChangeAspect="1"/>
          </p:cNvPicPr>
          <p:nvPr/>
        </p:nvPicPr>
        <p:blipFill>
          <a:blip r:embed="rId1"/>
          <a:stretch>
            <a:fillRect/>
          </a:stretch>
        </p:blipFill>
        <p:spPr>
          <a:xfrm>
            <a:off x="457200" y="1188720"/>
            <a:ext cx="4517246" cy="3429000"/>
          </a:xfrm>
          <a:prstGeom prst="rect">
            <a:avLst/>
          </a:prstGeom>
        </p:spPr>
      </p:pic>
      <p:sp>
        <p:nvSpPr>
          <p:cNvPr id="6" name="Badge 109"/>
          <p:cNvSpPr/>
          <p:nvPr/>
        </p:nvSpPr>
        <p:spPr>
          <a:xfrm>
            <a:off x="5340206" y="1371600"/>
            <a:ext cx="548640" cy="548640"/>
          </a:xfrm>
          <a:prstGeom prst="ellipse">
            <a:avLst/>
          </a:prstGeom>
          <a:solidFill>
            <a:schemeClr val="accent1"/>
          </a:solidFill>
          <a:ln w="12700">
            <a:solidFill>
              <a:schemeClr val="accent1"/>
            </a:solidFill>
            <a:prstDash val="solid"/>
          </a:ln>
        </p:spPr>
      </p:sp>
      <p:pic>
        <p:nvPicPr>
          <p:cNvPr id="7" name="Icon 110" descr="preencoded.png">    </p:cNvPr>
          <p:cNvPicPr>
            <a:picLocks noChangeAspect="1"/>
          </p:cNvPicPr>
          <p:nvPr/>
        </p:nvPicPr>
        <p:blipFill>
          <a:blip r:embed="rId2"/>
          <a:stretch>
            <a:fillRect/>
          </a:stretch>
        </p:blipFill>
        <p:spPr>
          <a:xfrm>
            <a:off x="5488338" y="1519733"/>
            <a:ext cx="252374" cy="252374"/>
          </a:xfrm>
          <a:prstGeom prst="rect">
            <a:avLst/>
          </a:prstGeom>
        </p:spPr>
      </p:pic>
      <p:sp>
        <p:nvSpPr>
          <p:cNvPr id="8" name="Text 111"/>
          <p:cNvSpPr txBox="1"/>
          <p:nvPr/>
        </p:nvSpPr>
        <p:spPr>
          <a:xfrm>
            <a:off x="6071726" y="1353312"/>
            <a:ext cx="2615074" cy="292608"/>
          </a:xfrm>
          <a:prstGeom prst="rect">
            <a:avLst/>
          </a:prstGeom>
          <a:noFill/>
          <a:ln/>
        </p:spPr>
        <p:txBody>
          <a:bodyPr wrap="square" lIns="0" tIns="0" rIns="0" bIns="0" rtlCol="0" anchor="ctr"/>
          <a:lstStyle/>
          <a:p>
            <a:pPr indent="0" marL="0">
              <a:buNone/>
            </a:pPr>
            <a:r>
              <a:rPr lang="en-US" sz="1600" b="1" dirty="0">
                <a:solidFill>
                  <a:schemeClr val="tx1"/>
                </a:solidFill>
              </a:rPr>
              <a:t>Clinic staff</a:t>
            </a:r>
            <a:endParaRPr lang="en-US" sz="1600" dirty="0"/>
          </a:p>
        </p:txBody>
      </p:sp>
      <p:sp>
        <p:nvSpPr>
          <p:cNvPr id="9" name="Text 112"/>
          <p:cNvSpPr txBox="1"/>
          <p:nvPr/>
        </p:nvSpPr>
        <p:spPr>
          <a:xfrm>
            <a:off x="6071726" y="1645920"/>
            <a:ext cx="2615074" cy="457200"/>
          </a:xfrm>
          <a:prstGeom prst="rect">
            <a:avLst/>
          </a:prstGeom>
          <a:noFill/>
          <a:ln/>
        </p:spPr>
        <p:txBody>
          <a:bodyPr wrap="square" lIns="0" tIns="0" rIns="0" bIns="0" rtlCol="0" anchor="t"/>
          <a:lstStyle/>
          <a:p>
            <a:pPr indent="0" marL="0">
              <a:buNone/>
            </a:pPr>
            <a:r>
              <a:rPr lang="en-US" sz="1400" dirty="0">
                <a:solidFill>
                  <a:schemeClr val="accent4"/>
                </a:solidFill>
              </a:rPr>
              <a:t>Check-in, visits, medicine, appointments</a:t>
            </a:r>
            <a:endParaRPr lang="en-US" sz="1400" dirty="0"/>
          </a:p>
        </p:txBody>
      </p:sp>
      <p:sp>
        <p:nvSpPr>
          <p:cNvPr id="10" name="Badge 113"/>
          <p:cNvSpPr/>
          <p:nvPr/>
        </p:nvSpPr>
        <p:spPr>
          <a:xfrm>
            <a:off x="5340206" y="2468880"/>
            <a:ext cx="548640" cy="548640"/>
          </a:xfrm>
          <a:prstGeom prst="ellipse">
            <a:avLst/>
          </a:prstGeom>
          <a:solidFill>
            <a:schemeClr val="accent1"/>
          </a:solidFill>
          <a:ln w="12700">
            <a:solidFill>
              <a:schemeClr val="accent1"/>
            </a:solidFill>
            <a:prstDash val="solid"/>
          </a:ln>
        </p:spPr>
      </p:sp>
      <p:pic>
        <p:nvPicPr>
          <p:cNvPr id="11" name="Icon 114" descr="preencoded.png">    </p:cNvPr>
          <p:cNvPicPr>
            <a:picLocks noChangeAspect="1"/>
          </p:cNvPicPr>
          <p:nvPr/>
        </p:nvPicPr>
        <p:blipFill>
          <a:blip r:embed="rId3"/>
          <a:stretch>
            <a:fillRect/>
          </a:stretch>
        </p:blipFill>
        <p:spPr>
          <a:xfrm>
            <a:off x="5488338" y="2617013"/>
            <a:ext cx="252374" cy="252374"/>
          </a:xfrm>
          <a:prstGeom prst="rect">
            <a:avLst/>
          </a:prstGeom>
        </p:spPr>
      </p:pic>
      <p:sp>
        <p:nvSpPr>
          <p:cNvPr id="12" name="Text 115"/>
          <p:cNvSpPr txBox="1"/>
          <p:nvPr/>
        </p:nvSpPr>
        <p:spPr>
          <a:xfrm>
            <a:off x="6071726" y="2450592"/>
            <a:ext cx="2615074" cy="292608"/>
          </a:xfrm>
          <a:prstGeom prst="rect">
            <a:avLst/>
          </a:prstGeom>
          <a:noFill/>
          <a:ln/>
        </p:spPr>
        <p:txBody>
          <a:bodyPr wrap="square" lIns="0" tIns="0" rIns="0" bIns="0" rtlCol="0" anchor="ctr"/>
          <a:lstStyle/>
          <a:p>
            <a:pPr indent="0" marL="0">
              <a:buNone/>
            </a:pPr>
            <a:r>
              <a:rPr lang="en-US" sz="1600" b="1" dirty="0">
                <a:solidFill>
                  <a:schemeClr val="tx1"/>
                </a:solidFill>
              </a:rPr>
              <a:t>Doctor</a:t>
            </a:r>
            <a:endParaRPr lang="en-US" sz="1600" dirty="0"/>
          </a:p>
        </p:txBody>
      </p:sp>
      <p:sp>
        <p:nvSpPr>
          <p:cNvPr id="13" name="Text 116"/>
          <p:cNvSpPr txBox="1"/>
          <p:nvPr/>
        </p:nvSpPr>
        <p:spPr>
          <a:xfrm>
            <a:off x="6071726" y="2743200"/>
            <a:ext cx="2615074" cy="457200"/>
          </a:xfrm>
          <a:prstGeom prst="rect">
            <a:avLst/>
          </a:prstGeom>
          <a:noFill/>
          <a:ln/>
        </p:spPr>
        <p:txBody>
          <a:bodyPr wrap="square" lIns="0" tIns="0" rIns="0" bIns="0" rtlCol="0" anchor="t"/>
          <a:lstStyle/>
          <a:p>
            <a:pPr indent="0" marL="0">
              <a:buNone/>
            </a:pPr>
            <a:r>
              <a:rPr lang="en-US" sz="1400" dirty="0">
                <a:solidFill>
                  <a:schemeClr val="accent4"/>
                </a:solidFill>
              </a:rPr>
              <a:t>Consultation notes and diagnosis</a:t>
            </a:r>
            <a:endParaRPr lang="en-US" sz="1400" dirty="0"/>
          </a:p>
        </p:txBody>
      </p:sp>
      <p:sp>
        <p:nvSpPr>
          <p:cNvPr id="14" name="Badge 117"/>
          <p:cNvSpPr/>
          <p:nvPr/>
        </p:nvSpPr>
        <p:spPr>
          <a:xfrm>
            <a:off x="5340206" y="3566160"/>
            <a:ext cx="548640" cy="548640"/>
          </a:xfrm>
          <a:prstGeom prst="ellipse">
            <a:avLst/>
          </a:prstGeom>
          <a:solidFill>
            <a:schemeClr val="accent1"/>
          </a:solidFill>
          <a:ln w="12700">
            <a:solidFill>
              <a:schemeClr val="accent1"/>
            </a:solidFill>
            <a:prstDash val="solid"/>
          </a:ln>
        </p:spPr>
      </p:sp>
      <p:pic>
        <p:nvPicPr>
          <p:cNvPr id="15" name="Icon 118" descr="preencoded.png">    </p:cNvPr>
          <p:cNvPicPr>
            <a:picLocks noChangeAspect="1"/>
          </p:cNvPicPr>
          <p:nvPr/>
        </p:nvPicPr>
        <p:blipFill>
          <a:blip r:embed="rId4"/>
          <a:stretch>
            <a:fillRect/>
          </a:stretch>
        </p:blipFill>
        <p:spPr>
          <a:xfrm>
            <a:off x="5488338" y="3714293"/>
            <a:ext cx="252374" cy="252374"/>
          </a:xfrm>
          <a:prstGeom prst="rect">
            <a:avLst/>
          </a:prstGeom>
        </p:spPr>
      </p:pic>
      <p:sp>
        <p:nvSpPr>
          <p:cNvPr id="16" name="Text 119"/>
          <p:cNvSpPr txBox="1"/>
          <p:nvPr/>
        </p:nvSpPr>
        <p:spPr>
          <a:xfrm>
            <a:off x="6071726" y="3547872"/>
            <a:ext cx="2615074" cy="292608"/>
          </a:xfrm>
          <a:prstGeom prst="rect">
            <a:avLst/>
          </a:prstGeom>
          <a:noFill/>
          <a:ln/>
        </p:spPr>
        <p:txBody>
          <a:bodyPr wrap="square" lIns="0" tIns="0" rIns="0" bIns="0" rtlCol="0" anchor="ctr"/>
          <a:lstStyle/>
          <a:p>
            <a:pPr indent="0" marL="0">
              <a:buNone/>
            </a:pPr>
            <a:r>
              <a:rPr lang="en-US" sz="1600" b="1" dirty="0">
                <a:solidFill>
                  <a:schemeClr val="tx1"/>
                </a:solidFill>
              </a:rPr>
              <a:t>Coordinator</a:t>
            </a:r>
            <a:endParaRPr lang="en-US" sz="1600" dirty="0"/>
          </a:p>
        </p:txBody>
      </p:sp>
      <p:sp>
        <p:nvSpPr>
          <p:cNvPr id="17" name="Text 120"/>
          <p:cNvSpPr txBox="1"/>
          <p:nvPr/>
        </p:nvSpPr>
        <p:spPr>
          <a:xfrm>
            <a:off x="6071726" y="3840480"/>
            <a:ext cx="2615074" cy="457200"/>
          </a:xfrm>
          <a:prstGeom prst="rect">
            <a:avLst/>
          </a:prstGeom>
          <a:noFill/>
          <a:ln/>
        </p:spPr>
        <p:txBody>
          <a:bodyPr wrap="square" lIns="0" tIns="0" rIns="0" bIns="0" rtlCol="0" anchor="t"/>
          <a:lstStyle/>
          <a:p>
            <a:pPr indent="0" marL="0">
              <a:buNone/>
            </a:pPr>
            <a:r>
              <a:rPr lang="en-US" sz="1400" dirty="0">
                <a:solidFill>
                  <a:schemeClr val="accent4"/>
                </a:solidFill>
              </a:rPr>
              <a:t>Everything, plus accounts and the audit log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The clinic's day on one screen</a:t>
            </a:r>
            <a:endParaRPr lang="en-US" sz="3200" dirty="0"/>
          </a:p>
        </p:txBody>
      </p:sp>
      <p:sp>
        <p:nvSpPr>
          <p:cNvPr id="3" name="Eyebrow 121"/>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SYSTEM</a:t>
            </a:r>
            <a:endParaRPr lang="en-US" sz="1100" dirty="0"/>
          </a:p>
        </p:txBody>
      </p:sp>
      <p:sp>
        <p:nvSpPr>
          <p:cNvPr id="5" name="Frame 122"/>
          <p:cNvSpPr/>
          <p:nvPr/>
        </p:nvSpPr>
        <p:spPr>
          <a:xfrm>
            <a:off x="3566160" y="1280160"/>
            <a:ext cx="5120640" cy="3200400"/>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6" name="Screenshot 123" descr="C:\Users\sean\AppData\Local\Temp\claude\C--Users-sean-Documents-Github-Repos-Final-Project-Software-Engineering\3d01b1ba-a96f-491d-9e9e-65c71a7b631d\scratchpad\pitch\ppt\media\image-1-2.png">    </p:cNvPr>
          <p:cNvPicPr>
            <a:picLocks noChangeAspect="1"/>
          </p:cNvPicPr>
          <p:nvPr/>
        </p:nvPicPr>
        <p:blipFill>
          <a:blip r:embed="rId1"/>
          <a:stretch>
            <a:fillRect/>
          </a:stretch>
        </p:blipFill>
        <p:spPr>
          <a:xfrm>
            <a:off x="3566160" y="1280160"/>
            <a:ext cx="5120640" cy="3200400"/>
          </a:xfrm>
          <a:prstGeom prst="rect">
            <a:avLst/>
          </a:prstGeom>
        </p:spPr>
      </p:pic>
      <p:sp>
        <p:nvSpPr>
          <p:cNvPr id="7" name="Badge 124"/>
          <p:cNvSpPr/>
          <p:nvPr/>
        </p:nvSpPr>
        <p:spPr>
          <a:xfrm>
            <a:off x="457200" y="1417320"/>
            <a:ext cx="548640" cy="548640"/>
          </a:xfrm>
          <a:prstGeom prst="ellipse">
            <a:avLst/>
          </a:prstGeom>
          <a:solidFill>
            <a:schemeClr val="accent1"/>
          </a:solidFill>
          <a:ln w="12700">
            <a:solidFill>
              <a:schemeClr val="accent1"/>
            </a:solidFill>
            <a:prstDash val="solid"/>
          </a:ln>
        </p:spPr>
      </p:sp>
      <p:pic>
        <p:nvPicPr>
          <p:cNvPr id="8" name="Icon 125" descr="preencoded.png">    </p:cNvPr>
          <p:cNvPicPr>
            <a:picLocks noChangeAspect="1"/>
          </p:cNvPicPr>
          <p:nvPr/>
        </p:nvPicPr>
        <p:blipFill>
          <a:blip r:embed="rId2"/>
          <a:stretch>
            <a:fillRect/>
          </a:stretch>
        </p:blipFill>
        <p:spPr>
          <a:xfrm>
            <a:off x="605333" y="1565453"/>
            <a:ext cx="252374" cy="252374"/>
          </a:xfrm>
          <a:prstGeom prst="rect">
            <a:avLst/>
          </a:prstGeom>
        </p:spPr>
      </p:pic>
      <p:sp>
        <p:nvSpPr>
          <p:cNvPr id="9" name="Text 126"/>
          <p:cNvSpPr txBox="1"/>
          <p:nvPr/>
        </p:nvSpPr>
        <p:spPr>
          <a:xfrm>
            <a:off x="1188720" y="1399032"/>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Today at a glance</a:t>
            </a:r>
            <a:endParaRPr lang="en-US" sz="1600" dirty="0"/>
          </a:p>
        </p:txBody>
      </p:sp>
      <p:sp>
        <p:nvSpPr>
          <p:cNvPr id="10" name="Text 127"/>
          <p:cNvSpPr txBox="1"/>
          <p:nvPr/>
        </p:nvSpPr>
        <p:spPr>
          <a:xfrm>
            <a:off x="1188720" y="1691640"/>
            <a:ext cx="2194560" cy="457200"/>
          </a:xfrm>
          <a:prstGeom prst="rect">
            <a:avLst/>
          </a:prstGeom>
          <a:noFill/>
          <a:ln/>
        </p:spPr>
        <p:txBody>
          <a:bodyPr wrap="square" lIns="0" tIns="0" rIns="0" bIns="0" rtlCol="0" anchor="t"/>
          <a:lstStyle/>
          <a:p>
            <a:pPr indent="0" marL="0">
              <a:buNone/>
            </a:pPr>
            <a:r>
              <a:rPr lang="en-US" sz="1400" dirty="0">
                <a:solidFill>
                  <a:schemeClr val="accent4"/>
                </a:solidFill>
              </a:rPr>
              <a:t>Visits and appointments</a:t>
            </a:r>
            <a:endParaRPr lang="en-US" sz="1400" dirty="0"/>
          </a:p>
        </p:txBody>
      </p:sp>
      <p:sp>
        <p:nvSpPr>
          <p:cNvPr id="11" name="Badge 128"/>
          <p:cNvSpPr/>
          <p:nvPr/>
        </p:nvSpPr>
        <p:spPr>
          <a:xfrm>
            <a:off x="457200" y="2468880"/>
            <a:ext cx="548640" cy="548640"/>
          </a:xfrm>
          <a:prstGeom prst="ellipse">
            <a:avLst/>
          </a:prstGeom>
          <a:solidFill>
            <a:schemeClr val="accent1"/>
          </a:solidFill>
          <a:ln w="12700">
            <a:solidFill>
              <a:schemeClr val="accent1"/>
            </a:solidFill>
            <a:prstDash val="solid"/>
          </a:ln>
        </p:spPr>
      </p:sp>
      <p:pic>
        <p:nvPicPr>
          <p:cNvPr id="12" name="Icon 129" descr="preencoded.png">    </p:cNvPr>
          <p:cNvPicPr>
            <a:picLocks noChangeAspect="1"/>
          </p:cNvPicPr>
          <p:nvPr/>
        </p:nvPicPr>
        <p:blipFill>
          <a:blip r:embed="rId3"/>
          <a:stretch>
            <a:fillRect/>
          </a:stretch>
        </p:blipFill>
        <p:spPr>
          <a:xfrm>
            <a:off x="605333" y="2617013"/>
            <a:ext cx="252374" cy="252374"/>
          </a:xfrm>
          <a:prstGeom prst="rect">
            <a:avLst/>
          </a:prstGeom>
        </p:spPr>
      </p:pic>
      <p:sp>
        <p:nvSpPr>
          <p:cNvPr id="13" name="Text 130"/>
          <p:cNvSpPr txBox="1"/>
          <p:nvPr/>
        </p:nvSpPr>
        <p:spPr>
          <a:xfrm>
            <a:off x="1188720" y="2450592"/>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Alerts</a:t>
            </a:r>
            <a:endParaRPr lang="en-US" sz="1600" dirty="0"/>
          </a:p>
        </p:txBody>
      </p:sp>
      <p:sp>
        <p:nvSpPr>
          <p:cNvPr id="14" name="Text 131"/>
          <p:cNvSpPr txBox="1"/>
          <p:nvPr/>
        </p:nvSpPr>
        <p:spPr>
          <a:xfrm>
            <a:off x="1188720" y="2743200"/>
            <a:ext cx="2194560" cy="457200"/>
          </a:xfrm>
          <a:prstGeom prst="rect">
            <a:avLst/>
          </a:prstGeom>
          <a:noFill/>
          <a:ln/>
        </p:spPr>
        <p:txBody>
          <a:bodyPr wrap="square" lIns="0" tIns="0" rIns="0" bIns="0" rtlCol="0" anchor="t"/>
          <a:lstStyle/>
          <a:p>
            <a:pPr indent="0" marL="0">
              <a:buNone/>
            </a:pPr>
            <a:r>
              <a:rPr lang="en-US" sz="1400" dirty="0">
                <a:solidFill>
                  <a:schemeClr val="accent4"/>
                </a:solidFill>
              </a:rPr>
              <a:t>Low stock and notifications</a:t>
            </a:r>
            <a:endParaRPr lang="en-US" sz="1400" dirty="0"/>
          </a:p>
        </p:txBody>
      </p:sp>
      <p:sp>
        <p:nvSpPr>
          <p:cNvPr id="15" name="Badge 132"/>
          <p:cNvSpPr/>
          <p:nvPr/>
        </p:nvSpPr>
        <p:spPr>
          <a:xfrm>
            <a:off x="457200" y="3520440"/>
            <a:ext cx="548640" cy="548640"/>
          </a:xfrm>
          <a:prstGeom prst="ellipse">
            <a:avLst/>
          </a:prstGeom>
          <a:solidFill>
            <a:schemeClr val="accent1"/>
          </a:solidFill>
          <a:ln w="12700">
            <a:solidFill>
              <a:schemeClr val="accent1"/>
            </a:solidFill>
            <a:prstDash val="solid"/>
          </a:ln>
        </p:spPr>
      </p:sp>
      <p:pic>
        <p:nvPicPr>
          <p:cNvPr id="16" name="Icon 133" descr="preencoded.png">    </p:cNvPr>
          <p:cNvPicPr>
            <a:picLocks noChangeAspect="1"/>
          </p:cNvPicPr>
          <p:nvPr/>
        </p:nvPicPr>
        <p:blipFill>
          <a:blip r:embed="rId4"/>
          <a:stretch>
            <a:fillRect/>
          </a:stretch>
        </p:blipFill>
        <p:spPr>
          <a:xfrm>
            <a:off x="605333" y="3668573"/>
            <a:ext cx="252374" cy="252374"/>
          </a:xfrm>
          <a:prstGeom prst="rect">
            <a:avLst/>
          </a:prstGeom>
        </p:spPr>
      </p:pic>
      <p:sp>
        <p:nvSpPr>
          <p:cNvPr id="17" name="Text 134"/>
          <p:cNvSpPr txBox="1"/>
          <p:nvPr/>
        </p:nvSpPr>
        <p:spPr>
          <a:xfrm>
            <a:off x="1188720" y="3502152"/>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Live</a:t>
            </a:r>
            <a:endParaRPr lang="en-US" sz="1600" dirty="0"/>
          </a:p>
        </p:txBody>
      </p:sp>
      <p:sp>
        <p:nvSpPr>
          <p:cNvPr id="18" name="Text 135"/>
          <p:cNvSpPr txBox="1"/>
          <p:nvPr/>
        </p:nvSpPr>
        <p:spPr>
          <a:xfrm>
            <a:off x="1188720" y="3794760"/>
            <a:ext cx="2194560" cy="457200"/>
          </a:xfrm>
          <a:prstGeom prst="rect">
            <a:avLst/>
          </a:prstGeom>
          <a:noFill/>
          <a:ln/>
        </p:spPr>
        <p:txBody>
          <a:bodyPr wrap="square" lIns="0" tIns="0" rIns="0" bIns="0" rtlCol="0" anchor="t"/>
          <a:lstStyle/>
          <a:p>
            <a:pPr indent="0" marL="0">
              <a:buNone/>
            </a:pPr>
            <a:r>
              <a:rPr lang="en-US" sz="1400" dirty="0">
                <a:solidFill>
                  <a:schemeClr val="accent4"/>
                </a:solidFill>
              </a:rPr>
              <a:t>Updates at every station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Check in, then record the visit</a:t>
            </a:r>
            <a:endParaRPr lang="en-US" sz="3200" dirty="0"/>
          </a:p>
        </p:txBody>
      </p:sp>
      <p:sp>
        <p:nvSpPr>
          <p:cNvPr id="3" name="Eyebrow 136"/>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SYSTEM</a:t>
            </a:r>
            <a:endParaRPr lang="en-US" sz="1100" dirty="0"/>
          </a:p>
        </p:txBody>
      </p:sp>
      <p:sp>
        <p:nvSpPr>
          <p:cNvPr id="5" name="Frame 137"/>
          <p:cNvSpPr/>
          <p:nvPr/>
        </p:nvSpPr>
        <p:spPr>
          <a:xfrm>
            <a:off x="457200" y="1280160"/>
            <a:ext cx="3977640" cy="2486025"/>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6" name="Screenshot 138" descr="C:\Users\sean\AppData\Local\Temp\claude\C--Users-sean-Documents-Github-Repos-Final-Project-Software-Engineering\3d01b1ba-a96f-491d-9e9e-65c71a7b631d\scratchpad\pitch\ppt\media\image-5-1.png">    </p:cNvPr>
          <p:cNvPicPr>
            <a:picLocks noChangeAspect="1"/>
          </p:cNvPicPr>
          <p:nvPr/>
        </p:nvPicPr>
        <p:blipFill>
          <a:blip r:embed="rId1"/>
          <a:stretch>
            <a:fillRect/>
          </a:stretch>
        </p:blipFill>
        <p:spPr>
          <a:xfrm>
            <a:off x="457200" y="1280160"/>
            <a:ext cx="3977640" cy="2486025"/>
          </a:xfrm>
          <a:prstGeom prst="rect">
            <a:avLst/>
          </a:prstGeom>
        </p:spPr>
      </p:pic>
      <p:sp>
        <p:nvSpPr>
          <p:cNvPr id="7" name="Text 139"/>
          <p:cNvSpPr txBox="1"/>
          <p:nvPr/>
        </p:nvSpPr>
        <p:spPr>
          <a:xfrm>
            <a:off x="457200" y="3949065"/>
            <a:ext cx="3977640" cy="320040"/>
          </a:xfrm>
          <a:prstGeom prst="rect">
            <a:avLst/>
          </a:prstGeom>
          <a:noFill/>
          <a:ln/>
        </p:spPr>
        <p:txBody>
          <a:bodyPr wrap="square" lIns="0" tIns="0" rIns="0" bIns="0" rtlCol="0" anchor="ctr"/>
          <a:lstStyle/>
          <a:p>
            <a:pPr algn="ctr" indent="0" marL="0">
              <a:buNone/>
            </a:pPr>
            <a:r>
              <a:rPr lang="en-US" sz="1600" b="1" dirty="0">
                <a:solidFill>
                  <a:schemeClr val="tx1"/>
                </a:solidFill>
              </a:rPr>
              <a:t>Check in in a few taps</a:t>
            </a:r>
            <a:endParaRPr lang="en-US" sz="1600" dirty="0"/>
          </a:p>
        </p:txBody>
      </p:sp>
      <p:sp>
        <p:nvSpPr>
          <p:cNvPr id="8" name="Frame 140"/>
          <p:cNvSpPr/>
          <p:nvPr/>
        </p:nvSpPr>
        <p:spPr>
          <a:xfrm>
            <a:off x="4709160" y="1280160"/>
            <a:ext cx="3977640" cy="2486025"/>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9" name="Screenshot 141" descr="C:\Users\sean\AppData\Local\Temp\claude\C--Users-sean-Documents-Github-Repos-Final-Project-Software-Engineering\3d01b1ba-a96f-491d-9e9e-65c71a7b631d\scratchpad\pitch\ppt\media\image-6-4.png">    </p:cNvPr>
          <p:cNvPicPr>
            <a:picLocks noChangeAspect="1"/>
          </p:cNvPicPr>
          <p:nvPr/>
        </p:nvPicPr>
        <p:blipFill>
          <a:blip r:embed="rId2"/>
          <a:stretch>
            <a:fillRect/>
          </a:stretch>
        </p:blipFill>
        <p:spPr>
          <a:xfrm>
            <a:off x="4709160" y="1280160"/>
            <a:ext cx="3977640" cy="2486025"/>
          </a:xfrm>
          <a:prstGeom prst="rect">
            <a:avLst/>
          </a:prstGeom>
        </p:spPr>
      </p:pic>
      <p:sp>
        <p:nvSpPr>
          <p:cNvPr id="10" name="Text 142"/>
          <p:cNvSpPr txBox="1"/>
          <p:nvPr/>
        </p:nvSpPr>
        <p:spPr>
          <a:xfrm>
            <a:off x="4709160" y="3949065"/>
            <a:ext cx="3977640" cy="320040"/>
          </a:xfrm>
          <a:prstGeom prst="rect">
            <a:avLst/>
          </a:prstGeom>
          <a:noFill/>
          <a:ln/>
        </p:spPr>
        <p:txBody>
          <a:bodyPr wrap="square" lIns="0" tIns="0" rIns="0" bIns="0" rtlCol="0" anchor="ctr"/>
          <a:lstStyle/>
          <a:p>
            <a:pPr algn="ctr" indent="0" marL="0">
              <a:buNone/>
            </a:pPr>
            <a:r>
              <a:rPr lang="en-US" sz="1600" b="1" dirty="0">
                <a:solidFill>
                  <a:schemeClr val="tx1"/>
                </a:solidFill>
              </a:rPr>
              <a:t>Every visit, seen by nurse and doctor</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Each patient's record in one place</a:t>
            </a:r>
            <a:endParaRPr lang="en-US" sz="3200" dirty="0"/>
          </a:p>
        </p:txBody>
      </p:sp>
      <p:sp>
        <p:nvSpPr>
          <p:cNvPr id="3" name="Eyebrow 143"/>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SYSTEM</a:t>
            </a:r>
            <a:endParaRPr lang="en-US" sz="1100" dirty="0"/>
          </a:p>
        </p:txBody>
      </p:sp>
      <p:sp>
        <p:nvSpPr>
          <p:cNvPr id="5" name="Frame 144"/>
          <p:cNvSpPr/>
          <p:nvPr/>
        </p:nvSpPr>
        <p:spPr>
          <a:xfrm>
            <a:off x="457200" y="1280160"/>
            <a:ext cx="5120640" cy="3200400"/>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6" name="Screenshot 145" descr="C:\Users\sean\AppData\Local\Temp\claude\C--Users-sean-Documents-Github-Repos-Final-Project-Software-Engineering\3d01b1ba-a96f-491d-9e9e-65c71a7b631d\scratchpad\pitch\ppt\media\image-7-1.png">    </p:cNvPr>
          <p:cNvPicPr>
            <a:picLocks noChangeAspect="1"/>
          </p:cNvPicPr>
          <p:nvPr/>
        </p:nvPicPr>
        <p:blipFill>
          <a:blip r:embed="rId1"/>
          <a:stretch>
            <a:fillRect/>
          </a:stretch>
        </p:blipFill>
        <p:spPr>
          <a:xfrm>
            <a:off x="457200" y="1280160"/>
            <a:ext cx="5120640" cy="3200400"/>
          </a:xfrm>
          <a:prstGeom prst="rect">
            <a:avLst/>
          </a:prstGeom>
        </p:spPr>
      </p:pic>
      <p:sp>
        <p:nvSpPr>
          <p:cNvPr id="7" name="Badge 146"/>
          <p:cNvSpPr/>
          <p:nvPr/>
        </p:nvSpPr>
        <p:spPr>
          <a:xfrm>
            <a:off x="5943600" y="1417320"/>
            <a:ext cx="548640" cy="548640"/>
          </a:xfrm>
          <a:prstGeom prst="ellipse">
            <a:avLst/>
          </a:prstGeom>
          <a:solidFill>
            <a:schemeClr val="accent1"/>
          </a:solidFill>
          <a:ln w="12700">
            <a:solidFill>
              <a:schemeClr val="accent1"/>
            </a:solidFill>
            <a:prstDash val="solid"/>
          </a:ln>
        </p:spPr>
      </p:sp>
      <p:pic>
        <p:nvPicPr>
          <p:cNvPr id="8" name="Icon 147" descr="preencoded.png">    </p:cNvPr>
          <p:cNvPicPr>
            <a:picLocks noChangeAspect="1"/>
          </p:cNvPicPr>
          <p:nvPr/>
        </p:nvPicPr>
        <p:blipFill>
          <a:blip r:embed="rId2"/>
          <a:stretch>
            <a:fillRect/>
          </a:stretch>
        </p:blipFill>
        <p:spPr>
          <a:xfrm>
            <a:off x="6091733" y="1565453"/>
            <a:ext cx="252374" cy="252374"/>
          </a:xfrm>
          <a:prstGeom prst="rect">
            <a:avLst/>
          </a:prstGeom>
        </p:spPr>
      </p:pic>
      <p:sp>
        <p:nvSpPr>
          <p:cNvPr id="9" name="Text 148"/>
          <p:cNvSpPr txBox="1"/>
          <p:nvPr/>
        </p:nvSpPr>
        <p:spPr>
          <a:xfrm>
            <a:off x="6675120" y="1399032"/>
            <a:ext cx="2011680" cy="292608"/>
          </a:xfrm>
          <a:prstGeom prst="rect">
            <a:avLst/>
          </a:prstGeom>
          <a:noFill/>
          <a:ln/>
        </p:spPr>
        <p:txBody>
          <a:bodyPr wrap="square" lIns="0" tIns="0" rIns="0" bIns="0" rtlCol="0" anchor="ctr"/>
          <a:lstStyle/>
          <a:p>
            <a:pPr indent="0" marL="0">
              <a:buNone/>
            </a:pPr>
            <a:r>
              <a:rPr lang="en-US" sz="1600" b="1" dirty="0">
                <a:solidFill>
                  <a:schemeClr val="tx1"/>
                </a:solidFill>
              </a:rPr>
              <a:t>Alerts first</a:t>
            </a:r>
            <a:endParaRPr lang="en-US" sz="1600" dirty="0"/>
          </a:p>
        </p:txBody>
      </p:sp>
      <p:sp>
        <p:nvSpPr>
          <p:cNvPr id="10" name="Text 149"/>
          <p:cNvSpPr txBox="1"/>
          <p:nvPr/>
        </p:nvSpPr>
        <p:spPr>
          <a:xfrm>
            <a:off x="6675120" y="1691640"/>
            <a:ext cx="2011680" cy="457200"/>
          </a:xfrm>
          <a:prstGeom prst="rect">
            <a:avLst/>
          </a:prstGeom>
          <a:noFill/>
          <a:ln/>
        </p:spPr>
        <p:txBody>
          <a:bodyPr wrap="square" lIns="0" tIns="0" rIns="0" bIns="0" rtlCol="0" anchor="t"/>
          <a:lstStyle/>
          <a:p>
            <a:pPr indent="0" marL="0">
              <a:buNone/>
            </a:pPr>
            <a:r>
              <a:rPr lang="en-US" sz="1400" dirty="0">
                <a:solidFill>
                  <a:schemeClr val="accent4"/>
                </a:solidFill>
              </a:rPr>
              <a:t>Allergies and restrictions</a:t>
            </a:r>
            <a:endParaRPr lang="en-US" sz="1400" dirty="0"/>
          </a:p>
        </p:txBody>
      </p:sp>
      <p:sp>
        <p:nvSpPr>
          <p:cNvPr id="11" name="Badge 150"/>
          <p:cNvSpPr/>
          <p:nvPr/>
        </p:nvSpPr>
        <p:spPr>
          <a:xfrm>
            <a:off x="5943600" y="2468880"/>
            <a:ext cx="548640" cy="548640"/>
          </a:xfrm>
          <a:prstGeom prst="ellipse">
            <a:avLst/>
          </a:prstGeom>
          <a:solidFill>
            <a:schemeClr val="accent1"/>
          </a:solidFill>
          <a:ln w="12700">
            <a:solidFill>
              <a:schemeClr val="accent1"/>
            </a:solidFill>
            <a:prstDash val="solid"/>
          </a:ln>
        </p:spPr>
      </p:sp>
      <p:pic>
        <p:nvPicPr>
          <p:cNvPr id="12" name="Icon 151" descr="preencoded.png">    </p:cNvPr>
          <p:cNvPicPr>
            <a:picLocks noChangeAspect="1"/>
          </p:cNvPicPr>
          <p:nvPr/>
        </p:nvPicPr>
        <p:blipFill>
          <a:blip r:embed="rId3"/>
          <a:stretch>
            <a:fillRect/>
          </a:stretch>
        </p:blipFill>
        <p:spPr>
          <a:xfrm>
            <a:off x="6091733" y="2617013"/>
            <a:ext cx="252374" cy="252374"/>
          </a:xfrm>
          <a:prstGeom prst="rect">
            <a:avLst/>
          </a:prstGeom>
        </p:spPr>
      </p:pic>
      <p:sp>
        <p:nvSpPr>
          <p:cNvPr id="13" name="Text 152"/>
          <p:cNvSpPr txBox="1"/>
          <p:nvPr/>
        </p:nvSpPr>
        <p:spPr>
          <a:xfrm>
            <a:off x="6675120" y="2450592"/>
            <a:ext cx="2011680" cy="292608"/>
          </a:xfrm>
          <a:prstGeom prst="rect">
            <a:avLst/>
          </a:prstGeom>
          <a:noFill/>
          <a:ln/>
        </p:spPr>
        <p:txBody>
          <a:bodyPr wrap="square" lIns="0" tIns="0" rIns="0" bIns="0" rtlCol="0" anchor="ctr"/>
          <a:lstStyle/>
          <a:p>
            <a:pPr indent="0" marL="0">
              <a:buNone/>
            </a:pPr>
            <a:r>
              <a:rPr lang="en-US" sz="1600" b="1" dirty="0">
                <a:solidFill>
                  <a:schemeClr val="tx1"/>
                </a:solidFill>
              </a:rPr>
              <a:t>Full history</a:t>
            </a:r>
            <a:endParaRPr lang="en-US" sz="1600" dirty="0"/>
          </a:p>
        </p:txBody>
      </p:sp>
      <p:sp>
        <p:nvSpPr>
          <p:cNvPr id="14" name="Text 153"/>
          <p:cNvSpPr txBox="1"/>
          <p:nvPr/>
        </p:nvSpPr>
        <p:spPr>
          <a:xfrm>
            <a:off x="6675120" y="2743200"/>
            <a:ext cx="2011680" cy="457200"/>
          </a:xfrm>
          <a:prstGeom prst="rect">
            <a:avLst/>
          </a:prstGeom>
          <a:noFill/>
          <a:ln/>
        </p:spPr>
        <p:txBody>
          <a:bodyPr wrap="square" lIns="0" tIns="0" rIns="0" bIns="0" rtlCol="0" anchor="t"/>
          <a:lstStyle/>
          <a:p>
            <a:pPr indent="0" marL="0">
              <a:buNone/>
            </a:pPr>
            <a:r>
              <a:rPr lang="en-US" sz="1400" dirty="0">
                <a:solidFill>
                  <a:schemeClr val="accent4"/>
                </a:solidFill>
              </a:rPr>
              <a:t>Every visit, newest first</a:t>
            </a:r>
            <a:endParaRPr lang="en-US" sz="1400" dirty="0"/>
          </a:p>
        </p:txBody>
      </p:sp>
      <p:sp>
        <p:nvSpPr>
          <p:cNvPr id="15" name="Badge 154"/>
          <p:cNvSpPr/>
          <p:nvPr/>
        </p:nvSpPr>
        <p:spPr>
          <a:xfrm>
            <a:off x="5943600" y="3520440"/>
            <a:ext cx="548640" cy="548640"/>
          </a:xfrm>
          <a:prstGeom prst="ellipse">
            <a:avLst/>
          </a:prstGeom>
          <a:solidFill>
            <a:schemeClr val="accent1"/>
          </a:solidFill>
          <a:ln w="12700">
            <a:solidFill>
              <a:schemeClr val="accent1"/>
            </a:solidFill>
            <a:prstDash val="solid"/>
          </a:ln>
        </p:spPr>
      </p:sp>
      <p:pic>
        <p:nvPicPr>
          <p:cNvPr id="16" name="Icon 155" descr="preencoded.png">    </p:cNvPr>
          <p:cNvPicPr>
            <a:picLocks noChangeAspect="1"/>
          </p:cNvPicPr>
          <p:nvPr/>
        </p:nvPicPr>
        <p:blipFill>
          <a:blip r:embed="rId4"/>
          <a:stretch>
            <a:fillRect/>
          </a:stretch>
        </p:blipFill>
        <p:spPr>
          <a:xfrm>
            <a:off x="6091733" y="3668573"/>
            <a:ext cx="252374" cy="252374"/>
          </a:xfrm>
          <a:prstGeom prst="rect">
            <a:avLst/>
          </a:prstGeom>
        </p:spPr>
      </p:pic>
      <p:sp>
        <p:nvSpPr>
          <p:cNvPr id="17" name="Text 156"/>
          <p:cNvSpPr txBox="1"/>
          <p:nvPr/>
        </p:nvSpPr>
        <p:spPr>
          <a:xfrm>
            <a:off x="6675120" y="3502152"/>
            <a:ext cx="2011680" cy="292608"/>
          </a:xfrm>
          <a:prstGeom prst="rect">
            <a:avLst/>
          </a:prstGeom>
          <a:noFill/>
          <a:ln/>
        </p:spPr>
        <p:txBody>
          <a:bodyPr wrap="square" lIns="0" tIns="0" rIns="0" bIns="0" rtlCol="0" anchor="ctr"/>
          <a:lstStyle/>
          <a:p>
            <a:pPr indent="0" marL="0">
              <a:buNone/>
            </a:pPr>
            <a:r>
              <a:rPr lang="en-US" sz="1600" b="1" dirty="0">
                <a:solidFill>
                  <a:schemeClr val="tx1"/>
                </a:solidFill>
              </a:rPr>
              <a:t>Attachments</a:t>
            </a:r>
            <a:endParaRPr lang="en-US" sz="1600" dirty="0"/>
          </a:p>
        </p:txBody>
      </p:sp>
      <p:sp>
        <p:nvSpPr>
          <p:cNvPr id="18" name="Text 157"/>
          <p:cNvSpPr txBox="1"/>
          <p:nvPr/>
        </p:nvSpPr>
        <p:spPr>
          <a:xfrm>
            <a:off x="6675120" y="3794760"/>
            <a:ext cx="2011680" cy="457200"/>
          </a:xfrm>
          <a:prstGeom prst="rect">
            <a:avLst/>
          </a:prstGeom>
          <a:noFill/>
          <a:ln/>
        </p:spPr>
        <p:txBody>
          <a:bodyPr wrap="square" lIns="0" tIns="0" rIns="0" bIns="0" rtlCol="0" anchor="t"/>
          <a:lstStyle/>
          <a:p>
            <a:pPr indent="0" marL="0">
              <a:buNone/>
            </a:pPr>
            <a:r>
              <a:rPr lang="en-US" sz="1400" dirty="0">
                <a:solidFill>
                  <a:schemeClr val="accent4"/>
                </a:solidFill>
              </a:rPr>
              <a:t>Such as lab results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Appointments and medicine stock</a:t>
            </a:r>
            <a:endParaRPr lang="en-US" sz="3200" dirty="0"/>
          </a:p>
        </p:txBody>
      </p:sp>
      <p:sp>
        <p:nvSpPr>
          <p:cNvPr id="3" name="Eyebrow 158"/>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SYSTEM</a:t>
            </a:r>
            <a:endParaRPr lang="en-US" sz="1100" dirty="0"/>
          </a:p>
        </p:txBody>
      </p:sp>
      <p:sp>
        <p:nvSpPr>
          <p:cNvPr id="5" name="Frame 159"/>
          <p:cNvSpPr/>
          <p:nvPr/>
        </p:nvSpPr>
        <p:spPr>
          <a:xfrm>
            <a:off x="457200" y="1280160"/>
            <a:ext cx="3977640" cy="2486025"/>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6" name="Screenshot 160" descr="C:\Users\sean\AppData\Local\Temp\claude\C--Users-sean-Documents-Github-Repos-Final-Project-Software-Engineering\3d01b1ba-a96f-491d-9e9e-65c71a7b631d\scratchpad\pitch\ppt\media\image-8-4.png">    </p:cNvPr>
          <p:cNvPicPr>
            <a:picLocks noChangeAspect="1"/>
          </p:cNvPicPr>
          <p:nvPr/>
        </p:nvPicPr>
        <p:blipFill>
          <a:blip r:embed="rId1"/>
          <a:stretch>
            <a:fillRect/>
          </a:stretch>
        </p:blipFill>
        <p:spPr>
          <a:xfrm>
            <a:off x="457200" y="1280160"/>
            <a:ext cx="3977640" cy="2486025"/>
          </a:xfrm>
          <a:prstGeom prst="rect">
            <a:avLst/>
          </a:prstGeom>
        </p:spPr>
      </p:pic>
      <p:sp>
        <p:nvSpPr>
          <p:cNvPr id="7" name="Text 161"/>
          <p:cNvSpPr txBox="1"/>
          <p:nvPr/>
        </p:nvSpPr>
        <p:spPr>
          <a:xfrm>
            <a:off x="457200" y="3949065"/>
            <a:ext cx="3977640" cy="320040"/>
          </a:xfrm>
          <a:prstGeom prst="rect">
            <a:avLst/>
          </a:prstGeom>
          <a:noFill/>
          <a:ln/>
        </p:spPr>
        <p:txBody>
          <a:bodyPr wrap="square" lIns="0" tIns="0" rIns="0" bIns="0" rtlCol="0" anchor="ctr"/>
          <a:lstStyle/>
          <a:p>
            <a:pPr algn="ctr" indent="0" marL="0">
              <a:buNone/>
            </a:pPr>
            <a:r>
              <a:rPr lang="en-US" sz="1600" b="1" dirty="0">
                <a:solidFill>
                  <a:schemeClr val="tx1"/>
                </a:solidFill>
              </a:rPr>
              <a:t>Book, confirm and check in</a:t>
            </a:r>
            <a:endParaRPr lang="en-US" sz="1600" dirty="0"/>
          </a:p>
        </p:txBody>
      </p:sp>
      <p:sp>
        <p:nvSpPr>
          <p:cNvPr id="8" name="Frame 162"/>
          <p:cNvSpPr/>
          <p:nvPr/>
        </p:nvSpPr>
        <p:spPr>
          <a:xfrm>
            <a:off x="4709160" y="1280160"/>
            <a:ext cx="3977640" cy="2486025"/>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9" name="Screenshot 163" descr="C:\Users\sean\AppData\Local\Temp\claude\C--Users-sean-Documents-Github-Repos-Final-Project-Software-Engineering\3d01b1ba-a96f-491d-9e9e-65c71a7b631d\scratchpad\pitch\ppt\media\image-9-1.png">    </p:cNvPr>
          <p:cNvPicPr>
            <a:picLocks noChangeAspect="1"/>
          </p:cNvPicPr>
          <p:nvPr/>
        </p:nvPicPr>
        <p:blipFill>
          <a:blip r:embed="rId2"/>
          <a:stretch>
            <a:fillRect/>
          </a:stretch>
        </p:blipFill>
        <p:spPr>
          <a:xfrm>
            <a:off x="4709160" y="1280160"/>
            <a:ext cx="3977640" cy="2486025"/>
          </a:xfrm>
          <a:prstGeom prst="rect">
            <a:avLst/>
          </a:prstGeom>
        </p:spPr>
      </p:pic>
      <p:sp>
        <p:nvSpPr>
          <p:cNvPr id="10" name="Text 164"/>
          <p:cNvSpPr txBox="1"/>
          <p:nvPr/>
        </p:nvSpPr>
        <p:spPr>
          <a:xfrm>
            <a:off x="4709160" y="3949065"/>
            <a:ext cx="3977640" cy="320040"/>
          </a:xfrm>
          <a:prstGeom prst="rect">
            <a:avLst/>
          </a:prstGeom>
          <a:noFill/>
          <a:ln/>
        </p:spPr>
        <p:txBody>
          <a:bodyPr wrap="square" lIns="0" tIns="0" rIns="0" bIns="0" rtlCol="0" anchor="ctr"/>
          <a:lstStyle/>
          <a:p>
            <a:pPr algn="ctr" indent="0" marL="0">
              <a:buNone/>
            </a:pPr>
            <a:r>
              <a:rPr lang="en-US" sz="1600" b="1" dirty="0">
                <a:solidFill>
                  <a:schemeClr val="tx1"/>
                </a:solidFill>
              </a:rPr>
              <a:t>Stock that keeps its own count</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Clinic statistics for any period</a:t>
            </a:r>
            <a:endParaRPr lang="en-US" sz="3200" dirty="0"/>
          </a:p>
        </p:txBody>
      </p:sp>
      <p:sp>
        <p:nvSpPr>
          <p:cNvPr id="3" name="Eyebrow 165"/>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THE SYSTEM</a:t>
            </a:r>
            <a:endParaRPr lang="en-US" sz="1100" dirty="0"/>
          </a:p>
        </p:txBody>
      </p:sp>
      <p:sp>
        <p:nvSpPr>
          <p:cNvPr id="5" name="Frame 166"/>
          <p:cNvSpPr/>
          <p:nvPr/>
        </p:nvSpPr>
        <p:spPr>
          <a:xfrm>
            <a:off x="3566160" y="1280160"/>
            <a:ext cx="5120640" cy="3200400"/>
          </a:xfrm>
          <a:prstGeom prst="rect">
            <a:avLst/>
          </a:prstGeom>
          <a:solidFill>
            <a:srgbClr val="FFFFFF"/>
          </a:solidFill>
          <a:ln w="9525">
            <a:solidFill>
              <a:srgbClr val="E4E2E0"/>
            </a:solidFill>
            <a:prstDash val="solid"/>
          </a:ln>
          <a:effectLst>
            <a:outerShdw sx="100000" sy="100000" kx="0" ky="0" algn="bl" rotWithShape="0" blurRad="101600" dist="25400" dir="5400000">
              <a:srgbClr val="000000">
                <a:alpha val="14000"/>
              </a:srgbClr>
            </a:outerShdw>
          </a:effectLst>
        </p:spPr>
      </p:sp>
      <p:pic>
        <p:nvPicPr>
          <p:cNvPr id="6" name="Screenshot 167" descr="C:\Users\sean\AppData\Local\Temp\claude\C--Users-sean-Documents-Github-Repos-Final-Project-Software-Engineering\3d01b1ba-a96f-491d-9e9e-65c71a7b631d\scratchpad\pitch\ppt\media\image-10-4.png">    </p:cNvPr>
          <p:cNvPicPr>
            <a:picLocks noChangeAspect="1"/>
          </p:cNvPicPr>
          <p:nvPr/>
        </p:nvPicPr>
        <p:blipFill>
          <a:blip r:embed="rId1"/>
          <a:stretch>
            <a:fillRect/>
          </a:stretch>
        </p:blipFill>
        <p:spPr>
          <a:xfrm>
            <a:off x="3566160" y="1280160"/>
            <a:ext cx="5120640" cy="3200400"/>
          </a:xfrm>
          <a:prstGeom prst="rect">
            <a:avLst/>
          </a:prstGeom>
        </p:spPr>
      </p:pic>
      <p:sp>
        <p:nvSpPr>
          <p:cNvPr id="7" name="Badge 168"/>
          <p:cNvSpPr/>
          <p:nvPr/>
        </p:nvSpPr>
        <p:spPr>
          <a:xfrm>
            <a:off x="457200" y="1417320"/>
            <a:ext cx="548640" cy="548640"/>
          </a:xfrm>
          <a:prstGeom prst="ellipse">
            <a:avLst/>
          </a:prstGeom>
          <a:solidFill>
            <a:schemeClr val="accent1"/>
          </a:solidFill>
          <a:ln w="12700">
            <a:solidFill>
              <a:schemeClr val="accent1"/>
            </a:solidFill>
            <a:prstDash val="solid"/>
          </a:ln>
        </p:spPr>
      </p:sp>
      <p:pic>
        <p:nvPicPr>
          <p:cNvPr id="8" name="Icon 169" descr="preencoded.png">    </p:cNvPr>
          <p:cNvPicPr>
            <a:picLocks noChangeAspect="1"/>
          </p:cNvPicPr>
          <p:nvPr/>
        </p:nvPicPr>
        <p:blipFill>
          <a:blip r:embed="rId2"/>
          <a:stretch>
            <a:fillRect/>
          </a:stretch>
        </p:blipFill>
        <p:spPr>
          <a:xfrm>
            <a:off x="605333" y="1565453"/>
            <a:ext cx="252374" cy="252374"/>
          </a:xfrm>
          <a:prstGeom prst="rect">
            <a:avLst/>
          </a:prstGeom>
        </p:spPr>
      </p:pic>
      <p:sp>
        <p:nvSpPr>
          <p:cNvPr id="9" name="Text 170"/>
          <p:cNvSpPr txBox="1"/>
          <p:nvPr/>
        </p:nvSpPr>
        <p:spPr>
          <a:xfrm>
            <a:off x="1188720" y="1399032"/>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Any period</a:t>
            </a:r>
            <a:endParaRPr lang="en-US" sz="1600" dirty="0"/>
          </a:p>
        </p:txBody>
      </p:sp>
      <p:sp>
        <p:nvSpPr>
          <p:cNvPr id="10" name="Text 171"/>
          <p:cNvSpPr txBox="1"/>
          <p:nvPr/>
        </p:nvSpPr>
        <p:spPr>
          <a:xfrm>
            <a:off x="1188720" y="1691640"/>
            <a:ext cx="2194560" cy="457200"/>
          </a:xfrm>
          <a:prstGeom prst="rect">
            <a:avLst/>
          </a:prstGeom>
          <a:noFill/>
          <a:ln/>
        </p:spPr>
        <p:txBody>
          <a:bodyPr wrap="square" lIns="0" tIns="0" rIns="0" bIns="0" rtlCol="0" anchor="t"/>
          <a:lstStyle/>
          <a:p>
            <a:pPr indent="0" marL="0">
              <a:buNone/>
            </a:pPr>
            <a:r>
              <a:rPr lang="en-US" sz="1400" dirty="0">
                <a:solidFill>
                  <a:schemeClr val="accent4"/>
                </a:solidFill>
              </a:rPr>
              <a:t>Month, semester or summer term</a:t>
            </a:r>
            <a:endParaRPr lang="en-US" sz="1400" dirty="0"/>
          </a:p>
        </p:txBody>
      </p:sp>
      <p:sp>
        <p:nvSpPr>
          <p:cNvPr id="11" name="Badge 172"/>
          <p:cNvSpPr/>
          <p:nvPr/>
        </p:nvSpPr>
        <p:spPr>
          <a:xfrm>
            <a:off x="457200" y="2468880"/>
            <a:ext cx="548640" cy="548640"/>
          </a:xfrm>
          <a:prstGeom prst="ellipse">
            <a:avLst/>
          </a:prstGeom>
          <a:solidFill>
            <a:schemeClr val="accent1"/>
          </a:solidFill>
          <a:ln w="12700">
            <a:solidFill>
              <a:schemeClr val="accent1"/>
            </a:solidFill>
            <a:prstDash val="solid"/>
          </a:ln>
        </p:spPr>
      </p:sp>
      <p:pic>
        <p:nvPicPr>
          <p:cNvPr id="12" name="Icon 173" descr="preencoded.png">    </p:cNvPr>
          <p:cNvPicPr>
            <a:picLocks noChangeAspect="1"/>
          </p:cNvPicPr>
          <p:nvPr/>
        </p:nvPicPr>
        <p:blipFill>
          <a:blip r:embed="rId3"/>
          <a:stretch>
            <a:fillRect/>
          </a:stretch>
        </p:blipFill>
        <p:spPr>
          <a:xfrm>
            <a:off x="605333" y="2617013"/>
            <a:ext cx="252374" cy="252374"/>
          </a:xfrm>
          <a:prstGeom prst="rect">
            <a:avLst/>
          </a:prstGeom>
        </p:spPr>
      </p:pic>
      <p:sp>
        <p:nvSpPr>
          <p:cNvPr id="13" name="Text 174"/>
          <p:cNvSpPr txBox="1"/>
          <p:nvPr/>
        </p:nvSpPr>
        <p:spPr>
          <a:xfrm>
            <a:off x="1188720" y="2450592"/>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Charts and tables</a:t>
            </a:r>
            <a:endParaRPr lang="en-US" sz="1600" dirty="0"/>
          </a:p>
        </p:txBody>
      </p:sp>
      <p:sp>
        <p:nvSpPr>
          <p:cNvPr id="14" name="Text 175"/>
          <p:cNvSpPr txBox="1"/>
          <p:nvPr/>
        </p:nvSpPr>
        <p:spPr>
          <a:xfrm>
            <a:off x="1188720" y="2743200"/>
            <a:ext cx="2194560" cy="457200"/>
          </a:xfrm>
          <a:prstGeom prst="rect">
            <a:avLst/>
          </a:prstGeom>
          <a:noFill/>
          <a:ln/>
        </p:spPr>
        <p:txBody>
          <a:bodyPr wrap="square" lIns="0" tIns="0" rIns="0" bIns="0" rtlCol="0" anchor="t"/>
          <a:lstStyle/>
          <a:p>
            <a:pPr indent="0" marL="0">
              <a:buNone/>
            </a:pPr>
            <a:r>
              <a:rPr lang="en-US" sz="1400" dirty="0">
                <a:solidFill>
                  <a:schemeClr val="accent4"/>
                </a:solidFill>
              </a:rPr>
              <a:t>By type, department, complaint</a:t>
            </a:r>
            <a:endParaRPr lang="en-US" sz="1400" dirty="0"/>
          </a:p>
        </p:txBody>
      </p:sp>
      <p:sp>
        <p:nvSpPr>
          <p:cNvPr id="15" name="Badge 176"/>
          <p:cNvSpPr/>
          <p:nvPr/>
        </p:nvSpPr>
        <p:spPr>
          <a:xfrm>
            <a:off x="457200" y="3520440"/>
            <a:ext cx="548640" cy="548640"/>
          </a:xfrm>
          <a:prstGeom prst="ellipse">
            <a:avLst/>
          </a:prstGeom>
          <a:solidFill>
            <a:schemeClr val="accent1"/>
          </a:solidFill>
          <a:ln w="12700">
            <a:solidFill>
              <a:schemeClr val="accent1"/>
            </a:solidFill>
            <a:prstDash val="solid"/>
          </a:ln>
        </p:spPr>
      </p:sp>
      <p:pic>
        <p:nvPicPr>
          <p:cNvPr id="16" name="Icon 177" descr="preencoded.png">    </p:cNvPr>
          <p:cNvPicPr>
            <a:picLocks noChangeAspect="1"/>
          </p:cNvPicPr>
          <p:nvPr/>
        </p:nvPicPr>
        <p:blipFill>
          <a:blip r:embed="rId4"/>
          <a:stretch>
            <a:fillRect/>
          </a:stretch>
        </p:blipFill>
        <p:spPr>
          <a:xfrm>
            <a:off x="605333" y="3668573"/>
            <a:ext cx="252374" cy="252374"/>
          </a:xfrm>
          <a:prstGeom prst="rect">
            <a:avLst/>
          </a:prstGeom>
        </p:spPr>
      </p:pic>
      <p:sp>
        <p:nvSpPr>
          <p:cNvPr id="17" name="Text 178"/>
          <p:cNvSpPr txBox="1"/>
          <p:nvPr/>
        </p:nvSpPr>
        <p:spPr>
          <a:xfrm>
            <a:off x="1188720" y="3502152"/>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Download or save</a:t>
            </a:r>
            <a:endParaRPr lang="en-US" sz="1600" dirty="0"/>
          </a:p>
        </p:txBody>
      </p:sp>
      <p:sp>
        <p:nvSpPr>
          <p:cNvPr id="18" name="Text 179"/>
          <p:cNvSpPr txBox="1"/>
          <p:nvPr/>
        </p:nvSpPr>
        <p:spPr>
          <a:xfrm>
            <a:off x="1188720" y="3794760"/>
            <a:ext cx="2194560" cy="457200"/>
          </a:xfrm>
          <a:prstGeom prst="rect">
            <a:avLst/>
          </a:prstGeom>
          <a:noFill/>
          <a:ln/>
        </p:spPr>
        <p:txBody>
          <a:bodyPr wrap="square" lIns="0" tIns="0" rIns="0" bIns="0" rtlCol="0" anchor="t"/>
          <a:lstStyle/>
          <a:p>
            <a:pPr indent="0" marL="0">
              <a:buNone/>
            </a:pPr>
            <a:r>
              <a:rPr lang="en-US" sz="1400" dirty="0">
                <a:solidFill>
                  <a:schemeClr val="accent4"/>
                </a:solidFill>
              </a:rPr>
              <a:t>Opens in Excel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Built to protect patient data</a:t>
            </a:r>
            <a:endParaRPr lang="en-US" sz="3200" dirty="0"/>
          </a:p>
        </p:txBody>
      </p:sp>
      <p:sp>
        <p:nvSpPr>
          <p:cNvPr id="3" name="Eyebrow 180"/>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PRIVACY AND SECURITY</a:t>
            </a:r>
            <a:endParaRPr lang="en-US" sz="1100" dirty="0"/>
          </a:p>
        </p:txBody>
      </p:sp>
      <p:sp>
        <p:nvSpPr>
          <p:cNvPr id="5" name="Card 181"/>
          <p:cNvSpPr/>
          <p:nvPr/>
        </p:nvSpPr>
        <p:spPr>
          <a:xfrm>
            <a:off x="457200" y="1325880"/>
            <a:ext cx="1920240" cy="2468880"/>
          </a:xfrm>
          <a:prstGeom prst="roundRect">
            <a:avLst>
              <a:gd name="adj" fmla="val 3810"/>
            </a:avLst>
          </a:prstGeom>
          <a:solidFill>
            <a:schemeClr val="bg2"/>
          </a:solidFill>
          <a:ln w="12700">
            <a:solidFill>
              <a:schemeClr val="bg2"/>
            </a:solidFill>
            <a:prstDash val="solid"/>
          </a:ln>
        </p:spPr>
      </p:sp>
      <p:sp>
        <p:nvSpPr>
          <p:cNvPr id="6" name="Badge 182"/>
          <p:cNvSpPr/>
          <p:nvPr/>
        </p:nvSpPr>
        <p:spPr>
          <a:xfrm>
            <a:off x="1097280" y="1554480"/>
            <a:ext cx="640080" cy="640080"/>
          </a:xfrm>
          <a:prstGeom prst="ellipse">
            <a:avLst/>
          </a:prstGeom>
          <a:solidFill>
            <a:schemeClr val="accent1"/>
          </a:solidFill>
          <a:ln w="12700">
            <a:solidFill>
              <a:schemeClr val="accent1"/>
            </a:solidFill>
            <a:prstDash val="solid"/>
          </a:ln>
        </p:spPr>
      </p:sp>
      <p:pic>
        <p:nvPicPr>
          <p:cNvPr id="7" name="Icon 183" descr="preencoded.png">    </p:cNvPr>
          <p:cNvPicPr>
            <a:picLocks noChangeAspect="1"/>
          </p:cNvPicPr>
          <p:nvPr/>
        </p:nvPicPr>
        <p:blipFill>
          <a:blip r:embed="rId1"/>
          <a:stretch>
            <a:fillRect/>
          </a:stretch>
        </p:blipFill>
        <p:spPr>
          <a:xfrm>
            <a:off x="1270102" y="1727302"/>
            <a:ext cx="294437" cy="294437"/>
          </a:xfrm>
          <a:prstGeom prst="rect">
            <a:avLst/>
          </a:prstGeom>
        </p:spPr>
      </p:pic>
      <p:sp>
        <p:nvSpPr>
          <p:cNvPr id="8" name="Text 184"/>
          <p:cNvSpPr txBox="1"/>
          <p:nvPr/>
        </p:nvSpPr>
        <p:spPr>
          <a:xfrm>
            <a:off x="594360"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Stays in the clinic</a:t>
            </a:r>
            <a:endParaRPr lang="en-US" sz="1600" dirty="0"/>
          </a:p>
        </p:txBody>
      </p:sp>
      <p:sp>
        <p:nvSpPr>
          <p:cNvPr id="9" name="Text 185"/>
          <p:cNvSpPr txBox="1"/>
          <p:nvPr/>
        </p:nvSpPr>
        <p:spPr>
          <a:xfrm>
            <a:off x="594360" y="2926080"/>
            <a:ext cx="1645920" cy="731520"/>
          </a:xfrm>
          <a:prstGeom prst="rect">
            <a:avLst/>
          </a:prstGeom>
          <a:noFill/>
          <a:ln/>
        </p:spPr>
        <p:txBody>
          <a:bodyPr wrap="square" lIns="0" tIns="0" rIns="0" bIns="0" rtlCol="0" anchor="t"/>
          <a:lstStyle/>
          <a:p>
            <a:pPr algn="ctr" indent="0" marL="0">
              <a:buNone/>
            </a:pPr>
            <a:r>
              <a:rPr lang="en-US" sz="1400" dirty="0">
                <a:solidFill>
                  <a:schemeClr val="accent4"/>
                </a:solidFill>
              </a:rPr>
              <a:t>Runs on the clinic's own network</a:t>
            </a:r>
            <a:endParaRPr lang="en-US" sz="1400" dirty="0"/>
          </a:p>
        </p:txBody>
      </p:sp>
      <p:sp>
        <p:nvSpPr>
          <p:cNvPr id="10" name="Card 186"/>
          <p:cNvSpPr/>
          <p:nvPr/>
        </p:nvSpPr>
        <p:spPr>
          <a:xfrm>
            <a:off x="2560320" y="1325880"/>
            <a:ext cx="1920240" cy="2468880"/>
          </a:xfrm>
          <a:prstGeom prst="roundRect">
            <a:avLst>
              <a:gd name="adj" fmla="val 3810"/>
            </a:avLst>
          </a:prstGeom>
          <a:solidFill>
            <a:schemeClr val="bg2"/>
          </a:solidFill>
          <a:ln w="12700">
            <a:solidFill>
              <a:schemeClr val="bg2"/>
            </a:solidFill>
            <a:prstDash val="solid"/>
          </a:ln>
        </p:spPr>
      </p:sp>
      <p:sp>
        <p:nvSpPr>
          <p:cNvPr id="11" name="Badge 187"/>
          <p:cNvSpPr/>
          <p:nvPr/>
        </p:nvSpPr>
        <p:spPr>
          <a:xfrm>
            <a:off x="3200400" y="1554480"/>
            <a:ext cx="640080" cy="640080"/>
          </a:xfrm>
          <a:prstGeom prst="ellipse">
            <a:avLst/>
          </a:prstGeom>
          <a:solidFill>
            <a:schemeClr val="accent1"/>
          </a:solidFill>
          <a:ln w="12700">
            <a:solidFill>
              <a:schemeClr val="accent1"/>
            </a:solidFill>
            <a:prstDash val="solid"/>
          </a:ln>
        </p:spPr>
      </p:sp>
      <p:pic>
        <p:nvPicPr>
          <p:cNvPr id="12" name="Icon 188" descr="preencoded.png">    </p:cNvPr>
          <p:cNvPicPr>
            <a:picLocks noChangeAspect="1"/>
          </p:cNvPicPr>
          <p:nvPr/>
        </p:nvPicPr>
        <p:blipFill>
          <a:blip r:embed="rId2"/>
          <a:stretch>
            <a:fillRect/>
          </a:stretch>
        </p:blipFill>
        <p:spPr>
          <a:xfrm>
            <a:off x="3373222" y="1727302"/>
            <a:ext cx="294437" cy="294437"/>
          </a:xfrm>
          <a:prstGeom prst="rect">
            <a:avLst/>
          </a:prstGeom>
        </p:spPr>
      </p:pic>
      <p:sp>
        <p:nvSpPr>
          <p:cNvPr id="13" name="Text 189"/>
          <p:cNvSpPr txBox="1"/>
          <p:nvPr/>
        </p:nvSpPr>
        <p:spPr>
          <a:xfrm>
            <a:off x="2697480"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Access by role</a:t>
            </a:r>
            <a:endParaRPr lang="en-US" sz="1600" dirty="0"/>
          </a:p>
        </p:txBody>
      </p:sp>
      <p:sp>
        <p:nvSpPr>
          <p:cNvPr id="14" name="Text 190"/>
          <p:cNvSpPr txBox="1"/>
          <p:nvPr/>
        </p:nvSpPr>
        <p:spPr>
          <a:xfrm>
            <a:off x="2697480" y="2926080"/>
            <a:ext cx="1645920" cy="731520"/>
          </a:xfrm>
          <a:prstGeom prst="rect">
            <a:avLst/>
          </a:prstGeom>
          <a:noFill/>
          <a:ln/>
        </p:spPr>
        <p:txBody>
          <a:bodyPr wrap="square" lIns="0" tIns="0" rIns="0" bIns="0" rtlCol="0" anchor="t"/>
          <a:lstStyle/>
          <a:p>
            <a:pPr algn="ctr" indent="0" marL="0">
              <a:buNone/>
            </a:pPr>
            <a:r>
              <a:rPr lang="en-US" sz="1400" dirty="0">
                <a:solidFill>
                  <a:schemeClr val="accent4"/>
                </a:solidFill>
              </a:rPr>
              <a:t>Each user sees only what the work needs</a:t>
            </a:r>
            <a:endParaRPr lang="en-US" sz="1400" dirty="0"/>
          </a:p>
        </p:txBody>
      </p:sp>
      <p:sp>
        <p:nvSpPr>
          <p:cNvPr id="15" name="Card 191"/>
          <p:cNvSpPr/>
          <p:nvPr/>
        </p:nvSpPr>
        <p:spPr>
          <a:xfrm>
            <a:off x="4663440" y="1325880"/>
            <a:ext cx="1920240" cy="2468880"/>
          </a:xfrm>
          <a:prstGeom prst="roundRect">
            <a:avLst>
              <a:gd name="adj" fmla="val 3810"/>
            </a:avLst>
          </a:prstGeom>
          <a:solidFill>
            <a:schemeClr val="bg2"/>
          </a:solidFill>
          <a:ln w="12700">
            <a:solidFill>
              <a:schemeClr val="bg2"/>
            </a:solidFill>
            <a:prstDash val="solid"/>
          </a:ln>
        </p:spPr>
      </p:sp>
      <p:sp>
        <p:nvSpPr>
          <p:cNvPr id="16" name="Badge 192"/>
          <p:cNvSpPr/>
          <p:nvPr/>
        </p:nvSpPr>
        <p:spPr>
          <a:xfrm>
            <a:off x="5303520" y="1554480"/>
            <a:ext cx="640080" cy="640080"/>
          </a:xfrm>
          <a:prstGeom prst="ellipse">
            <a:avLst/>
          </a:prstGeom>
          <a:solidFill>
            <a:schemeClr val="accent1"/>
          </a:solidFill>
          <a:ln w="12700">
            <a:solidFill>
              <a:schemeClr val="accent1"/>
            </a:solidFill>
            <a:prstDash val="solid"/>
          </a:ln>
        </p:spPr>
      </p:sp>
      <p:pic>
        <p:nvPicPr>
          <p:cNvPr id="17" name="Icon 193" descr="preencoded.png">    </p:cNvPr>
          <p:cNvPicPr>
            <a:picLocks noChangeAspect="1"/>
          </p:cNvPicPr>
          <p:nvPr/>
        </p:nvPicPr>
        <p:blipFill>
          <a:blip r:embed="rId3"/>
          <a:stretch>
            <a:fillRect/>
          </a:stretch>
        </p:blipFill>
        <p:spPr>
          <a:xfrm>
            <a:off x="5476342" y="1727302"/>
            <a:ext cx="294437" cy="294437"/>
          </a:xfrm>
          <a:prstGeom prst="rect">
            <a:avLst/>
          </a:prstGeom>
        </p:spPr>
      </p:pic>
      <p:sp>
        <p:nvSpPr>
          <p:cNvPr id="18" name="Text 194"/>
          <p:cNvSpPr txBox="1"/>
          <p:nvPr/>
        </p:nvSpPr>
        <p:spPr>
          <a:xfrm>
            <a:off x="4800600"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Every view is logged</a:t>
            </a:r>
            <a:endParaRPr lang="en-US" sz="1600" dirty="0"/>
          </a:p>
        </p:txBody>
      </p:sp>
      <p:sp>
        <p:nvSpPr>
          <p:cNvPr id="19" name="Text 195"/>
          <p:cNvSpPr txBox="1"/>
          <p:nvPr/>
        </p:nvSpPr>
        <p:spPr>
          <a:xfrm>
            <a:off x="4800600" y="2926080"/>
            <a:ext cx="1645920" cy="731520"/>
          </a:xfrm>
          <a:prstGeom prst="rect">
            <a:avLst/>
          </a:prstGeom>
          <a:noFill/>
          <a:ln/>
        </p:spPr>
        <p:txBody>
          <a:bodyPr wrap="square" lIns="0" tIns="0" rIns="0" bIns="0" rtlCol="0" anchor="t"/>
          <a:lstStyle/>
          <a:p>
            <a:pPr algn="ctr" indent="0" marL="0">
              <a:buNone/>
            </a:pPr>
            <a:r>
              <a:rPr lang="en-US" sz="1400" dirty="0">
                <a:solidFill>
                  <a:schemeClr val="accent4"/>
                </a:solidFill>
              </a:rPr>
              <a:t>The audit log shows who did what</a:t>
            </a:r>
            <a:endParaRPr lang="en-US" sz="1400" dirty="0"/>
          </a:p>
        </p:txBody>
      </p:sp>
      <p:sp>
        <p:nvSpPr>
          <p:cNvPr id="20" name="Card 196"/>
          <p:cNvSpPr/>
          <p:nvPr/>
        </p:nvSpPr>
        <p:spPr>
          <a:xfrm>
            <a:off x="6766560" y="1325880"/>
            <a:ext cx="1920240" cy="2468880"/>
          </a:xfrm>
          <a:prstGeom prst="roundRect">
            <a:avLst>
              <a:gd name="adj" fmla="val 3810"/>
            </a:avLst>
          </a:prstGeom>
          <a:solidFill>
            <a:schemeClr val="bg2"/>
          </a:solidFill>
          <a:ln w="12700">
            <a:solidFill>
              <a:schemeClr val="bg2"/>
            </a:solidFill>
            <a:prstDash val="solid"/>
          </a:ln>
        </p:spPr>
      </p:sp>
      <p:sp>
        <p:nvSpPr>
          <p:cNvPr id="21" name="Badge 197"/>
          <p:cNvSpPr/>
          <p:nvPr/>
        </p:nvSpPr>
        <p:spPr>
          <a:xfrm>
            <a:off x="7406640" y="1554480"/>
            <a:ext cx="640080" cy="640080"/>
          </a:xfrm>
          <a:prstGeom prst="ellipse">
            <a:avLst/>
          </a:prstGeom>
          <a:solidFill>
            <a:schemeClr val="accent1"/>
          </a:solidFill>
          <a:ln w="12700">
            <a:solidFill>
              <a:schemeClr val="accent1"/>
            </a:solidFill>
            <a:prstDash val="solid"/>
          </a:ln>
        </p:spPr>
      </p:sp>
      <p:pic>
        <p:nvPicPr>
          <p:cNvPr id="22" name="Icon 198" descr="preencoded.png">    </p:cNvPr>
          <p:cNvPicPr>
            <a:picLocks noChangeAspect="1"/>
          </p:cNvPicPr>
          <p:nvPr/>
        </p:nvPicPr>
        <p:blipFill>
          <a:blip r:embed="rId4"/>
          <a:stretch>
            <a:fillRect/>
          </a:stretch>
        </p:blipFill>
        <p:spPr>
          <a:xfrm>
            <a:off x="7579462" y="1727302"/>
            <a:ext cx="294437" cy="294437"/>
          </a:xfrm>
          <a:prstGeom prst="rect">
            <a:avLst/>
          </a:prstGeom>
        </p:spPr>
      </p:pic>
      <p:sp>
        <p:nvSpPr>
          <p:cNvPr id="23" name="Text 199"/>
          <p:cNvSpPr txBox="1"/>
          <p:nvPr/>
        </p:nvSpPr>
        <p:spPr>
          <a:xfrm>
            <a:off x="6903720"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Automatic sign-out</a:t>
            </a:r>
            <a:endParaRPr lang="en-US" sz="1600" dirty="0"/>
          </a:p>
        </p:txBody>
      </p:sp>
      <p:sp>
        <p:nvSpPr>
          <p:cNvPr id="24" name="Text 200"/>
          <p:cNvSpPr txBox="1"/>
          <p:nvPr/>
        </p:nvSpPr>
        <p:spPr>
          <a:xfrm>
            <a:off x="6903720" y="2926080"/>
            <a:ext cx="1645920" cy="731520"/>
          </a:xfrm>
          <a:prstGeom prst="rect">
            <a:avLst/>
          </a:prstGeom>
          <a:noFill/>
          <a:ln/>
        </p:spPr>
        <p:txBody>
          <a:bodyPr wrap="square" lIns="0" tIns="0" rIns="0" bIns="0" rtlCol="0" anchor="t"/>
          <a:lstStyle/>
          <a:p>
            <a:pPr algn="ctr" indent="0" marL="0">
              <a:buNone/>
            </a:pPr>
            <a:r>
              <a:rPr lang="en-US" sz="1400" dirty="0">
                <a:solidFill>
                  <a:schemeClr val="accent4"/>
                </a:solidFill>
              </a:rPr>
              <a:t>After an hour unused</a:t>
            </a:r>
            <a:endParaRPr lang="en-US" sz="1400" dirty="0"/>
          </a:p>
        </p:txBody>
      </p:sp>
      <p:sp>
        <p:nvSpPr>
          <p:cNvPr id="25" name="Text 201"/>
          <p:cNvSpPr txBox="1"/>
          <p:nvPr/>
        </p:nvSpPr>
        <p:spPr>
          <a:xfrm>
            <a:off x="457200" y="4069080"/>
            <a:ext cx="8229600" cy="320040"/>
          </a:xfrm>
          <a:prstGeom prst="rect">
            <a:avLst/>
          </a:prstGeom>
          <a:noFill/>
          <a:ln/>
        </p:spPr>
        <p:txBody>
          <a:bodyPr wrap="square" lIns="0" tIns="0" rIns="0" bIns="0" rtlCol="0" anchor="ctr"/>
          <a:lstStyle/>
          <a:p>
            <a:pPr algn="ctr" indent="0" marL="0">
              <a:buNone/>
            </a:pPr>
            <a:r>
              <a:rPr lang="en-US" sz="1600" i="1" dirty="0">
                <a:solidFill>
                  <a:schemeClr val="accent1"/>
                </a:solidFill>
              </a:rPr>
              <a:t>In keeping with the Data Privacy Act of 2012</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How it is built</a:t>
            </a:r>
            <a:endParaRPr lang="en-US" sz="3200" dirty="0"/>
          </a:p>
        </p:txBody>
      </p:sp>
      <p:sp>
        <p:nvSpPr>
          <p:cNvPr id="3" name="Eyebrow 202"/>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IMPLEMENTATION</a:t>
            </a:r>
            <a:endParaRPr lang="en-US" sz="1100" dirty="0"/>
          </a:p>
        </p:txBody>
      </p:sp>
      <p:sp>
        <p:nvSpPr>
          <p:cNvPr id="5" name="Card 203"/>
          <p:cNvSpPr/>
          <p:nvPr/>
        </p:nvSpPr>
        <p:spPr>
          <a:xfrm>
            <a:off x="457200" y="1325880"/>
            <a:ext cx="2103120" cy="640080"/>
          </a:xfrm>
          <a:prstGeom prst="roundRect">
            <a:avLst>
              <a:gd name="adj" fmla="val 11429"/>
            </a:avLst>
          </a:prstGeom>
          <a:solidFill>
            <a:schemeClr val="bg2"/>
          </a:solidFill>
          <a:ln w="12700">
            <a:solidFill>
              <a:schemeClr val="bg2"/>
            </a:solidFill>
            <a:prstDash val="solid"/>
          </a:ln>
        </p:spPr>
      </p:sp>
      <p:pic>
        <p:nvPicPr>
          <p:cNvPr id="6" name="Icon 204" descr="preencoded.png">    </p:cNvPr>
          <p:cNvPicPr>
            <a:picLocks noChangeAspect="1"/>
          </p:cNvPicPr>
          <p:nvPr/>
        </p:nvPicPr>
        <p:blipFill>
          <a:blip r:embed="rId1"/>
          <a:stretch>
            <a:fillRect/>
          </a:stretch>
        </p:blipFill>
        <p:spPr>
          <a:xfrm>
            <a:off x="640080" y="1508760"/>
            <a:ext cx="274320" cy="274320"/>
          </a:xfrm>
          <a:prstGeom prst="rect">
            <a:avLst/>
          </a:prstGeom>
        </p:spPr>
      </p:pic>
      <p:sp>
        <p:nvSpPr>
          <p:cNvPr id="7" name="Text 205"/>
          <p:cNvSpPr txBox="1"/>
          <p:nvPr/>
        </p:nvSpPr>
        <p:spPr>
          <a:xfrm>
            <a:off x="1051560" y="1325880"/>
            <a:ext cx="1463040" cy="640080"/>
          </a:xfrm>
          <a:prstGeom prst="rect">
            <a:avLst/>
          </a:prstGeom>
          <a:noFill/>
          <a:ln/>
        </p:spPr>
        <p:txBody>
          <a:bodyPr wrap="square" lIns="0" tIns="0" rIns="0" bIns="0" rtlCol="0" anchor="ctr"/>
          <a:lstStyle/>
          <a:p>
            <a:pPr indent="0" marL="0">
              <a:buNone/>
            </a:pPr>
            <a:r>
              <a:rPr lang="en-US" sz="1500" dirty="0">
                <a:solidFill>
                  <a:schemeClr val="tx1"/>
                </a:solidFill>
              </a:rPr>
              <a:t>Front desk</a:t>
            </a:r>
            <a:endParaRPr lang="en-US" sz="1500" dirty="0"/>
          </a:p>
        </p:txBody>
      </p:sp>
      <p:sp>
        <p:nvSpPr>
          <p:cNvPr id="8" name="Card 206"/>
          <p:cNvSpPr/>
          <p:nvPr/>
        </p:nvSpPr>
        <p:spPr>
          <a:xfrm>
            <a:off x="457200" y="2103120"/>
            <a:ext cx="2103120" cy="640080"/>
          </a:xfrm>
          <a:prstGeom prst="roundRect">
            <a:avLst>
              <a:gd name="adj" fmla="val 11429"/>
            </a:avLst>
          </a:prstGeom>
          <a:solidFill>
            <a:schemeClr val="bg2"/>
          </a:solidFill>
          <a:ln w="12700">
            <a:solidFill>
              <a:schemeClr val="bg2"/>
            </a:solidFill>
            <a:prstDash val="solid"/>
          </a:ln>
        </p:spPr>
      </p:sp>
      <p:pic>
        <p:nvPicPr>
          <p:cNvPr id="9" name="Icon 207" descr="preencoded.png">    </p:cNvPr>
          <p:cNvPicPr>
            <a:picLocks noChangeAspect="1"/>
          </p:cNvPicPr>
          <p:nvPr/>
        </p:nvPicPr>
        <p:blipFill>
          <a:blip r:embed="rId2"/>
          <a:stretch>
            <a:fillRect/>
          </a:stretch>
        </p:blipFill>
        <p:spPr>
          <a:xfrm>
            <a:off x="640080" y="2286000"/>
            <a:ext cx="274320" cy="274320"/>
          </a:xfrm>
          <a:prstGeom prst="rect">
            <a:avLst/>
          </a:prstGeom>
        </p:spPr>
      </p:pic>
      <p:sp>
        <p:nvSpPr>
          <p:cNvPr id="10" name="Text 208"/>
          <p:cNvSpPr txBox="1"/>
          <p:nvPr/>
        </p:nvSpPr>
        <p:spPr>
          <a:xfrm>
            <a:off x="1051560" y="2103120"/>
            <a:ext cx="1463040" cy="640080"/>
          </a:xfrm>
          <a:prstGeom prst="rect">
            <a:avLst/>
          </a:prstGeom>
          <a:noFill/>
          <a:ln/>
        </p:spPr>
        <p:txBody>
          <a:bodyPr wrap="square" lIns="0" tIns="0" rIns="0" bIns="0" rtlCol="0" anchor="ctr"/>
          <a:lstStyle/>
          <a:p>
            <a:pPr indent="0" marL="0">
              <a:buNone/>
            </a:pPr>
            <a:r>
              <a:rPr lang="en-US" sz="1500" dirty="0">
                <a:solidFill>
                  <a:schemeClr val="tx1"/>
                </a:solidFill>
              </a:rPr>
              <a:t>Nurse</a:t>
            </a:r>
            <a:endParaRPr lang="en-US" sz="1500" dirty="0"/>
          </a:p>
        </p:txBody>
      </p:sp>
      <p:sp>
        <p:nvSpPr>
          <p:cNvPr id="11" name="Card 209"/>
          <p:cNvSpPr/>
          <p:nvPr/>
        </p:nvSpPr>
        <p:spPr>
          <a:xfrm>
            <a:off x="457200" y="2880360"/>
            <a:ext cx="2103120" cy="640080"/>
          </a:xfrm>
          <a:prstGeom prst="roundRect">
            <a:avLst>
              <a:gd name="adj" fmla="val 11429"/>
            </a:avLst>
          </a:prstGeom>
          <a:solidFill>
            <a:schemeClr val="bg2"/>
          </a:solidFill>
          <a:ln w="12700">
            <a:solidFill>
              <a:schemeClr val="bg2"/>
            </a:solidFill>
            <a:prstDash val="solid"/>
          </a:ln>
        </p:spPr>
      </p:sp>
      <p:pic>
        <p:nvPicPr>
          <p:cNvPr id="12" name="Icon 210" descr="preencoded.png">    </p:cNvPr>
          <p:cNvPicPr>
            <a:picLocks noChangeAspect="1"/>
          </p:cNvPicPr>
          <p:nvPr/>
        </p:nvPicPr>
        <p:blipFill>
          <a:blip r:embed="rId3"/>
          <a:stretch>
            <a:fillRect/>
          </a:stretch>
        </p:blipFill>
        <p:spPr>
          <a:xfrm>
            <a:off x="640080" y="3063240"/>
            <a:ext cx="274320" cy="274320"/>
          </a:xfrm>
          <a:prstGeom prst="rect">
            <a:avLst/>
          </a:prstGeom>
        </p:spPr>
      </p:pic>
      <p:sp>
        <p:nvSpPr>
          <p:cNvPr id="13" name="Text 211"/>
          <p:cNvSpPr txBox="1"/>
          <p:nvPr/>
        </p:nvSpPr>
        <p:spPr>
          <a:xfrm>
            <a:off x="1051560" y="2880360"/>
            <a:ext cx="1463040" cy="640080"/>
          </a:xfrm>
          <a:prstGeom prst="rect">
            <a:avLst/>
          </a:prstGeom>
          <a:noFill/>
          <a:ln/>
        </p:spPr>
        <p:txBody>
          <a:bodyPr wrap="square" lIns="0" tIns="0" rIns="0" bIns="0" rtlCol="0" anchor="ctr"/>
          <a:lstStyle/>
          <a:p>
            <a:pPr indent="0" marL="0">
              <a:buNone/>
            </a:pPr>
            <a:r>
              <a:rPr lang="en-US" sz="1500" dirty="0">
                <a:solidFill>
                  <a:schemeClr val="tx1"/>
                </a:solidFill>
              </a:rPr>
              <a:t>Doctor</a:t>
            </a:r>
            <a:endParaRPr lang="en-US" sz="1500" dirty="0"/>
          </a:p>
        </p:txBody>
      </p:sp>
      <p:pic>
        <p:nvPicPr>
          <p:cNvPr id="14" name="Arrow 212" descr="preencoded.png">    </p:cNvPr>
          <p:cNvPicPr>
            <a:picLocks noChangeAspect="1"/>
          </p:cNvPicPr>
          <p:nvPr/>
        </p:nvPicPr>
        <p:blipFill>
          <a:blip r:embed="rId4"/>
          <a:stretch>
            <a:fillRect/>
          </a:stretch>
        </p:blipFill>
        <p:spPr>
          <a:xfrm>
            <a:off x="2743200" y="2194560"/>
            <a:ext cx="457200" cy="457200"/>
          </a:xfrm>
          <a:prstGeom prst="rect">
            <a:avLst/>
          </a:prstGeom>
        </p:spPr>
      </p:pic>
      <p:sp>
        <p:nvSpPr>
          <p:cNvPr id="15" name="Card 213"/>
          <p:cNvSpPr/>
          <p:nvPr/>
        </p:nvSpPr>
        <p:spPr>
          <a:xfrm>
            <a:off x="3383280" y="1325880"/>
            <a:ext cx="2377440" cy="2194560"/>
          </a:xfrm>
          <a:prstGeom prst="roundRect">
            <a:avLst>
              <a:gd name="adj" fmla="val 3333"/>
            </a:avLst>
          </a:prstGeom>
          <a:solidFill>
            <a:schemeClr val="accent1"/>
          </a:solidFill>
          <a:ln w="12700">
            <a:solidFill>
              <a:schemeClr val="accent1"/>
            </a:solidFill>
            <a:prstDash val="solid"/>
          </a:ln>
        </p:spPr>
      </p:sp>
      <p:pic>
        <p:nvPicPr>
          <p:cNvPr id="16" name="Icon 214" descr="preencoded.png">    </p:cNvPr>
          <p:cNvPicPr>
            <a:picLocks noChangeAspect="1"/>
          </p:cNvPicPr>
          <p:nvPr/>
        </p:nvPicPr>
        <p:blipFill>
          <a:blip r:embed="rId5"/>
          <a:stretch>
            <a:fillRect/>
          </a:stretch>
        </p:blipFill>
        <p:spPr>
          <a:xfrm>
            <a:off x="4343400" y="1645920"/>
            <a:ext cx="457200" cy="457200"/>
          </a:xfrm>
          <a:prstGeom prst="rect">
            <a:avLst/>
          </a:prstGeom>
        </p:spPr>
      </p:pic>
      <p:sp>
        <p:nvSpPr>
          <p:cNvPr id="17" name="Text 215"/>
          <p:cNvSpPr txBox="1"/>
          <p:nvPr/>
        </p:nvSpPr>
        <p:spPr>
          <a:xfrm>
            <a:off x="3383280" y="2240280"/>
            <a:ext cx="2377440" cy="365760"/>
          </a:xfrm>
          <a:prstGeom prst="rect">
            <a:avLst/>
          </a:prstGeom>
          <a:noFill/>
          <a:ln/>
        </p:spPr>
        <p:txBody>
          <a:bodyPr wrap="square" lIns="0" tIns="0" rIns="0" bIns="0" rtlCol="0" anchor="ctr"/>
          <a:lstStyle/>
          <a:p>
            <a:pPr algn="ctr" indent="0" marL="0">
              <a:buNone/>
            </a:pPr>
            <a:r>
              <a:rPr lang="en-US" sz="1800" b="1" dirty="0">
                <a:solidFill>
                  <a:schemeClr val="bg1"/>
                </a:solidFill>
              </a:rPr>
              <a:t>Clinic server</a:t>
            </a:r>
            <a:endParaRPr lang="en-US" sz="1800" dirty="0"/>
          </a:p>
        </p:txBody>
      </p:sp>
      <p:sp>
        <p:nvSpPr>
          <p:cNvPr id="18" name="Text 216"/>
          <p:cNvSpPr txBox="1"/>
          <p:nvPr/>
        </p:nvSpPr>
        <p:spPr>
          <a:xfrm>
            <a:off x="3566160" y="2651760"/>
            <a:ext cx="2011680" cy="640080"/>
          </a:xfrm>
          <a:prstGeom prst="rect">
            <a:avLst/>
          </a:prstGeom>
          <a:noFill/>
          <a:ln/>
        </p:spPr>
        <p:txBody>
          <a:bodyPr wrap="square" lIns="0" tIns="0" rIns="0" bIns="0" rtlCol="0" anchor="t"/>
          <a:lstStyle/>
          <a:p>
            <a:pPr algn="ctr" indent="0" marL="0">
              <a:buNone/>
            </a:pPr>
            <a:r>
              <a:rPr lang="en-US" sz="1400" dirty="0">
                <a:solidFill>
                  <a:schemeClr val="bg1"/>
                </a:solidFill>
              </a:rPr>
              <a:t>One address for every station, with live updates</a:t>
            </a:r>
            <a:endParaRPr lang="en-US" sz="1400" dirty="0"/>
          </a:p>
        </p:txBody>
      </p:sp>
      <p:pic>
        <p:nvPicPr>
          <p:cNvPr id="19" name="Arrow 217" descr="preencoded.png">    </p:cNvPr>
          <p:cNvPicPr>
            <a:picLocks noChangeAspect="1"/>
          </p:cNvPicPr>
          <p:nvPr/>
        </p:nvPicPr>
        <p:blipFill>
          <a:blip r:embed="rId6"/>
          <a:stretch>
            <a:fillRect/>
          </a:stretch>
        </p:blipFill>
        <p:spPr>
          <a:xfrm>
            <a:off x="5943600" y="2194560"/>
            <a:ext cx="457200" cy="457200"/>
          </a:xfrm>
          <a:prstGeom prst="rect">
            <a:avLst/>
          </a:prstGeom>
        </p:spPr>
      </p:pic>
      <p:sp>
        <p:nvSpPr>
          <p:cNvPr id="20" name="Card 218"/>
          <p:cNvSpPr/>
          <p:nvPr/>
        </p:nvSpPr>
        <p:spPr>
          <a:xfrm>
            <a:off x="6583680" y="1325880"/>
            <a:ext cx="2103120" cy="1028700"/>
          </a:xfrm>
          <a:prstGeom prst="roundRect">
            <a:avLst>
              <a:gd name="adj" fmla="val 7111"/>
            </a:avLst>
          </a:prstGeom>
          <a:solidFill>
            <a:schemeClr val="bg2"/>
          </a:solidFill>
          <a:ln w="12700">
            <a:solidFill>
              <a:schemeClr val="bg2"/>
            </a:solidFill>
            <a:prstDash val="solid"/>
          </a:ln>
        </p:spPr>
      </p:sp>
      <p:pic>
        <p:nvPicPr>
          <p:cNvPr id="21" name="Icon 219" descr="preencoded.png">    </p:cNvPr>
          <p:cNvPicPr>
            <a:picLocks noChangeAspect="1"/>
          </p:cNvPicPr>
          <p:nvPr/>
        </p:nvPicPr>
        <p:blipFill>
          <a:blip r:embed="rId7"/>
          <a:stretch>
            <a:fillRect/>
          </a:stretch>
        </p:blipFill>
        <p:spPr>
          <a:xfrm>
            <a:off x="6766560" y="1691640"/>
            <a:ext cx="292608" cy="292608"/>
          </a:xfrm>
          <a:prstGeom prst="rect">
            <a:avLst/>
          </a:prstGeom>
        </p:spPr>
      </p:pic>
      <p:sp>
        <p:nvSpPr>
          <p:cNvPr id="22" name="Text 220"/>
          <p:cNvSpPr txBox="1"/>
          <p:nvPr/>
        </p:nvSpPr>
        <p:spPr>
          <a:xfrm>
            <a:off x="7223760" y="1325880"/>
            <a:ext cx="1371600" cy="1028700"/>
          </a:xfrm>
          <a:prstGeom prst="rect">
            <a:avLst/>
          </a:prstGeom>
          <a:noFill/>
          <a:ln/>
        </p:spPr>
        <p:txBody>
          <a:bodyPr wrap="square" lIns="0" tIns="0" rIns="0" bIns="0" rtlCol="0" anchor="ctr"/>
          <a:lstStyle/>
          <a:p>
            <a:pPr indent="0" marL="0">
              <a:buNone/>
            </a:pPr>
            <a:r>
              <a:rPr lang="en-US" sz="1500" dirty="0">
                <a:solidFill>
                  <a:schemeClr val="tx1"/>
                </a:solidFill>
              </a:rPr>
              <a:t>Database</a:t>
            </a:r>
            <a:endParaRPr lang="en-US" sz="1500" dirty="0"/>
          </a:p>
        </p:txBody>
      </p:sp>
      <p:sp>
        <p:nvSpPr>
          <p:cNvPr id="23" name="Card 221"/>
          <p:cNvSpPr/>
          <p:nvPr/>
        </p:nvSpPr>
        <p:spPr>
          <a:xfrm>
            <a:off x="6583680" y="2491740"/>
            <a:ext cx="2103120" cy="1028700"/>
          </a:xfrm>
          <a:prstGeom prst="roundRect">
            <a:avLst>
              <a:gd name="adj" fmla="val 7111"/>
            </a:avLst>
          </a:prstGeom>
          <a:solidFill>
            <a:schemeClr val="bg2"/>
          </a:solidFill>
          <a:ln w="12700">
            <a:solidFill>
              <a:schemeClr val="bg2"/>
            </a:solidFill>
            <a:prstDash val="solid"/>
          </a:ln>
        </p:spPr>
      </p:sp>
      <p:pic>
        <p:nvPicPr>
          <p:cNvPr id="24" name="Icon 222" descr="preencoded.png">    </p:cNvPr>
          <p:cNvPicPr>
            <a:picLocks noChangeAspect="1"/>
          </p:cNvPicPr>
          <p:nvPr/>
        </p:nvPicPr>
        <p:blipFill>
          <a:blip r:embed="rId8"/>
          <a:stretch>
            <a:fillRect/>
          </a:stretch>
        </p:blipFill>
        <p:spPr>
          <a:xfrm>
            <a:off x="6766560" y="2857500"/>
            <a:ext cx="292608" cy="292608"/>
          </a:xfrm>
          <a:prstGeom prst="rect">
            <a:avLst/>
          </a:prstGeom>
        </p:spPr>
      </p:pic>
      <p:sp>
        <p:nvSpPr>
          <p:cNvPr id="25" name="Text 223"/>
          <p:cNvSpPr txBox="1"/>
          <p:nvPr/>
        </p:nvSpPr>
        <p:spPr>
          <a:xfrm>
            <a:off x="7223760" y="2491740"/>
            <a:ext cx="1371600" cy="1028700"/>
          </a:xfrm>
          <a:prstGeom prst="rect">
            <a:avLst/>
          </a:prstGeom>
          <a:noFill/>
          <a:ln/>
        </p:spPr>
        <p:txBody>
          <a:bodyPr wrap="square" lIns="0" tIns="0" rIns="0" bIns="0" rtlCol="0" anchor="ctr"/>
          <a:lstStyle/>
          <a:p>
            <a:pPr indent="0" marL="0">
              <a:buNone/>
            </a:pPr>
            <a:r>
              <a:rPr lang="en-US" sz="1500" dirty="0">
                <a:solidFill>
                  <a:schemeClr val="tx1"/>
                </a:solidFill>
              </a:rPr>
              <a:t>Files and backups</a:t>
            </a:r>
            <a:endParaRPr lang="en-US" sz="1500" dirty="0"/>
          </a:p>
        </p:txBody>
      </p:sp>
      <p:sp>
        <p:nvSpPr>
          <p:cNvPr id="26" name="Text 224"/>
          <p:cNvSpPr txBox="1"/>
          <p:nvPr/>
        </p:nvSpPr>
        <p:spPr>
          <a:xfrm>
            <a:off x="457200" y="3931920"/>
            <a:ext cx="8229600" cy="365760"/>
          </a:xfrm>
          <a:prstGeom prst="rect">
            <a:avLst/>
          </a:prstGeom>
          <a:noFill/>
          <a:ln/>
        </p:spPr>
        <p:txBody>
          <a:bodyPr wrap="square" lIns="0" tIns="0" rIns="0" bIns="0" rtlCol="0" anchor="ctr"/>
          <a:lstStyle/>
          <a:p>
            <a:pPr algn="ctr" indent="0" marL="0">
              <a:buNone/>
            </a:pPr>
            <a:r>
              <a:rPr lang="en-US" sz="1400" b="1" dirty="0">
                <a:solidFill>
                  <a:schemeClr val="tx1"/>
                </a:solidFill>
              </a:rPr>
              <a:t>Screens: </a:t>
            </a:r>
            <a:pPr algn="ctr" indent="0" marL="0">
              <a:buNone/>
            </a:pPr>
            <a:r>
              <a:rPr lang="en-US" sz="1400" dirty="0">
                <a:solidFill>
                  <a:schemeClr val="tx1"/>
                </a:solidFill>
              </a:rPr>
              <a:t>React, TypeScript      </a:t>
            </a:r>
            <a:pPr algn="ctr" indent="0" marL="0">
              <a:buNone/>
            </a:pPr>
            <a:r>
              <a:rPr lang="en-US" sz="1400" b="1" dirty="0">
                <a:solidFill>
                  <a:schemeClr val="tx1"/>
                </a:solidFill>
              </a:rPr>
              <a:t>Backend: </a:t>
            </a:r>
            <a:pPr algn="ctr" indent="0" marL="0">
              <a:buNone/>
            </a:pPr>
            <a:r>
              <a:rPr lang="en-US" sz="1400" dirty="0">
                <a:solidFill>
                  <a:schemeClr val="tx1"/>
                </a:solidFill>
              </a:rPr>
              <a:t>Python, FastAPI      </a:t>
            </a:r>
            <a:pPr algn="ctr" indent="0" marL="0">
              <a:buNone/>
            </a:pPr>
            <a:r>
              <a:rPr lang="en-US" sz="1400" b="1" dirty="0">
                <a:solidFill>
                  <a:schemeClr val="tx1"/>
                </a:solidFill>
              </a:rPr>
              <a:t>Data: </a:t>
            </a:r>
            <a:pPr algn="ctr" indent="0" marL="0">
              <a:buNone/>
            </a:pPr>
            <a:r>
              <a:rPr lang="en-US" sz="1400" dirty="0">
                <a:solidFill>
                  <a:schemeClr val="tx1"/>
                </a:solidFill>
              </a:rPr>
              <a:t>SQLite or PostgreSQL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How we worked: Agile, in five phases</a:t>
            </a:r>
            <a:endParaRPr lang="en-US" sz="3200" dirty="0"/>
          </a:p>
        </p:txBody>
      </p:sp>
      <p:sp>
        <p:nvSpPr>
          <p:cNvPr id="3" name="Eyebrow 225"/>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PROCESS MODEL</a:t>
            </a:r>
            <a:endParaRPr lang="en-US" sz="1100" dirty="0"/>
          </a:p>
        </p:txBody>
      </p:sp>
      <p:sp>
        <p:nvSpPr>
          <p:cNvPr id="5" name="Timeline 226"/>
          <p:cNvSpPr/>
          <p:nvPr/>
        </p:nvSpPr>
        <p:spPr>
          <a:xfrm>
            <a:off x="1280160" y="2011680"/>
            <a:ext cx="6583680" cy="0"/>
          </a:xfrm>
          <a:prstGeom prst="line">
            <a:avLst/>
          </a:prstGeom>
          <a:noFill/>
          <a:ln w="25400">
            <a:solidFill>
              <a:srgbClr val="E4E2E0"/>
            </a:solidFill>
            <a:prstDash val="solid"/>
          </a:ln>
        </p:spPr>
      </p:sp>
      <p:sp>
        <p:nvSpPr>
          <p:cNvPr id="6" name="Phase 227"/>
          <p:cNvSpPr/>
          <p:nvPr/>
        </p:nvSpPr>
        <p:spPr>
          <a:xfrm>
            <a:off x="914400" y="1645920"/>
            <a:ext cx="731520" cy="731520"/>
          </a:xfrm>
          <a:prstGeom prst="ellipse">
            <a:avLst/>
          </a:prstGeom>
          <a:solidFill>
            <a:schemeClr val="accent1"/>
          </a:solidFill>
          <a:ln w="25400">
            <a:solidFill>
              <a:srgbClr val="FFFFFF"/>
            </a:solidFill>
            <a:prstDash val="solid"/>
          </a:ln>
        </p:spPr>
      </p:sp>
      <p:sp>
        <p:nvSpPr>
          <p:cNvPr id="7" name="Text 228"/>
          <p:cNvSpPr txBox="1"/>
          <p:nvPr/>
        </p:nvSpPr>
        <p:spPr>
          <a:xfrm>
            <a:off x="91440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 229"/>
          <p:cNvSpPr txBox="1"/>
          <p:nvPr/>
        </p:nvSpPr>
        <p:spPr>
          <a:xfrm>
            <a:off x="502920" y="2560320"/>
            <a:ext cx="1554480" cy="548640"/>
          </a:xfrm>
          <a:prstGeom prst="rect">
            <a:avLst/>
          </a:prstGeom>
          <a:noFill/>
          <a:ln/>
        </p:spPr>
        <p:txBody>
          <a:bodyPr wrap="square" lIns="0" tIns="0" rIns="0" bIns="0" rtlCol="0" anchor="t"/>
          <a:lstStyle/>
          <a:p>
            <a:pPr algn="ctr" indent="0" marL="0">
              <a:buNone/>
            </a:pPr>
            <a:r>
              <a:rPr lang="en-US" sz="1600" b="1" dirty="0">
                <a:solidFill>
                  <a:schemeClr val="tx1"/>
                </a:solidFill>
              </a:rPr>
              <a:t>Proposal</a:t>
            </a:r>
            <a:endParaRPr lang="en-US" sz="1600" dirty="0"/>
          </a:p>
        </p:txBody>
      </p:sp>
      <p:sp>
        <p:nvSpPr>
          <p:cNvPr id="9" name="Text 230"/>
          <p:cNvSpPr txBox="1"/>
          <p:nvPr/>
        </p:nvSpPr>
        <p:spPr>
          <a:xfrm>
            <a:off x="502920" y="3108960"/>
            <a:ext cx="1554480" cy="457200"/>
          </a:xfrm>
          <a:prstGeom prst="rect">
            <a:avLst/>
          </a:prstGeom>
          <a:noFill/>
          <a:ln/>
        </p:spPr>
        <p:txBody>
          <a:bodyPr wrap="square" lIns="0" tIns="0" rIns="0" bIns="0" rtlCol="0" anchor="t"/>
          <a:lstStyle/>
          <a:p>
            <a:pPr algn="ctr" indent="0" marL="0">
              <a:buNone/>
            </a:pPr>
            <a:r>
              <a:rPr lang="en-US" sz="1400" dirty="0">
                <a:solidFill>
                  <a:schemeClr val="accent4"/>
                </a:solidFill>
              </a:rPr>
              <a:t>Approved</a:t>
            </a:r>
            <a:endParaRPr lang="en-US" sz="1400" dirty="0"/>
          </a:p>
        </p:txBody>
      </p:sp>
      <p:sp>
        <p:nvSpPr>
          <p:cNvPr id="10" name="Phase 231"/>
          <p:cNvSpPr/>
          <p:nvPr/>
        </p:nvSpPr>
        <p:spPr>
          <a:xfrm>
            <a:off x="2560320" y="1645920"/>
            <a:ext cx="731520" cy="731520"/>
          </a:xfrm>
          <a:prstGeom prst="ellipse">
            <a:avLst/>
          </a:prstGeom>
          <a:solidFill>
            <a:schemeClr val="accent1"/>
          </a:solidFill>
          <a:ln w="25400">
            <a:solidFill>
              <a:srgbClr val="FFFFFF"/>
            </a:solidFill>
            <a:prstDash val="solid"/>
          </a:ln>
        </p:spPr>
      </p:sp>
      <p:sp>
        <p:nvSpPr>
          <p:cNvPr id="11" name="Text 232"/>
          <p:cNvSpPr txBox="1"/>
          <p:nvPr/>
        </p:nvSpPr>
        <p:spPr>
          <a:xfrm>
            <a:off x="256032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233"/>
          <p:cNvSpPr txBox="1"/>
          <p:nvPr/>
        </p:nvSpPr>
        <p:spPr>
          <a:xfrm>
            <a:off x="2148840" y="2560320"/>
            <a:ext cx="1554480" cy="548640"/>
          </a:xfrm>
          <a:prstGeom prst="rect">
            <a:avLst/>
          </a:prstGeom>
          <a:noFill/>
          <a:ln/>
        </p:spPr>
        <p:txBody>
          <a:bodyPr wrap="square" lIns="0" tIns="0" rIns="0" bIns="0" rtlCol="0" anchor="t"/>
          <a:lstStyle/>
          <a:p>
            <a:pPr algn="ctr" indent="0" marL="0">
              <a:buNone/>
            </a:pPr>
            <a:r>
              <a:rPr lang="en-US" sz="1600" b="1" dirty="0">
                <a:solidFill>
                  <a:schemeClr val="tx1"/>
                </a:solidFill>
              </a:rPr>
              <a:t>Requirements</a:t>
            </a:r>
            <a:endParaRPr lang="en-US" sz="1600" dirty="0"/>
          </a:p>
        </p:txBody>
      </p:sp>
      <p:sp>
        <p:nvSpPr>
          <p:cNvPr id="13" name="Text 234"/>
          <p:cNvSpPr txBox="1"/>
          <p:nvPr/>
        </p:nvSpPr>
        <p:spPr>
          <a:xfrm>
            <a:off x="2148840" y="3108960"/>
            <a:ext cx="1554480" cy="457200"/>
          </a:xfrm>
          <a:prstGeom prst="rect">
            <a:avLst/>
          </a:prstGeom>
          <a:noFill/>
          <a:ln/>
        </p:spPr>
        <p:txBody>
          <a:bodyPr wrap="square" lIns="0" tIns="0" rIns="0" bIns="0" rtlCol="0" anchor="t"/>
          <a:lstStyle/>
          <a:p>
            <a:pPr algn="ctr" indent="0" marL="0">
              <a:buNone/>
            </a:pPr>
            <a:r>
              <a:rPr lang="en-US" sz="1400" dirty="0">
                <a:solidFill>
                  <a:schemeClr val="accent4"/>
                </a:solidFill>
              </a:rPr>
              <a:t>Clinic interview</a:t>
            </a:r>
            <a:endParaRPr lang="en-US" sz="1400" dirty="0"/>
          </a:p>
        </p:txBody>
      </p:sp>
      <p:sp>
        <p:nvSpPr>
          <p:cNvPr id="14" name="Phase 235"/>
          <p:cNvSpPr/>
          <p:nvPr/>
        </p:nvSpPr>
        <p:spPr>
          <a:xfrm>
            <a:off x="4206240" y="1645920"/>
            <a:ext cx="731520" cy="731520"/>
          </a:xfrm>
          <a:prstGeom prst="ellipse">
            <a:avLst/>
          </a:prstGeom>
          <a:solidFill>
            <a:schemeClr val="accent1"/>
          </a:solidFill>
          <a:ln w="25400">
            <a:solidFill>
              <a:srgbClr val="FFFFFF"/>
            </a:solidFill>
            <a:prstDash val="solid"/>
          </a:ln>
        </p:spPr>
      </p:sp>
      <p:sp>
        <p:nvSpPr>
          <p:cNvPr id="15" name="Text 236"/>
          <p:cNvSpPr txBox="1"/>
          <p:nvPr/>
        </p:nvSpPr>
        <p:spPr>
          <a:xfrm>
            <a:off x="420624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6" name="Text 237"/>
          <p:cNvSpPr txBox="1"/>
          <p:nvPr/>
        </p:nvSpPr>
        <p:spPr>
          <a:xfrm>
            <a:off x="3794760" y="2560320"/>
            <a:ext cx="1554480" cy="548640"/>
          </a:xfrm>
          <a:prstGeom prst="rect">
            <a:avLst/>
          </a:prstGeom>
          <a:noFill/>
          <a:ln/>
        </p:spPr>
        <p:txBody>
          <a:bodyPr wrap="square" lIns="0" tIns="0" rIns="0" bIns="0" rtlCol="0" anchor="t"/>
          <a:lstStyle/>
          <a:p>
            <a:pPr algn="ctr" indent="0" marL="0">
              <a:buNone/>
            </a:pPr>
            <a:r>
              <a:rPr lang="en-US" sz="1600" b="1" dirty="0">
                <a:solidFill>
                  <a:schemeClr val="tx1"/>
                </a:solidFill>
              </a:rPr>
              <a:t>Database and API</a:t>
            </a:r>
            <a:endParaRPr lang="en-US" sz="1600" dirty="0"/>
          </a:p>
        </p:txBody>
      </p:sp>
      <p:sp>
        <p:nvSpPr>
          <p:cNvPr id="17" name="Text 238"/>
          <p:cNvSpPr txBox="1"/>
          <p:nvPr/>
        </p:nvSpPr>
        <p:spPr>
          <a:xfrm>
            <a:off x="3794760" y="3108960"/>
            <a:ext cx="1554480" cy="457200"/>
          </a:xfrm>
          <a:prstGeom prst="rect">
            <a:avLst/>
          </a:prstGeom>
          <a:noFill/>
          <a:ln/>
        </p:spPr>
        <p:txBody>
          <a:bodyPr wrap="square" lIns="0" tIns="0" rIns="0" bIns="0" rtlCol="0" anchor="t"/>
          <a:lstStyle/>
          <a:p>
            <a:pPr algn="ctr" indent="0" marL="0">
              <a:buNone/>
            </a:pPr>
            <a:r>
              <a:rPr lang="en-US" sz="1400" dirty="0">
                <a:solidFill>
                  <a:schemeClr val="accent4"/>
                </a:solidFill>
              </a:rPr>
              <a:t>Records and security</a:t>
            </a:r>
            <a:endParaRPr lang="en-US" sz="1400" dirty="0"/>
          </a:p>
        </p:txBody>
      </p:sp>
      <p:sp>
        <p:nvSpPr>
          <p:cNvPr id="18" name="Phase 239"/>
          <p:cNvSpPr/>
          <p:nvPr/>
        </p:nvSpPr>
        <p:spPr>
          <a:xfrm>
            <a:off x="5852160" y="1645920"/>
            <a:ext cx="731520" cy="731520"/>
          </a:xfrm>
          <a:prstGeom prst="ellipse">
            <a:avLst/>
          </a:prstGeom>
          <a:solidFill>
            <a:schemeClr val="accent1"/>
          </a:solidFill>
          <a:ln w="25400">
            <a:solidFill>
              <a:srgbClr val="FFFFFF"/>
            </a:solidFill>
            <a:prstDash val="solid"/>
          </a:ln>
        </p:spPr>
      </p:sp>
      <p:sp>
        <p:nvSpPr>
          <p:cNvPr id="19" name="Text 240"/>
          <p:cNvSpPr txBox="1"/>
          <p:nvPr/>
        </p:nvSpPr>
        <p:spPr>
          <a:xfrm>
            <a:off x="585216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0" name="Text 241"/>
          <p:cNvSpPr txBox="1"/>
          <p:nvPr/>
        </p:nvSpPr>
        <p:spPr>
          <a:xfrm>
            <a:off x="5440680" y="2560320"/>
            <a:ext cx="1554480" cy="548640"/>
          </a:xfrm>
          <a:prstGeom prst="rect">
            <a:avLst/>
          </a:prstGeom>
          <a:noFill/>
          <a:ln/>
        </p:spPr>
        <p:txBody>
          <a:bodyPr wrap="square" lIns="0" tIns="0" rIns="0" bIns="0" rtlCol="0" anchor="t"/>
          <a:lstStyle/>
          <a:p>
            <a:pPr algn="ctr" indent="0" marL="0">
              <a:buNone/>
            </a:pPr>
            <a:r>
              <a:rPr lang="en-US" sz="1600" b="1" dirty="0">
                <a:solidFill>
                  <a:schemeClr val="tx1"/>
                </a:solidFill>
              </a:rPr>
              <a:t>Screens</a:t>
            </a:r>
            <a:endParaRPr lang="en-US" sz="1600" dirty="0"/>
          </a:p>
        </p:txBody>
      </p:sp>
      <p:sp>
        <p:nvSpPr>
          <p:cNvPr id="21" name="Text 242"/>
          <p:cNvSpPr txBox="1"/>
          <p:nvPr/>
        </p:nvSpPr>
        <p:spPr>
          <a:xfrm>
            <a:off x="5440680" y="3108960"/>
            <a:ext cx="1554480" cy="457200"/>
          </a:xfrm>
          <a:prstGeom prst="rect">
            <a:avLst/>
          </a:prstGeom>
          <a:noFill/>
          <a:ln/>
        </p:spPr>
        <p:txBody>
          <a:bodyPr wrap="square" lIns="0" tIns="0" rIns="0" bIns="0" rtlCol="0" anchor="t"/>
          <a:lstStyle/>
          <a:p>
            <a:pPr algn="ctr" indent="0" marL="0">
              <a:buNone/>
            </a:pPr>
            <a:r>
              <a:rPr lang="en-US" sz="1400" dirty="0">
                <a:solidFill>
                  <a:schemeClr val="accent4"/>
                </a:solidFill>
              </a:rPr>
              <a:t>Every screen built</a:t>
            </a:r>
            <a:endParaRPr lang="en-US" sz="1400" dirty="0"/>
          </a:p>
        </p:txBody>
      </p:sp>
      <p:sp>
        <p:nvSpPr>
          <p:cNvPr id="22" name="Phase 243"/>
          <p:cNvSpPr/>
          <p:nvPr/>
        </p:nvSpPr>
        <p:spPr>
          <a:xfrm>
            <a:off x="7498080" y="1645920"/>
            <a:ext cx="731520" cy="731520"/>
          </a:xfrm>
          <a:prstGeom prst="ellipse">
            <a:avLst/>
          </a:prstGeom>
          <a:solidFill>
            <a:schemeClr val="accent2"/>
          </a:solidFill>
          <a:ln w="25400">
            <a:solidFill>
              <a:srgbClr val="FFFFFF"/>
            </a:solidFill>
            <a:prstDash val="solid"/>
          </a:ln>
        </p:spPr>
      </p:sp>
      <p:sp>
        <p:nvSpPr>
          <p:cNvPr id="23" name="Text 244"/>
          <p:cNvSpPr txBox="1"/>
          <p:nvPr/>
        </p:nvSpPr>
        <p:spPr>
          <a:xfrm>
            <a:off x="7498080" y="164592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5</a:t>
            </a:r>
            <a:endParaRPr lang="en-US" sz="2400" dirty="0"/>
          </a:p>
        </p:txBody>
      </p:sp>
      <p:sp>
        <p:nvSpPr>
          <p:cNvPr id="24" name="Text 245"/>
          <p:cNvSpPr txBox="1"/>
          <p:nvPr/>
        </p:nvSpPr>
        <p:spPr>
          <a:xfrm>
            <a:off x="7086600" y="2560320"/>
            <a:ext cx="1554480" cy="548640"/>
          </a:xfrm>
          <a:prstGeom prst="rect">
            <a:avLst/>
          </a:prstGeom>
          <a:noFill/>
          <a:ln/>
        </p:spPr>
        <p:txBody>
          <a:bodyPr wrap="square" lIns="0" tIns="0" rIns="0" bIns="0" rtlCol="0" anchor="t"/>
          <a:lstStyle/>
          <a:p>
            <a:pPr algn="ctr" indent="0" marL="0">
              <a:buNone/>
            </a:pPr>
            <a:r>
              <a:rPr lang="en-US" sz="1600" b="1" dirty="0">
                <a:solidFill>
                  <a:schemeClr val="tx1"/>
                </a:solidFill>
              </a:rPr>
              <a:t>Testing</a:t>
            </a:r>
            <a:endParaRPr lang="en-US" sz="1600" dirty="0"/>
          </a:p>
        </p:txBody>
      </p:sp>
      <p:sp>
        <p:nvSpPr>
          <p:cNvPr id="25" name="Text 246"/>
          <p:cNvSpPr txBox="1"/>
          <p:nvPr/>
        </p:nvSpPr>
        <p:spPr>
          <a:xfrm>
            <a:off x="7086600" y="3108960"/>
            <a:ext cx="1554480" cy="457200"/>
          </a:xfrm>
          <a:prstGeom prst="rect">
            <a:avLst/>
          </a:prstGeom>
          <a:noFill/>
          <a:ln/>
        </p:spPr>
        <p:txBody>
          <a:bodyPr wrap="square" lIns="0" tIns="0" rIns="0" bIns="0" rtlCol="0" anchor="t"/>
          <a:lstStyle/>
          <a:p>
            <a:pPr algn="ctr" indent="0" marL="0">
              <a:buNone/>
            </a:pPr>
            <a:r>
              <a:rPr lang="en-US" sz="1400" b="1" dirty="0">
                <a:solidFill>
                  <a:schemeClr val="accent1"/>
                </a:solidFill>
              </a:rPr>
              <a:t>Happening now</a:t>
            </a:r>
            <a:endParaRPr lang="en-US" sz="1400" dirty="0"/>
          </a:p>
        </p:txBody>
      </p:sp>
      <p:sp>
        <p:nvSpPr>
          <p:cNvPr id="26" name="Text 247"/>
          <p:cNvSpPr txBox="1"/>
          <p:nvPr/>
        </p:nvSpPr>
        <p:spPr>
          <a:xfrm>
            <a:off x="457200" y="3931920"/>
            <a:ext cx="8229600" cy="365760"/>
          </a:xfrm>
          <a:prstGeom prst="rect">
            <a:avLst/>
          </a:prstGeom>
          <a:noFill/>
          <a:ln/>
        </p:spPr>
        <p:txBody>
          <a:bodyPr wrap="square" lIns="0" tIns="0" rIns="0" bIns="0" rtlCol="0" anchor="ctr"/>
          <a:lstStyle/>
          <a:p>
            <a:pPr algn="ctr" indent="0" marL="0">
              <a:buNone/>
            </a:pPr>
            <a:r>
              <a:rPr lang="en-US" sz="1600" i="1" dirty="0">
                <a:solidFill>
                  <a:schemeClr val="accent1"/>
                </a:solidFill>
              </a:rPr>
              <a:t>Built in small parts, tested, and improved as we learned from the clinic.</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Tested, and what comes next</a:t>
            </a:r>
            <a:endParaRPr lang="en-US" sz="3200" dirty="0"/>
          </a:p>
        </p:txBody>
      </p:sp>
      <p:sp>
        <p:nvSpPr>
          <p:cNvPr id="3" name="Eyebrow 248"/>
          <p:cNvSpPr txBox="1"/>
          <p:nvPr/>
        </p:nvSpPr>
        <p:spPr>
          <a:xfrm>
            <a:off x="457200" y="274320"/>
            <a:ext cx="8229600" cy="201168"/>
          </a:xfrm>
          <a:prstGeom prst="rect">
            <a:avLst/>
          </a:prstGeom>
          <a:noFill/>
          <a:ln/>
        </p:spPr>
        <p:txBody>
          <a:bodyPr wrap="square" lIns="0" tIns="0" rIns="0" bIns="0" rtlCol="0" anchor="ctr"/>
          <a:lstStyle/>
          <a:p>
            <a:pPr indent="0" marL="0">
              <a:buNone/>
            </a:pPr>
            <a:r>
              <a:rPr lang="en-US" sz="1100" b="1" spc="200" kern="0" dirty="0">
                <a:solidFill>
                  <a:schemeClr val="accent1"/>
                </a:solidFill>
              </a:rPr>
              <a:t>TESTING AND NEXT STEPS</a:t>
            </a:r>
            <a:endParaRPr lang="en-US" sz="1100" dirty="0"/>
          </a:p>
        </p:txBody>
      </p:sp>
      <p:sp>
        <p:nvSpPr>
          <p:cNvPr id="5" name="Card 249"/>
          <p:cNvSpPr/>
          <p:nvPr/>
        </p:nvSpPr>
        <p:spPr>
          <a:xfrm>
            <a:off x="457200" y="1325880"/>
            <a:ext cx="2926080" cy="1417320"/>
          </a:xfrm>
          <a:prstGeom prst="roundRect">
            <a:avLst>
              <a:gd name="adj" fmla="val 5161"/>
            </a:avLst>
          </a:prstGeom>
          <a:solidFill>
            <a:schemeClr val="bg2"/>
          </a:solidFill>
          <a:ln w="12700">
            <a:solidFill>
              <a:schemeClr val="bg2"/>
            </a:solidFill>
            <a:prstDash val="solid"/>
          </a:ln>
        </p:spPr>
      </p:sp>
      <p:sp>
        <p:nvSpPr>
          <p:cNvPr id="6" name="Text 250"/>
          <p:cNvSpPr txBox="1"/>
          <p:nvPr/>
        </p:nvSpPr>
        <p:spPr>
          <a:xfrm>
            <a:off x="457200" y="1417320"/>
            <a:ext cx="2926080" cy="822960"/>
          </a:xfrm>
          <a:prstGeom prst="rect">
            <a:avLst/>
          </a:prstGeom>
          <a:noFill/>
          <a:ln/>
        </p:spPr>
        <p:txBody>
          <a:bodyPr wrap="square" lIns="0" tIns="0" rIns="0" bIns="0" rtlCol="0" anchor="ctr"/>
          <a:lstStyle/>
          <a:p>
            <a:pPr algn="ctr" indent="0" marL="0">
              <a:buNone/>
            </a:pPr>
            <a:r>
              <a:rPr lang="en-US" sz="5400" b="1" dirty="0">
                <a:solidFill>
                  <a:schemeClr val="accent1"/>
                </a:solidFill>
                <a:latin typeface="+mj-lt" pitchFamily="34" charset="0"/>
                <a:ea typeface="+mj-lt" pitchFamily="34" charset="-122"/>
                <a:cs typeface="+mj-lt" pitchFamily="34" charset="-120"/>
              </a:rPr>
              <a:t>75</a:t>
            </a:r>
            <a:endParaRPr lang="en-US" sz="5400" dirty="0"/>
          </a:p>
        </p:txBody>
      </p:sp>
      <p:sp>
        <p:nvSpPr>
          <p:cNvPr id="7" name="Text 251"/>
          <p:cNvSpPr txBox="1"/>
          <p:nvPr/>
        </p:nvSpPr>
        <p:spPr>
          <a:xfrm>
            <a:off x="457200" y="2240280"/>
            <a:ext cx="2926080" cy="320040"/>
          </a:xfrm>
          <a:prstGeom prst="rect">
            <a:avLst/>
          </a:prstGeom>
          <a:noFill/>
          <a:ln/>
        </p:spPr>
        <p:txBody>
          <a:bodyPr wrap="square" lIns="0" tIns="0" rIns="0" bIns="0" rtlCol="0" anchor="ctr"/>
          <a:lstStyle/>
          <a:p>
            <a:pPr algn="ctr" indent="0" marL="0">
              <a:buNone/>
            </a:pPr>
            <a:r>
              <a:rPr lang="en-US" sz="1500" dirty="0">
                <a:solidFill>
                  <a:schemeClr val="tx1"/>
                </a:solidFill>
              </a:rPr>
              <a:t>backend tests</a:t>
            </a:r>
            <a:endParaRPr lang="en-US" sz="1500" dirty="0"/>
          </a:p>
        </p:txBody>
      </p:sp>
      <p:sp>
        <p:nvSpPr>
          <p:cNvPr id="8" name="Card 252"/>
          <p:cNvSpPr/>
          <p:nvPr/>
        </p:nvSpPr>
        <p:spPr>
          <a:xfrm>
            <a:off x="457200" y="2926080"/>
            <a:ext cx="2926080" cy="1417320"/>
          </a:xfrm>
          <a:prstGeom prst="roundRect">
            <a:avLst>
              <a:gd name="adj" fmla="val 5161"/>
            </a:avLst>
          </a:prstGeom>
          <a:solidFill>
            <a:schemeClr val="bg2"/>
          </a:solidFill>
          <a:ln w="12700">
            <a:solidFill>
              <a:schemeClr val="bg2"/>
            </a:solidFill>
            <a:prstDash val="solid"/>
          </a:ln>
        </p:spPr>
      </p:sp>
      <p:sp>
        <p:nvSpPr>
          <p:cNvPr id="9" name="Text 253"/>
          <p:cNvSpPr txBox="1"/>
          <p:nvPr/>
        </p:nvSpPr>
        <p:spPr>
          <a:xfrm>
            <a:off x="457200" y="3017520"/>
            <a:ext cx="2926080" cy="822960"/>
          </a:xfrm>
          <a:prstGeom prst="rect">
            <a:avLst/>
          </a:prstGeom>
          <a:noFill/>
          <a:ln/>
        </p:spPr>
        <p:txBody>
          <a:bodyPr wrap="square" lIns="0" tIns="0" rIns="0" bIns="0" rtlCol="0" anchor="ctr"/>
          <a:lstStyle/>
          <a:p>
            <a:pPr algn="ctr" indent="0" marL="0">
              <a:buNone/>
            </a:pPr>
            <a:r>
              <a:rPr lang="en-US" sz="5400" b="1" dirty="0">
                <a:solidFill>
                  <a:schemeClr val="accent1"/>
                </a:solidFill>
                <a:latin typeface="+mj-lt" pitchFamily="34" charset="0"/>
                <a:ea typeface="+mj-lt" pitchFamily="34" charset="-122"/>
                <a:cs typeface="+mj-lt" pitchFamily="34" charset="-120"/>
              </a:rPr>
              <a:t>275</a:t>
            </a:r>
            <a:endParaRPr lang="en-US" sz="5400" dirty="0"/>
          </a:p>
        </p:txBody>
      </p:sp>
      <p:sp>
        <p:nvSpPr>
          <p:cNvPr id="10" name="Text 254"/>
          <p:cNvSpPr txBox="1"/>
          <p:nvPr/>
        </p:nvSpPr>
        <p:spPr>
          <a:xfrm>
            <a:off x="457200" y="3840480"/>
            <a:ext cx="2926080" cy="320040"/>
          </a:xfrm>
          <a:prstGeom prst="rect">
            <a:avLst/>
          </a:prstGeom>
          <a:noFill/>
          <a:ln/>
        </p:spPr>
        <p:txBody>
          <a:bodyPr wrap="square" lIns="0" tIns="0" rIns="0" bIns="0" rtlCol="0" anchor="ctr"/>
          <a:lstStyle/>
          <a:p>
            <a:pPr algn="ctr" indent="0" marL="0">
              <a:buNone/>
            </a:pPr>
            <a:r>
              <a:rPr lang="en-US" sz="1500" dirty="0">
                <a:solidFill>
                  <a:schemeClr val="tx1"/>
                </a:solidFill>
              </a:rPr>
              <a:t>screen tests</a:t>
            </a:r>
            <a:endParaRPr lang="en-US" sz="1500" dirty="0"/>
          </a:p>
        </p:txBody>
      </p:sp>
      <p:sp>
        <p:nvSpPr>
          <p:cNvPr id="11" name="Step 255"/>
          <p:cNvSpPr/>
          <p:nvPr/>
        </p:nvSpPr>
        <p:spPr>
          <a:xfrm>
            <a:off x="3931920" y="1371600"/>
            <a:ext cx="548640" cy="548640"/>
          </a:xfrm>
          <a:prstGeom prst="ellipse">
            <a:avLst/>
          </a:prstGeom>
          <a:solidFill>
            <a:schemeClr val="accent1"/>
          </a:solidFill>
          <a:ln w="12700">
            <a:solidFill>
              <a:schemeClr val="accent1"/>
            </a:solidFill>
            <a:prstDash val="solid"/>
          </a:ln>
        </p:spPr>
      </p:sp>
      <p:sp>
        <p:nvSpPr>
          <p:cNvPr id="12" name="Text 256"/>
          <p:cNvSpPr txBox="1"/>
          <p:nvPr/>
        </p:nvSpPr>
        <p:spPr>
          <a:xfrm>
            <a:off x="393192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Text 257"/>
          <p:cNvSpPr txBox="1"/>
          <p:nvPr/>
        </p:nvSpPr>
        <p:spPr>
          <a:xfrm>
            <a:off x="4663440" y="1353312"/>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Team testing</a:t>
            </a:r>
            <a:endParaRPr lang="en-US" sz="1600" dirty="0"/>
          </a:p>
        </p:txBody>
      </p:sp>
      <p:sp>
        <p:nvSpPr>
          <p:cNvPr id="14" name="Text 258"/>
          <p:cNvSpPr txBox="1"/>
          <p:nvPr/>
        </p:nvSpPr>
        <p:spPr>
          <a:xfrm>
            <a:off x="4663440" y="1645920"/>
            <a:ext cx="4023360" cy="365760"/>
          </a:xfrm>
          <a:prstGeom prst="rect">
            <a:avLst/>
          </a:prstGeom>
          <a:noFill/>
          <a:ln/>
        </p:spPr>
        <p:txBody>
          <a:bodyPr wrap="square" lIns="0" tIns="0" rIns="0" bIns="0" rtlCol="0" anchor="t"/>
          <a:lstStyle/>
          <a:p>
            <a:pPr indent="0" marL="0">
              <a:buNone/>
            </a:pPr>
            <a:r>
              <a:rPr lang="en-US" sz="1400" dirty="0">
                <a:solidFill>
                  <a:schemeClr val="accent4"/>
                </a:solidFill>
              </a:rPr>
              <a:t>On each member's computer</a:t>
            </a:r>
            <a:endParaRPr lang="en-US" sz="1400" dirty="0"/>
          </a:p>
        </p:txBody>
      </p:sp>
      <p:sp>
        <p:nvSpPr>
          <p:cNvPr id="15" name="Step 259"/>
          <p:cNvSpPr/>
          <p:nvPr/>
        </p:nvSpPr>
        <p:spPr>
          <a:xfrm>
            <a:off x="3931920" y="2286000"/>
            <a:ext cx="548640" cy="548640"/>
          </a:xfrm>
          <a:prstGeom prst="ellipse">
            <a:avLst/>
          </a:prstGeom>
          <a:solidFill>
            <a:schemeClr val="accent1"/>
          </a:solidFill>
          <a:ln w="12700">
            <a:solidFill>
              <a:schemeClr val="accent1"/>
            </a:solidFill>
            <a:prstDash val="solid"/>
          </a:ln>
        </p:spPr>
      </p:sp>
      <p:sp>
        <p:nvSpPr>
          <p:cNvPr id="16" name="Text 260"/>
          <p:cNvSpPr txBox="1"/>
          <p:nvPr/>
        </p:nvSpPr>
        <p:spPr>
          <a:xfrm>
            <a:off x="3931920"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Text 261"/>
          <p:cNvSpPr txBox="1"/>
          <p:nvPr/>
        </p:nvSpPr>
        <p:spPr>
          <a:xfrm>
            <a:off x="4663440" y="2267712"/>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Clinic walkthrough</a:t>
            </a:r>
            <a:endParaRPr lang="en-US" sz="1600" dirty="0"/>
          </a:p>
        </p:txBody>
      </p:sp>
      <p:sp>
        <p:nvSpPr>
          <p:cNvPr id="18" name="Text 262"/>
          <p:cNvSpPr txBox="1"/>
          <p:nvPr/>
        </p:nvSpPr>
        <p:spPr>
          <a:xfrm>
            <a:off x="4663440" y="2560320"/>
            <a:ext cx="4023360" cy="365760"/>
          </a:xfrm>
          <a:prstGeom prst="rect">
            <a:avLst/>
          </a:prstGeom>
          <a:noFill/>
          <a:ln/>
        </p:spPr>
        <p:txBody>
          <a:bodyPr wrap="square" lIns="0" tIns="0" rIns="0" bIns="0" rtlCol="0" anchor="t"/>
          <a:lstStyle/>
          <a:p>
            <a:pPr indent="0" marL="0">
              <a:buNone/>
            </a:pPr>
            <a:r>
              <a:rPr lang="en-US" sz="1400" dirty="0">
                <a:solidFill>
                  <a:schemeClr val="accent4"/>
                </a:solidFill>
              </a:rPr>
              <a:t>Clinic personnel try it and tell us what to change</a:t>
            </a:r>
            <a:endParaRPr lang="en-US" sz="1400" dirty="0"/>
          </a:p>
        </p:txBody>
      </p:sp>
      <p:sp>
        <p:nvSpPr>
          <p:cNvPr id="19" name="Step 263"/>
          <p:cNvSpPr/>
          <p:nvPr/>
        </p:nvSpPr>
        <p:spPr>
          <a:xfrm>
            <a:off x="3931920" y="3200400"/>
            <a:ext cx="548640" cy="548640"/>
          </a:xfrm>
          <a:prstGeom prst="ellipse">
            <a:avLst/>
          </a:prstGeom>
          <a:solidFill>
            <a:schemeClr val="accent1"/>
          </a:solidFill>
          <a:ln w="12700">
            <a:solidFill>
              <a:schemeClr val="accent1"/>
            </a:solidFill>
            <a:prstDash val="solid"/>
          </a:ln>
        </p:spPr>
      </p:sp>
      <p:sp>
        <p:nvSpPr>
          <p:cNvPr id="20" name="Text 264"/>
          <p:cNvSpPr txBox="1"/>
          <p:nvPr/>
        </p:nvSpPr>
        <p:spPr>
          <a:xfrm>
            <a:off x="3931920" y="32004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265"/>
          <p:cNvSpPr txBox="1"/>
          <p:nvPr/>
        </p:nvSpPr>
        <p:spPr>
          <a:xfrm>
            <a:off x="4663440" y="3182112"/>
            <a:ext cx="4023360" cy="292608"/>
          </a:xfrm>
          <a:prstGeom prst="rect">
            <a:avLst/>
          </a:prstGeom>
          <a:noFill/>
          <a:ln/>
        </p:spPr>
        <p:txBody>
          <a:bodyPr wrap="square" lIns="0" tIns="0" rIns="0" bIns="0" rtlCol="0" anchor="ctr"/>
          <a:lstStyle/>
          <a:p>
            <a:pPr indent="0" marL="0">
              <a:buNone/>
            </a:pPr>
            <a:r>
              <a:rPr lang="en-US" sz="1600" b="1" dirty="0">
                <a:solidFill>
                  <a:schemeClr val="tx1"/>
                </a:solidFill>
              </a:rPr>
              <a:t>Installation and turnover</a:t>
            </a:r>
            <a:endParaRPr lang="en-US" sz="1600" dirty="0"/>
          </a:p>
        </p:txBody>
      </p:sp>
      <p:sp>
        <p:nvSpPr>
          <p:cNvPr id="22" name="Text 266"/>
          <p:cNvSpPr txBox="1"/>
          <p:nvPr/>
        </p:nvSpPr>
        <p:spPr>
          <a:xfrm>
            <a:off x="4663440" y="3474720"/>
            <a:ext cx="4023360" cy="365760"/>
          </a:xfrm>
          <a:prstGeom prst="rect">
            <a:avLst/>
          </a:prstGeom>
          <a:noFill/>
          <a:ln/>
        </p:spPr>
        <p:txBody>
          <a:bodyPr wrap="square" lIns="0" tIns="0" rIns="0" bIns="0" rtlCol="0" anchor="t"/>
          <a:lstStyle/>
          <a:p>
            <a:pPr indent="0" marL="0">
              <a:buNone/>
            </a:pPr>
            <a:r>
              <a:rPr lang="en-US" sz="1400" dirty="0">
                <a:solidFill>
                  <a:schemeClr val="accent4"/>
                </a:solidFill>
              </a:rPr>
              <a:t>Set up on the clinic's computer</a:t>
            </a:r>
            <a:endParaRPr lang="en-US" sz="1400" dirty="0"/>
          </a:p>
        </p:txBody>
      </p:sp>
      <p:sp>
        <p:nvSpPr>
          <p:cNvPr id="23" name="Text 267"/>
          <p:cNvSpPr txBox="1"/>
          <p:nvPr/>
        </p:nvSpPr>
        <p:spPr>
          <a:xfrm>
            <a:off x="3931920" y="4114800"/>
            <a:ext cx="4754880" cy="274320"/>
          </a:xfrm>
          <a:prstGeom prst="rect">
            <a:avLst/>
          </a:prstGeom>
          <a:noFill/>
          <a:ln/>
        </p:spPr>
        <p:txBody>
          <a:bodyPr wrap="square" lIns="0" tIns="0" rIns="0" bIns="0" rtlCol="0" anchor="t"/>
          <a:lstStyle/>
          <a:p>
            <a:pPr indent="0" marL="0">
              <a:buNone/>
            </a:pPr>
            <a:r>
              <a:rPr lang="en-US" sz="1400" i="1" dirty="0">
                <a:solidFill>
                  <a:schemeClr val="accent4"/>
                </a:solidFill>
              </a:rPr>
              <a:t>Left out by the team: the urgent-case queue.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268"/>
          <p:cNvSpPr txBox="1"/>
          <p:nvPr/>
        </p:nvSpPr>
        <p:spPr>
          <a:xfrm>
            <a:off x="457200" y="640080"/>
            <a:ext cx="8229600" cy="914400"/>
          </a:xfrm>
          <a:prstGeom prst="rect">
            <a:avLst/>
          </a:prstGeom>
          <a:noFill/>
          <a:ln/>
        </p:spPr>
        <p:txBody>
          <a:bodyPr wrap="square" lIns="0" tIns="0" rIns="0" bIns="0" rtlCol="0" anchor="ctr"/>
          <a:lstStyle/>
          <a:p>
            <a:pPr algn="ctr" indent="0" marL="0">
              <a:buNone/>
            </a:pPr>
            <a:r>
              <a:rPr lang="en-US" sz="5400" b="1" dirty="0">
                <a:solidFill>
                  <a:schemeClr val="bg1"/>
                </a:solidFill>
                <a:latin typeface="+mj-lt" pitchFamily="34" charset="0"/>
                <a:ea typeface="+mj-lt" pitchFamily="34" charset="-122"/>
                <a:cs typeface="+mj-lt" pitchFamily="34" charset="-120"/>
              </a:rPr>
              <a:t>Thank you</a:t>
            </a:r>
            <a:endParaRPr lang="en-US" sz="5400" dirty="0"/>
          </a:p>
        </p:txBody>
      </p:sp>
      <p:sp>
        <p:nvSpPr>
          <p:cNvPr id="4" name="Text 269"/>
          <p:cNvSpPr txBox="1"/>
          <p:nvPr/>
        </p:nvSpPr>
        <p:spPr>
          <a:xfrm>
            <a:off x="457200" y="1783080"/>
            <a:ext cx="8229600" cy="27432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The team  ·  CS-302</a:t>
            </a:r>
            <a:endParaRPr lang="en-US" sz="1200" dirty="0"/>
          </a:p>
        </p:txBody>
      </p:sp>
      <p:sp>
        <p:nvSpPr>
          <p:cNvPr id="5" name="Text 270"/>
          <p:cNvSpPr txBox="1"/>
          <p:nvPr/>
        </p:nvSpPr>
        <p:spPr>
          <a:xfrm>
            <a:off x="914400" y="2286000"/>
            <a:ext cx="2286000" cy="411480"/>
          </a:xfrm>
          <a:prstGeom prst="rect">
            <a:avLst/>
          </a:prstGeom>
          <a:noFill/>
          <a:ln/>
        </p:spPr>
        <p:txBody>
          <a:bodyPr wrap="square" lIns="0" tIns="0" rIns="0" bIns="0" rtlCol="0" anchor="ctr"/>
          <a:lstStyle/>
          <a:p>
            <a:pPr algn="ctr" indent="0" marL="0">
              <a:buNone/>
            </a:pPr>
            <a:r>
              <a:rPr lang="en-US" sz="1600" dirty="0">
                <a:solidFill>
                  <a:schemeClr val="bg1"/>
                </a:solidFill>
              </a:rPr>
              <a:t>Sean Jarin Dela Cruz</a:t>
            </a:r>
            <a:endParaRPr lang="en-US" sz="1600" dirty="0"/>
          </a:p>
        </p:txBody>
      </p:sp>
      <p:sp>
        <p:nvSpPr>
          <p:cNvPr id="6" name="Text 271"/>
          <p:cNvSpPr txBox="1"/>
          <p:nvPr/>
        </p:nvSpPr>
        <p:spPr>
          <a:xfrm>
            <a:off x="3429000" y="2286000"/>
            <a:ext cx="2286000" cy="411480"/>
          </a:xfrm>
          <a:prstGeom prst="rect">
            <a:avLst/>
          </a:prstGeom>
          <a:noFill/>
          <a:ln/>
        </p:spPr>
        <p:txBody>
          <a:bodyPr wrap="square" lIns="0" tIns="0" rIns="0" bIns="0" rtlCol="0" anchor="ctr"/>
          <a:lstStyle/>
          <a:p>
            <a:pPr algn="ctr" indent="0" marL="0">
              <a:buNone/>
            </a:pPr>
            <a:r>
              <a:rPr lang="en-US" sz="1600" dirty="0">
                <a:solidFill>
                  <a:schemeClr val="bg1"/>
                </a:solidFill>
              </a:rPr>
              <a:t>Mikko Brandon B. Panergo</a:t>
            </a:r>
            <a:endParaRPr lang="en-US" sz="1600" dirty="0"/>
          </a:p>
        </p:txBody>
      </p:sp>
      <p:sp>
        <p:nvSpPr>
          <p:cNvPr id="7" name="Text 272"/>
          <p:cNvSpPr txBox="1"/>
          <p:nvPr/>
        </p:nvSpPr>
        <p:spPr>
          <a:xfrm>
            <a:off x="5943600" y="2286000"/>
            <a:ext cx="2286000" cy="411480"/>
          </a:xfrm>
          <a:prstGeom prst="rect">
            <a:avLst/>
          </a:prstGeom>
          <a:noFill/>
          <a:ln/>
        </p:spPr>
        <p:txBody>
          <a:bodyPr wrap="square" lIns="0" tIns="0" rIns="0" bIns="0" rtlCol="0" anchor="ctr"/>
          <a:lstStyle/>
          <a:p>
            <a:pPr algn="ctr" indent="0" marL="0">
              <a:buNone/>
            </a:pPr>
            <a:r>
              <a:rPr lang="en-US" sz="1600" dirty="0">
                <a:solidFill>
                  <a:schemeClr val="bg1"/>
                </a:solidFill>
              </a:rPr>
              <a:t>Bernard Rodriguez Jr.</a:t>
            </a:r>
            <a:endParaRPr lang="en-US" sz="1600" dirty="0"/>
          </a:p>
        </p:txBody>
      </p:sp>
      <p:sp>
        <p:nvSpPr>
          <p:cNvPr id="8" name="Text 273"/>
          <p:cNvSpPr txBox="1"/>
          <p:nvPr/>
        </p:nvSpPr>
        <p:spPr>
          <a:xfrm>
            <a:off x="914400" y="2834640"/>
            <a:ext cx="2286000" cy="411480"/>
          </a:xfrm>
          <a:prstGeom prst="rect">
            <a:avLst/>
          </a:prstGeom>
          <a:noFill/>
          <a:ln/>
        </p:spPr>
        <p:txBody>
          <a:bodyPr wrap="square" lIns="0" tIns="0" rIns="0" bIns="0" rtlCol="0" anchor="ctr"/>
          <a:lstStyle/>
          <a:p>
            <a:pPr algn="ctr" indent="0" marL="0">
              <a:buNone/>
            </a:pPr>
            <a:r>
              <a:rPr lang="en-US" sz="1600" dirty="0">
                <a:solidFill>
                  <a:schemeClr val="bg1"/>
                </a:solidFill>
              </a:rPr>
              <a:t>Gil Miranda</a:t>
            </a:r>
            <a:endParaRPr lang="en-US" sz="1600" dirty="0"/>
          </a:p>
        </p:txBody>
      </p:sp>
      <p:sp>
        <p:nvSpPr>
          <p:cNvPr id="9" name="Text 274"/>
          <p:cNvSpPr txBox="1"/>
          <p:nvPr/>
        </p:nvSpPr>
        <p:spPr>
          <a:xfrm>
            <a:off x="3429000" y="2834640"/>
            <a:ext cx="2286000" cy="411480"/>
          </a:xfrm>
          <a:prstGeom prst="rect">
            <a:avLst/>
          </a:prstGeom>
          <a:noFill/>
          <a:ln/>
        </p:spPr>
        <p:txBody>
          <a:bodyPr wrap="square" lIns="0" tIns="0" rIns="0" bIns="0" rtlCol="0" anchor="ctr"/>
          <a:lstStyle/>
          <a:p>
            <a:pPr algn="ctr" indent="0" marL="0">
              <a:buNone/>
            </a:pPr>
            <a:r>
              <a:rPr lang="en-US" sz="1600" dirty="0">
                <a:solidFill>
                  <a:schemeClr val="bg1"/>
                </a:solidFill>
              </a:rPr>
              <a:t>Mclaren Ais Miranda</a:t>
            </a:r>
            <a:endParaRPr lang="en-US" sz="1600" dirty="0"/>
          </a:p>
        </p:txBody>
      </p:sp>
      <p:sp>
        <p:nvSpPr>
          <p:cNvPr id="10" name="Text 275"/>
          <p:cNvSpPr txBox="1"/>
          <p:nvPr/>
        </p:nvSpPr>
        <p:spPr>
          <a:xfrm>
            <a:off x="5943600" y="2834640"/>
            <a:ext cx="2286000" cy="411480"/>
          </a:xfrm>
          <a:prstGeom prst="rect">
            <a:avLst/>
          </a:prstGeom>
          <a:noFill/>
          <a:ln/>
        </p:spPr>
        <p:txBody>
          <a:bodyPr wrap="square" lIns="0" tIns="0" rIns="0" bIns="0" rtlCol="0" anchor="ctr"/>
          <a:lstStyle/>
          <a:p>
            <a:pPr algn="ctr" indent="0" marL="0">
              <a:buNone/>
            </a:pPr>
            <a:r>
              <a:rPr lang="en-US" sz="1600" dirty="0">
                <a:solidFill>
                  <a:schemeClr val="bg1"/>
                </a:solidFill>
              </a:rPr>
              <a:t>Paolo Villanueva</a:t>
            </a:r>
            <a:endParaRPr lang="en-US" sz="1600" dirty="0"/>
          </a:p>
        </p:txBody>
      </p:sp>
      <p:sp>
        <p:nvSpPr>
          <p:cNvPr id="11" name="Text 276"/>
          <p:cNvSpPr txBox="1"/>
          <p:nvPr/>
        </p:nvSpPr>
        <p:spPr>
          <a:xfrm>
            <a:off x="457200" y="3840480"/>
            <a:ext cx="8229600" cy="274320"/>
          </a:xfrm>
          <a:prstGeom prst="rect">
            <a:avLst/>
          </a:prstGeom>
          <a:noFill/>
          <a:ln/>
        </p:spPr>
        <p:txBody>
          <a:bodyPr wrap="square" lIns="0" tIns="0" rIns="0" bIns="0" rtlCol="0" anchor="ctr"/>
          <a:lstStyle/>
          <a:p>
            <a:pPr algn="ctr" indent="0" marL="0">
              <a:buNone/>
            </a:pPr>
            <a:r>
              <a:rPr lang="en-US" sz="1400" dirty="0">
                <a:solidFill>
                  <a:schemeClr val="bg1"/>
                </a:solidFill>
              </a:rPr>
              <a:t>Project adviser: Prof. Evicen Flores</a:t>
            </a:r>
            <a:endParaRPr lang="en-US" sz="1400" dirty="0"/>
          </a:p>
        </p:txBody>
      </p:sp>
      <p:sp>
        <p:nvSpPr>
          <p:cNvPr id="12" name="Text 277"/>
          <p:cNvSpPr txBox="1"/>
          <p:nvPr/>
        </p:nvSpPr>
        <p:spPr>
          <a:xfrm>
            <a:off x="457200" y="4251960"/>
            <a:ext cx="8229600" cy="274320"/>
          </a:xfrm>
          <a:prstGeom prst="rect">
            <a:avLst/>
          </a:prstGeom>
          <a:noFill/>
          <a:ln/>
        </p:spPr>
        <p:txBody>
          <a:bodyPr wrap="square" lIns="0" tIns="0" rIns="0" bIns="0" rtlCol="0" anchor="ctr"/>
          <a:lstStyle/>
          <a:p>
            <a:pPr algn="ctr" indent="0" marL="0">
              <a:buNone/>
            </a:pPr>
            <a:r>
              <a:rPr lang="en-US" sz="1200" dirty="0">
                <a:solidFill>
                  <a:schemeClr val="accent2"/>
                </a:solidFill>
              </a:rPr>
              <a:t>With thanks to the Holy Angel University Clinic</a:t>
            </a:r>
            <a:endParaRPr lang="en-US" sz="1200" dirty="0"/>
          </a:p>
        </p:txBody>
      </p:sp>
    </p:spTree>
  </p:cSld>
  <p:clrMapOvr>
    <a:masterClrMapping/>
  </p:clrMapOvr>
</p:sld>
</file>

<file path=ppt/theme/theme1.xml><?xml version="1.0" encoding="utf-8"?>
<a:theme xmlns:a="http://schemas.openxmlformats.org/drawingml/2006/main" name="HAU-Sync">
  <a:themeElements>
    <a:clrScheme name="HAU-Sync">
      <a:dk1>
        <a:srgbClr val="1F1D1D"/>
      </a:dk1>
      <a:lt1>
        <a:srgbClr val="FFFFFF"/>
      </a:lt1>
      <a:dk2>
        <a:srgbClr val="7A1C2A"/>
      </a:dk2>
      <a:lt2>
        <a:srgbClr val="F8EEEF"/>
      </a:lt2>
      <a:accent1>
        <a:srgbClr val="7A1C2A"/>
      </a:accent1>
      <a:accent2>
        <a:srgbClr val="C9A227"/>
      </a:accent2>
      <a:accent3>
        <a:srgbClr val="2E2C2C"/>
      </a:accent3>
      <a:accent4>
        <a:srgbClr val="6E6A69"/>
      </a:accent4>
      <a:accent5>
        <a:srgbClr val="1B7A3D"/>
      </a:accent5>
      <a:accent6>
        <a:srgbClr val="E4E2E0"/>
      </a:accent6>
      <a:hlink>
        <a:srgbClr val="7A1C2A"/>
      </a:hlink>
      <a:folHlink>
        <a:srgbClr val="6E6A69"/>
      </a:folHlink>
    </a:clrScheme>
    <a:fontScheme name="HAU-Syn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HAU-Sync video presentation</dc:title>
  <dc:subject>PptxGenJS Presentation</dc:subject>
  <dc:creator>CS-302</dc:creator>
  <cp:lastModifiedBy>CS-302</cp:lastModifiedBy>
  <cp:revision>1</cp:revision>
  <dcterms:created xsi:type="dcterms:W3CDTF">2026-10-07T13:40:13Z</dcterms:created>
  <dcterms:modified xsi:type="dcterms:W3CDTF">2026-10-07T13:40:13Z</dcterms:modified>
</cp:coreProperties>
</file>