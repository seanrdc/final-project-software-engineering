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54601c6d-7563-b5b0-1f20-7145749fca56}">
          <p14:sldIdLst>
            <p14:sldId id="256"/>
            <p14:sldId id="257"/>
            <p14:sldId id="258"/>
          </p14:sldIdLst>
        </p14:section>
        <p14:section name="The screens" id="{456d0e11-38e4-9bcb-00a2-42589b8c7dde}">
          <p14:sldIdLst>
            <p14:sldId id="259"/>
            <p14:sldId id="260"/>
            <p14:sldId id="261"/>
            <p14:sldId id="262"/>
            <p14:sldId id="263"/>
            <p14:sldId id="264"/>
            <p14:sldId id="265"/>
          </p14:sldIdLst>
        </p14:section>
        <p14:section name="Privacy and progress" id="{b05d925d-f18f-0d85-4838-f3c0201ea833}">
          <p14:sldIdLst>
            <p14:sldId id="266"/>
            <p14:sldId id="267"/>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and the project. HAU-Sync is our CS-302 final project, made for the University Clinic. Today we show the goal of the system and how far it has come. All data on screen is made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our interview with the Clinic Coordinator: the patient log, the patient records and the medicine inventory are all kept on paper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goal in one sentence: the front desk logs a patient, the nurse records the visit, and the doctor sees the same record right away. The system runs on the clinic’s own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main menu. It shows who is in the clinic now, today’s appointments, medicines running low and notifications. When one station changes something, the others see it without reloading.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walk-ins: find the patient, tap the complaint, check in. Patients with an appointment today are listed at the side. A visit written on paper earlier can also be entered for a past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list on the left is today’s visits. Opening one shows the visit record on the right. The nurse and the doctor work on the same record, and only one of them can edit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patient record opens with the alerts first: allergies, medical conditions and activity restrictions. Below are personal details, the guardian, and every past visit. Patients are archived, never deleted.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Clinic staff book and reschedule appointments. They start as pending until the coordinator confirms. When the patient arrives, one tap starts the visit.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Releasing medicine during a visit lowers the stock automatically. Medicines at or below their threshold are marked low stock and appear on the dashboard. The release log lists every release.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Reports are ready for any date range, with presets for the semesters and the summer term. The figures can be downloaded or saved. The numbers shown here come from made-up demo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Patient data is confidential under the Data Privacy Act of 2012 (RA 10173). Nothing leaves the clinic’s computers, each role is limited to its own work, and every view or change of patient data is written to the audit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Phases 1 to 4 are finished: proposal, requirements from the interview, the database and security, and every screen. We are now in Phase 5, testing. The urgent-case queue was left out of this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happens next, and what we need from the clinic: a walkthrough with clinic personnel and their feedback, before we install the system on the clinic’s computer and turn it 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clinic and open the floor for questions and suggestions.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874520"/>
            <a:ext cx="4206240" cy="86868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3" name="Text 0"/>
          <p:cNvSpPr/>
          <p:nvPr>
            <p:ph idx="101" type="body" hasCustomPrompt="1"/>
          </p:nvPr>
        </p:nvSpPr>
        <p:spPr>
          <a:xfrm>
            <a:off x="548640" y="2788920"/>
            <a:ext cx="3931920" cy="822960"/>
          </a:xfrm>
          <a:prstGeom prst="rect">
            <a:avLst/>
          </a:prstGeom>
          <a:noFill/>
          <a:ln/>
        </p:spPr>
        <p:txBody>
          <a:bodyPr wrap="square" rtlCol="0"/>
          <a:lstStyle>
            <a:lvl1pPr algn="l" indent="0" marL="0">
              <a:buNone/>
              <a:defRPr lang="en-US" sz="1800" dirty="0">
                <a:solidFill>
                  <a:schemeClr val="bg1"/>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3" name="Text 0"/>
          <p:cNvSpPr/>
          <p:nvPr/>
        </p:nvSpPr>
        <p:spPr>
          <a:xfrm>
            <a:off x="457200" y="4754880"/>
            <a:ext cx="4572000" cy="228600"/>
          </a:xfrm>
          <a:prstGeom prst="rect">
            <a:avLst/>
          </a:prstGeom>
          <a:noFill/>
          <a:ln/>
        </p:spPr>
        <p:txBody>
          <a:bodyPr wrap="square" lIns="0" tIns="0" rIns="0" bIns="0" rtlCol="0" anchor="ctr"/>
          <a:lstStyle/>
          <a:p>
            <a:pPr indent="0" marL="0">
              <a:buNone/>
            </a:pPr>
            <a:r>
              <a:rPr lang="en-US" sz="1000" dirty="0">
                <a:solidFill>
                  <a:srgbClr val="6E6A69"/>
                </a:solidFill>
              </a:rPr>
              <a:t>HAU-Sync · University Clinic</a:t>
            </a:r>
            <a:endParaRPr lang="en-US" sz="1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E6A69"/>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914400"/>
            <a:ext cx="8046720" cy="82296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548640" y="1783080"/>
            <a:ext cx="8046720" cy="457200"/>
          </a:xfrm>
          <a:prstGeom prst="rect">
            <a:avLst/>
          </a:prstGeom>
          <a:noFill/>
          <a:ln/>
        </p:spPr>
        <p:txBody>
          <a:bodyPr wrap="square" rtlCol="0"/>
          <a:lstStyle>
            <a:lvl1pPr algn="l" indent="0" marL="0">
              <a:buNone/>
              <a:defRPr lang="en-US" sz="1800" dirty="0">
                <a:solidFill>
                  <a:schemeClr val="bg1"/>
                </a:solidFill>
              </a:defRPr>
            </a:lvl1pPr>
          </a:lstStyle>
          <a:p>
            <a:pPr algn="l" indent="0" marL="0">
              <a:buNone/>
            </a:pPr>
            <a:endParaRPr lang="en-US" sz="1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E6A69"/>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3.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3.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3.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3.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3.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eal circle"/>
          <p:cNvSpPr/>
          <p:nvPr/>
        </p:nvSpPr>
        <p:spPr>
          <a:xfrm>
            <a:off x="548640" y="685800"/>
            <a:ext cx="960120" cy="960120"/>
          </a:xfrm>
          <a:prstGeom prst="ellipse">
            <a:avLst/>
          </a:prstGeom>
          <a:solidFill>
            <a:schemeClr val="bg1"/>
          </a:solidFill>
          <a:ln/>
        </p:spPr>
      </p:sp>
      <p:pic>
        <p:nvPicPr>
          <p:cNvPr id="3" name="HAU seal" descr="preencoded.png">    </p:cNvPr>
          <p:cNvPicPr>
            <a:picLocks noChangeAspect="1"/>
          </p:cNvPicPr>
          <p:nvPr/>
        </p:nvPicPr>
        <p:blipFill>
          <a:blip r:embed="rId1"/>
          <a:stretch>
            <a:fillRect/>
          </a:stretch>
        </p:blipFill>
        <p:spPr>
          <a:xfrm>
            <a:off x="617220" y="754380"/>
            <a:ext cx="822960" cy="822960"/>
          </a:xfrm>
          <a:prstGeom prst="rect">
            <a:avLst/>
          </a:prstGeom>
        </p:spPr>
      </p:pic>
      <p:sp>
        <p:nvSpPr>
          <p:cNvPr id="4" name="Text 0"/>
          <p:cNvSpPr/>
          <p:nvPr>
            <p:ph idx="100" type="title" hasCustomPrompt="1"/>
          </p:nvPr>
        </p:nvSpPr>
        <p:spPr>
          <a:xfrm>
            <a:off x="548640" y="1874520"/>
            <a:ext cx="4206240" cy="868680"/>
          </a:xfrm>
          <a:prstGeom prst="rect">
            <a:avLst/>
          </a:prstGeom>
          <a:noFill/>
          <a:ln/>
        </p:spPr>
        <p:txBody>
          <a:bodyPr wrap="square" lIns="0" tIns="0" rIns="0" bIns="0" rtlCol="0" anchor="ctr"/>
          <a:lstStyle/>
          <a:p>
            <a:pPr algn="l" indent="0" marL="0">
              <a:buNone/>
            </a:pPr>
            <a:r>
              <a:rPr lang="en-US" sz="5400" b="1" dirty="0">
                <a:solidFill>
                  <a:schemeClr val="bg1"/>
                </a:solidFill>
              </a:rPr>
              <a:t>HAU-Sync</a:t>
            </a:r>
            <a:endParaRPr lang="en-US" sz="5400" dirty="0"/>
          </a:p>
        </p:txBody>
      </p:sp>
      <p:sp>
        <p:nvSpPr>
          <p:cNvPr id="5" name="Text 0"/>
          <p:cNvSpPr/>
          <p:nvPr>
            <p:ph idx="101" type="body" hasCustomPrompt="1"/>
          </p:nvPr>
        </p:nvSpPr>
        <p:spPr>
          <a:xfrm>
            <a:off x="548640" y="2788920"/>
            <a:ext cx="3931920" cy="822960"/>
          </a:xfrm>
          <a:prstGeom prst="rect">
            <a:avLst/>
          </a:prstGeom>
          <a:noFill/>
          <a:ln/>
        </p:spPr>
        <p:txBody>
          <a:bodyPr wrap="square" lIns="0" tIns="0" rIns="0" bIns="0" rtlCol="0" anchor="t"/>
          <a:lstStyle/>
          <a:p>
            <a:pPr algn="l" indent="0" marL="0">
              <a:buNone/>
            </a:pPr>
            <a:r>
              <a:rPr lang="en-US" sz="1800" dirty="0">
                <a:solidFill>
                  <a:schemeClr val="bg1"/>
                </a:solidFill>
              </a:rPr>
              <a:t>Patient records and appointments for the University Clinic</a:t>
            </a:r>
            <a:endParaRPr lang="en-US" sz="1800" dirty="0"/>
          </a:p>
        </p:txBody>
      </p:sp>
      <p:sp>
        <p:nvSpPr>
          <p:cNvPr id="6" name="Byline"/>
          <p:cNvSpPr txBox="1"/>
          <p:nvPr/>
        </p:nvSpPr>
        <p:spPr>
          <a:xfrm>
            <a:off x="548640" y="4343400"/>
            <a:ext cx="3931920" cy="274320"/>
          </a:xfrm>
          <a:prstGeom prst="rect">
            <a:avLst/>
          </a:prstGeom>
          <a:noFill/>
          <a:ln/>
        </p:spPr>
        <p:txBody>
          <a:bodyPr wrap="square" lIns="0" tIns="0" rIns="0" bIns="0" rtlCol="0" anchor="ctr"/>
          <a:lstStyle/>
          <a:p>
            <a:pPr indent="0" marL="0">
              <a:buNone/>
            </a:pPr>
            <a:r>
              <a:rPr lang="en-US" sz="1200" dirty="0">
                <a:solidFill>
                  <a:schemeClr val="bg1"/>
                </a:solidFill>
              </a:rPr>
              <a:t>Holy Angel University · CS-302</a:t>
            </a:r>
            <a:endParaRPr lang="en-US" sz="1200" dirty="0"/>
          </a:p>
        </p:txBody>
      </p:sp>
      <p:sp>
        <p:nvSpPr>
          <p:cNvPr id="7" name="Dashboard screenshot frame"/>
          <p:cNvSpPr/>
          <p:nvPr/>
        </p:nvSpPr>
        <p:spPr>
          <a:xfrm>
            <a:off x="4937760" y="868680"/>
            <a:ext cx="5440680" cy="3401568"/>
          </a:xfrm>
          <a:prstGeom prst="rect">
            <a:avLst/>
          </a:prstGeom>
          <a:solidFill>
            <a:schemeClr val="bg1"/>
          </a:solidFill>
          <a:ln w="9525">
            <a:solidFill>
              <a:srgbClr val="E4E2E0"/>
            </a:solidFill>
            <a:prstDash val="solid"/>
          </a:ln>
          <a:effectLst>
            <a:outerShdw sx="100000" sy="100000" kx="0" ky="0" algn="bl" rotWithShape="0" blurRad="127000" dist="38100" dir="5400000">
              <a:srgbClr val="000000">
                <a:alpha val="18000"/>
              </a:srgbClr>
            </a:outerShdw>
          </a:effectLst>
        </p:spPr>
      </p:sp>
      <p:pic>
        <p:nvPicPr>
          <p:cNvPr id="8" name="Dashboard screenshot" descr="preencoded.png">    </p:cNvPr>
          <p:cNvPicPr>
            <a:picLocks noChangeAspect="1"/>
          </p:cNvPicPr>
          <p:nvPr/>
        </p:nvPicPr>
        <p:blipFill>
          <a:blip r:embed="rId2"/>
          <a:stretch>
            <a:fillRect/>
          </a:stretch>
        </p:blipFill>
        <p:spPr>
          <a:xfrm>
            <a:off x="4937760" y="868680"/>
            <a:ext cx="5440680" cy="340156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rPr>
              <a:t>Today, the clinic works on paper</a:t>
            </a:r>
            <a:endParaRPr lang="en-US" sz="3200" dirty="0"/>
          </a:p>
        </p:txBody>
      </p:sp>
      <p:sp>
        <p:nvSpPr>
          <p:cNvPr id="3" name="Lead"/>
          <p:cNvSpPr txBox="1"/>
          <p:nvPr/>
        </p:nvSpPr>
        <p:spPr>
          <a:xfrm>
            <a:off x="457200" y="1737360"/>
            <a:ext cx="3291840" cy="457200"/>
          </a:xfrm>
          <a:prstGeom prst="rect">
            <a:avLst/>
          </a:prstGeom>
          <a:noFill/>
          <a:ln/>
        </p:spPr>
        <p:txBody>
          <a:bodyPr wrap="square" lIns="0" tIns="0" rIns="0" bIns="0" rtlCol="0" anchor="ctr"/>
          <a:lstStyle/>
          <a:p>
            <a:pPr indent="0" marL="0">
              <a:buNone/>
            </a:pPr>
            <a:r>
              <a:rPr lang="en-US" sz="2000" b="1" dirty="0">
                <a:solidFill>
                  <a:schemeClr val="tx1"/>
                </a:solidFill>
              </a:rPr>
              <a:t>Three things are kept by hand.</a:t>
            </a:r>
            <a:endParaRPr lang="en-US" sz="2000" dirty="0"/>
          </a:p>
        </p:txBody>
      </p:sp>
      <p:sp>
        <p:nvSpPr>
          <p:cNvPr id="4" name="Lead detail"/>
          <p:cNvSpPr txBox="1"/>
          <p:nvPr/>
        </p:nvSpPr>
        <p:spPr>
          <a:xfrm>
            <a:off x="457200" y="2286000"/>
            <a:ext cx="3108960" cy="914400"/>
          </a:xfrm>
          <a:prstGeom prst="rect">
            <a:avLst/>
          </a:prstGeom>
          <a:noFill/>
          <a:ln/>
        </p:spPr>
        <p:txBody>
          <a:bodyPr wrap="square" lIns="0" tIns="0" rIns="0" bIns="0" rtlCol="0" anchor="t"/>
          <a:lstStyle/>
          <a:p>
            <a:pPr indent="0" marL="0">
              <a:buNone/>
            </a:pPr>
            <a:r>
              <a:rPr lang="en-US" sz="1500" dirty="0">
                <a:solidFill>
                  <a:srgbClr val="6E6A69"/>
                </a:solidFill>
              </a:rPr>
              <a:t>Paper is slow to pass from the front desk to the nurse and the doctor.</a:t>
            </a:r>
            <a:endParaRPr lang="en-US" sz="1500" dirty="0"/>
          </a:p>
        </p:txBody>
      </p:sp>
      <p:sp>
        <p:nvSpPr>
          <p:cNvPr id="5" name="Paper item 1"/>
          <p:cNvSpPr/>
          <p:nvPr/>
        </p:nvSpPr>
        <p:spPr>
          <a:xfrm>
            <a:off x="4206240" y="1325880"/>
            <a:ext cx="4480560" cy="868680"/>
          </a:xfrm>
          <a:prstGeom prst="roundRect">
            <a:avLst>
              <a:gd name="adj" fmla="val 8421"/>
            </a:avLst>
          </a:prstGeom>
          <a:solidFill>
            <a:schemeClr val="bg2"/>
          </a:solidFill>
          <a:ln/>
        </p:spPr>
      </p:sp>
      <p:sp>
        <p:nvSpPr>
          <p:cNvPr id="6" name="Paper item 1 circle"/>
          <p:cNvSpPr/>
          <p:nvPr/>
        </p:nvSpPr>
        <p:spPr>
          <a:xfrm>
            <a:off x="4434840" y="1508760"/>
            <a:ext cx="502920" cy="502920"/>
          </a:xfrm>
          <a:prstGeom prst="ellipse">
            <a:avLst/>
          </a:prstGeom>
          <a:solidFill>
            <a:schemeClr val="accent1"/>
          </a:solidFill>
          <a:ln/>
        </p:spPr>
      </p:sp>
      <p:pic>
        <p:nvPicPr>
          <p:cNvPr id="7" name="Paper item 1 icon" descr="preencoded.png">    </p:cNvPr>
          <p:cNvPicPr>
            <a:picLocks noChangeAspect="1"/>
          </p:cNvPicPr>
          <p:nvPr/>
        </p:nvPicPr>
        <p:blipFill>
          <a:blip r:embed="rId1"/>
          <a:stretch>
            <a:fillRect/>
          </a:stretch>
        </p:blipFill>
        <p:spPr>
          <a:xfrm>
            <a:off x="4570628" y="1644548"/>
            <a:ext cx="231343" cy="231343"/>
          </a:xfrm>
          <a:prstGeom prst="rect">
            <a:avLst/>
          </a:prstGeom>
        </p:spPr>
      </p:pic>
      <p:sp>
        <p:nvSpPr>
          <p:cNvPr id="8" name="Paper item 1 text"/>
          <p:cNvSpPr txBox="1"/>
          <p:nvPr/>
        </p:nvSpPr>
        <p:spPr>
          <a:xfrm>
            <a:off x="5166360" y="1325880"/>
            <a:ext cx="3291840" cy="868680"/>
          </a:xfrm>
          <a:prstGeom prst="rect">
            <a:avLst/>
          </a:prstGeom>
          <a:noFill/>
          <a:ln/>
        </p:spPr>
        <p:txBody>
          <a:bodyPr wrap="square" lIns="0" tIns="0" rIns="0" bIns="0" rtlCol="0" anchor="ctr"/>
          <a:lstStyle/>
          <a:p>
            <a:pPr indent="0" marL="0">
              <a:buNone/>
            </a:pPr>
            <a:r>
              <a:rPr lang="en-US" sz="2000" b="1" dirty="0">
                <a:solidFill>
                  <a:schemeClr val="tx1"/>
                </a:solidFill>
              </a:rPr>
              <a:t>Patient log</a:t>
            </a:r>
            <a:endParaRPr lang="en-US" sz="2000" dirty="0"/>
          </a:p>
        </p:txBody>
      </p:sp>
      <p:sp>
        <p:nvSpPr>
          <p:cNvPr id="9" name="Paper item 2"/>
          <p:cNvSpPr/>
          <p:nvPr/>
        </p:nvSpPr>
        <p:spPr>
          <a:xfrm>
            <a:off x="4206240" y="2377440"/>
            <a:ext cx="4480560" cy="868680"/>
          </a:xfrm>
          <a:prstGeom prst="roundRect">
            <a:avLst>
              <a:gd name="adj" fmla="val 8421"/>
            </a:avLst>
          </a:prstGeom>
          <a:solidFill>
            <a:schemeClr val="bg2"/>
          </a:solidFill>
          <a:ln/>
        </p:spPr>
      </p:sp>
      <p:sp>
        <p:nvSpPr>
          <p:cNvPr id="10" name="Paper item 2 circle"/>
          <p:cNvSpPr/>
          <p:nvPr/>
        </p:nvSpPr>
        <p:spPr>
          <a:xfrm>
            <a:off x="4434840" y="2560320"/>
            <a:ext cx="502920" cy="502920"/>
          </a:xfrm>
          <a:prstGeom prst="ellipse">
            <a:avLst/>
          </a:prstGeom>
          <a:solidFill>
            <a:schemeClr val="accent1"/>
          </a:solidFill>
          <a:ln/>
        </p:spPr>
      </p:sp>
      <p:pic>
        <p:nvPicPr>
          <p:cNvPr id="11" name="Paper item 2 icon" descr="preencoded.png">    </p:cNvPr>
          <p:cNvPicPr>
            <a:picLocks noChangeAspect="1"/>
          </p:cNvPicPr>
          <p:nvPr/>
        </p:nvPicPr>
        <p:blipFill>
          <a:blip r:embed="rId2"/>
          <a:stretch>
            <a:fillRect/>
          </a:stretch>
        </p:blipFill>
        <p:spPr>
          <a:xfrm>
            <a:off x="4570628" y="2696108"/>
            <a:ext cx="231343" cy="231343"/>
          </a:xfrm>
          <a:prstGeom prst="rect">
            <a:avLst/>
          </a:prstGeom>
        </p:spPr>
      </p:pic>
      <p:sp>
        <p:nvSpPr>
          <p:cNvPr id="12" name="Paper item 2 text"/>
          <p:cNvSpPr txBox="1"/>
          <p:nvPr/>
        </p:nvSpPr>
        <p:spPr>
          <a:xfrm>
            <a:off x="5166360" y="2377440"/>
            <a:ext cx="3291840" cy="868680"/>
          </a:xfrm>
          <a:prstGeom prst="rect">
            <a:avLst/>
          </a:prstGeom>
          <a:noFill/>
          <a:ln/>
        </p:spPr>
        <p:txBody>
          <a:bodyPr wrap="square" lIns="0" tIns="0" rIns="0" bIns="0" rtlCol="0" anchor="ctr"/>
          <a:lstStyle/>
          <a:p>
            <a:pPr indent="0" marL="0">
              <a:buNone/>
            </a:pPr>
            <a:r>
              <a:rPr lang="en-US" sz="2000" b="1" dirty="0">
                <a:solidFill>
                  <a:schemeClr val="tx1"/>
                </a:solidFill>
              </a:rPr>
              <a:t>Patient records</a:t>
            </a:r>
            <a:endParaRPr lang="en-US" sz="2000" dirty="0"/>
          </a:p>
        </p:txBody>
      </p:sp>
      <p:sp>
        <p:nvSpPr>
          <p:cNvPr id="13" name="Paper item 3"/>
          <p:cNvSpPr/>
          <p:nvPr/>
        </p:nvSpPr>
        <p:spPr>
          <a:xfrm>
            <a:off x="4206240" y="3429000"/>
            <a:ext cx="4480560" cy="868680"/>
          </a:xfrm>
          <a:prstGeom prst="roundRect">
            <a:avLst>
              <a:gd name="adj" fmla="val 8421"/>
            </a:avLst>
          </a:prstGeom>
          <a:solidFill>
            <a:schemeClr val="bg2"/>
          </a:solidFill>
          <a:ln/>
        </p:spPr>
      </p:sp>
      <p:sp>
        <p:nvSpPr>
          <p:cNvPr id="14" name="Paper item 3 circle"/>
          <p:cNvSpPr/>
          <p:nvPr/>
        </p:nvSpPr>
        <p:spPr>
          <a:xfrm>
            <a:off x="4434840" y="3611880"/>
            <a:ext cx="502920" cy="502920"/>
          </a:xfrm>
          <a:prstGeom prst="ellipse">
            <a:avLst/>
          </a:prstGeom>
          <a:solidFill>
            <a:schemeClr val="accent1"/>
          </a:solidFill>
          <a:ln/>
        </p:spPr>
      </p:sp>
      <p:pic>
        <p:nvPicPr>
          <p:cNvPr id="15" name="Paper item 3 icon" descr="preencoded.png">    </p:cNvPr>
          <p:cNvPicPr>
            <a:picLocks noChangeAspect="1"/>
          </p:cNvPicPr>
          <p:nvPr/>
        </p:nvPicPr>
        <p:blipFill>
          <a:blip r:embed="rId3"/>
          <a:stretch>
            <a:fillRect/>
          </a:stretch>
        </p:blipFill>
        <p:spPr>
          <a:xfrm>
            <a:off x="4570628" y="3747668"/>
            <a:ext cx="231343" cy="231343"/>
          </a:xfrm>
          <a:prstGeom prst="rect">
            <a:avLst/>
          </a:prstGeom>
        </p:spPr>
      </p:pic>
      <p:sp>
        <p:nvSpPr>
          <p:cNvPr id="16" name="Paper item 3 text"/>
          <p:cNvSpPr txBox="1"/>
          <p:nvPr/>
        </p:nvSpPr>
        <p:spPr>
          <a:xfrm>
            <a:off x="5166360" y="3429000"/>
            <a:ext cx="3291840" cy="868680"/>
          </a:xfrm>
          <a:prstGeom prst="rect">
            <a:avLst/>
          </a:prstGeom>
          <a:noFill/>
          <a:ln/>
        </p:spPr>
        <p:txBody>
          <a:bodyPr wrap="square" lIns="0" tIns="0" rIns="0" bIns="0" rtlCol="0" anchor="ctr"/>
          <a:lstStyle/>
          <a:p>
            <a:pPr indent="0" marL="0">
              <a:buNone/>
            </a:pPr>
            <a:r>
              <a:rPr lang="en-US" sz="2000" b="1" dirty="0">
                <a:solidFill>
                  <a:schemeClr val="tx1"/>
                </a:solidFill>
              </a:rPr>
              <a:t>Medicine inventory</a:t>
            </a:r>
            <a:endParaRPr lang="en-US" sz="2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E6A69"/>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rPr>
              <a:t>Our goal: one record, shared by everyone</a:t>
            </a:r>
            <a:endParaRPr lang="en-US" sz="3200" dirty="0"/>
          </a:p>
        </p:txBody>
      </p:sp>
      <p:sp>
        <p:nvSpPr>
          <p:cNvPr id="3" name="Step 1 card"/>
          <p:cNvSpPr/>
          <p:nvPr/>
        </p:nvSpPr>
        <p:spPr>
          <a:xfrm>
            <a:off x="457200" y="1325880"/>
            <a:ext cx="2377440" cy="2103120"/>
          </a:xfrm>
          <a:prstGeom prst="roundRect">
            <a:avLst>
              <a:gd name="adj" fmla="val 3478"/>
            </a:avLst>
          </a:prstGeom>
          <a:solidFill>
            <a:schemeClr val="bg2"/>
          </a:solidFill>
          <a:ln/>
        </p:spPr>
      </p:sp>
      <p:sp>
        <p:nvSpPr>
          <p:cNvPr id="4" name="Step 1 circle"/>
          <p:cNvSpPr/>
          <p:nvPr/>
        </p:nvSpPr>
        <p:spPr>
          <a:xfrm>
            <a:off x="1325880" y="1554480"/>
            <a:ext cx="640080" cy="640080"/>
          </a:xfrm>
          <a:prstGeom prst="ellipse">
            <a:avLst/>
          </a:prstGeom>
          <a:solidFill>
            <a:schemeClr val="accent1"/>
          </a:solidFill>
          <a:ln/>
        </p:spPr>
      </p:sp>
      <p:pic>
        <p:nvPicPr>
          <p:cNvPr id="5" name="Step 1 icon" descr="preencoded.png">    </p:cNvPr>
          <p:cNvPicPr>
            <a:picLocks noChangeAspect="1"/>
          </p:cNvPicPr>
          <p:nvPr/>
        </p:nvPicPr>
        <p:blipFill>
          <a:blip r:embed="rId1"/>
          <a:stretch>
            <a:fillRect/>
          </a:stretch>
        </p:blipFill>
        <p:spPr>
          <a:xfrm>
            <a:off x="1498702" y="1727302"/>
            <a:ext cx="294437" cy="294437"/>
          </a:xfrm>
          <a:prstGeom prst="rect">
            <a:avLst/>
          </a:prstGeom>
        </p:spPr>
      </p:pic>
      <p:sp>
        <p:nvSpPr>
          <p:cNvPr id="6" name="Step 1 title"/>
          <p:cNvSpPr txBox="1"/>
          <p:nvPr/>
        </p:nvSpPr>
        <p:spPr>
          <a:xfrm>
            <a:off x="640080" y="2331720"/>
            <a:ext cx="2011680" cy="365760"/>
          </a:xfrm>
          <a:prstGeom prst="rect">
            <a:avLst/>
          </a:prstGeom>
          <a:noFill/>
          <a:ln/>
        </p:spPr>
        <p:txBody>
          <a:bodyPr wrap="square" lIns="0" tIns="0" rIns="0" bIns="0" rtlCol="0" anchor="ctr"/>
          <a:lstStyle/>
          <a:p>
            <a:pPr algn="ctr" indent="0" marL="0">
              <a:buNone/>
            </a:pPr>
            <a:r>
              <a:rPr lang="en-US" sz="2000" b="1" dirty="0">
                <a:solidFill>
                  <a:schemeClr val="tx1"/>
                </a:solidFill>
              </a:rPr>
              <a:t>Front desk</a:t>
            </a:r>
            <a:endParaRPr lang="en-US" sz="2000" dirty="0"/>
          </a:p>
        </p:txBody>
      </p:sp>
      <p:sp>
        <p:nvSpPr>
          <p:cNvPr id="7" name="Step 1 text"/>
          <p:cNvSpPr txBox="1"/>
          <p:nvPr/>
        </p:nvSpPr>
        <p:spPr>
          <a:xfrm>
            <a:off x="640080" y="2697480"/>
            <a:ext cx="2011680" cy="548640"/>
          </a:xfrm>
          <a:prstGeom prst="rect">
            <a:avLst/>
          </a:prstGeom>
          <a:noFill/>
          <a:ln/>
        </p:spPr>
        <p:txBody>
          <a:bodyPr wrap="square" lIns="0" tIns="0" rIns="0" bIns="0" rtlCol="0" anchor="t"/>
          <a:lstStyle/>
          <a:p>
            <a:pPr algn="ctr" indent="0" marL="0">
              <a:buNone/>
            </a:pPr>
            <a:r>
              <a:rPr lang="en-US" sz="1500" dirty="0">
                <a:solidFill>
                  <a:srgbClr val="6E6A69"/>
                </a:solidFill>
              </a:rPr>
              <a:t>logs the patient</a:t>
            </a:r>
            <a:endParaRPr lang="en-US" sz="1500" dirty="0"/>
          </a:p>
        </p:txBody>
      </p:sp>
      <p:pic>
        <p:nvPicPr>
          <p:cNvPr id="8" name="Arrow 1" descr="preencoded.png">    </p:cNvPr>
          <p:cNvPicPr>
            <a:picLocks noChangeAspect="1"/>
          </p:cNvPicPr>
          <p:nvPr/>
        </p:nvPicPr>
        <p:blipFill>
          <a:blip r:embed="rId2"/>
          <a:stretch>
            <a:fillRect/>
          </a:stretch>
        </p:blipFill>
        <p:spPr>
          <a:xfrm>
            <a:off x="2971800" y="2240280"/>
            <a:ext cx="274320" cy="274320"/>
          </a:xfrm>
          <a:prstGeom prst="rect">
            <a:avLst/>
          </a:prstGeom>
        </p:spPr>
      </p:pic>
      <p:sp>
        <p:nvSpPr>
          <p:cNvPr id="9" name="Step 2 card"/>
          <p:cNvSpPr/>
          <p:nvPr/>
        </p:nvSpPr>
        <p:spPr>
          <a:xfrm>
            <a:off x="3383280" y="1325880"/>
            <a:ext cx="2377440" cy="2103120"/>
          </a:xfrm>
          <a:prstGeom prst="roundRect">
            <a:avLst>
              <a:gd name="adj" fmla="val 3478"/>
            </a:avLst>
          </a:prstGeom>
          <a:solidFill>
            <a:schemeClr val="bg2"/>
          </a:solidFill>
          <a:ln/>
        </p:spPr>
      </p:sp>
      <p:sp>
        <p:nvSpPr>
          <p:cNvPr id="10" name="Step 2 circle"/>
          <p:cNvSpPr/>
          <p:nvPr/>
        </p:nvSpPr>
        <p:spPr>
          <a:xfrm>
            <a:off x="4251960" y="1554480"/>
            <a:ext cx="640080" cy="640080"/>
          </a:xfrm>
          <a:prstGeom prst="ellipse">
            <a:avLst/>
          </a:prstGeom>
          <a:solidFill>
            <a:schemeClr val="accent1"/>
          </a:solidFill>
          <a:ln/>
        </p:spPr>
      </p:sp>
      <p:pic>
        <p:nvPicPr>
          <p:cNvPr id="11" name="Step 2 icon" descr="preencoded.png">    </p:cNvPr>
          <p:cNvPicPr>
            <a:picLocks noChangeAspect="1"/>
          </p:cNvPicPr>
          <p:nvPr/>
        </p:nvPicPr>
        <p:blipFill>
          <a:blip r:embed="rId3"/>
          <a:stretch>
            <a:fillRect/>
          </a:stretch>
        </p:blipFill>
        <p:spPr>
          <a:xfrm>
            <a:off x="4424782" y="1727302"/>
            <a:ext cx="294437" cy="294437"/>
          </a:xfrm>
          <a:prstGeom prst="rect">
            <a:avLst/>
          </a:prstGeom>
        </p:spPr>
      </p:pic>
      <p:sp>
        <p:nvSpPr>
          <p:cNvPr id="12" name="Step 2 title"/>
          <p:cNvSpPr txBox="1"/>
          <p:nvPr/>
        </p:nvSpPr>
        <p:spPr>
          <a:xfrm>
            <a:off x="3566160" y="2331720"/>
            <a:ext cx="2011680" cy="365760"/>
          </a:xfrm>
          <a:prstGeom prst="rect">
            <a:avLst/>
          </a:prstGeom>
          <a:noFill/>
          <a:ln/>
        </p:spPr>
        <p:txBody>
          <a:bodyPr wrap="square" lIns="0" tIns="0" rIns="0" bIns="0" rtlCol="0" anchor="ctr"/>
          <a:lstStyle/>
          <a:p>
            <a:pPr algn="ctr" indent="0" marL="0">
              <a:buNone/>
            </a:pPr>
            <a:r>
              <a:rPr lang="en-US" sz="2000" b="1" dirty="0">
                <a:solidFill>
                  <a:schemeClr val="tx1"/>
                </a:solidFill>
              </a:rPr>
              <a:t>Nurse</a:t>
            </a:r>
            <a:endParaRPr lang="en-US" sz="2000" dirty="0"/>
          </a:p>
        </p:txBody>
      </p:sp>
      <p:sp>
        <p:nvSpPr>
          <p:cNvPr id="13" name="Step 2 text"/>
          <p:cNvSpPr txBox="1"/>
          <p:nvPr/>
        </p:nvSpPr>
        <p:spPr>
          <a:xfrm>
            <a:off x="3566160" y="2697480"/>
            <a:ext cx="2011680" cy="548640"/>
          </a:xfrm>
          <a:prstGeom prst="rect">
            <a:avLst/>
          </a:prstGeom>
          <a:noFill/>
          <a:ln/>
        </p:spPr>
        <p:txBody>
          <a:bodyPr wrap="square" lIns="0" tIns="0" rIns="0" bIns="0" rtlCol="0" anchor="t"/>
          <a:lstStyle/>
          <a:p>
            <a:pPr algn="ctr" indent="0" marL="0">
              <a:buNone/>
            </a:pPr>
            <a:r>
              <a:rPr lang="en-US" sz="1500" dirty="0">
                <a:solidFill>
                  <a:srgbClr val="6E6A69"/>
                </a:solidFill>
              </a:rPr>
              <a:t>records the visit</a:t>
            </a:r>
            <a:endParaRPr lang="en-US" sz="1500" dirty="0"/>
          </a:p>
        </p:txBody>
      </p:sp>
      <p:pic>
        <p:nvPicPr>
          <p:cNvPr id="14" name="Arrow 2" descr="preencoded.png">    </p:cNvPr>
          <p:cNvPicPr>
            <a:picLocks noChangeAspect="1"/>
          </p:cNvPicPr>
          <p:nvPr/>
        </p:nvPicPr>
        <p:blipFill>
          <a:blip r:embed="rId4"/>
          <a:stretch>
            <a:fillRect/>
          </a:stretch>
        </p:blipFill>
        <p:spPr>
          <a:xfrm>
            <a:off x="5897880" y="2240280"/>
            <a:ext cx="274320" cy="274320"/>
          </a:xfrm>
          <a:prstGeom prst="rect">
            <a:avLst/>
          </a:prstGeom>
        </p:spPr>
      </p:pic>
      <p:sp>
        <p:nvSpPr>
          <p:cNvPr id="15" name="Step 3 card"/>
          <p:cNvSpPr/>
          <p:nvPr/>
        </p:nvSpPr>
        <p:spPr>
          <a:xfrm>
            <a:off x="6309360" y="1325880"/>
            <a:ext cx="2377440" cy="2103120"/>
          </a:xfrm>
          <a:prstGeom prst="roundRect">
            <a:avLst>
              <a:gd name="adj" fmla="val 3478"/>
            </a:avLst>
          </a:prstGeom>
          <a:solidFill>
            <a:schemeClr val="bg2"/>
          </a:solidFill>
          <a:ln/>
        </p:spPr>
      </p:sp>
      <p:sp>
        <p:nvSpPr>
          <p:cNvPr id="16" name="Step 3 circle"/>
          <p:cNvSpPr/>
          <p:nvPr/>
        </p:nvSpPr>
        <p:spPr>
          <a:xfrm>
            <a:off x="7178040" y="1554480"/>
            <a:ext cx="640080" cy="640080"/>
          </a:xfrm>
          <a:prstGeom prst="ellipse">
            <a:avLst/>
          </a:prstGeom>
          <a:solidFill>
            <a:schemeClr val="accent1"/>
          </a:solidFill>
          <a:ln/>
        </p:spPr>
      </p:sp>
      <p:pic>
        <p:nvPicPr>
          <p:cNvPr id="17" name="Step 3 icon" descr="preencoded.png">    </p:cNvPr>
          <p:cNvPicPr>
            <a:picLocks noChangeAspect="1"/>
          </p:cNvPicPr>
          <p:nvPr/>
        </p:nvPicPr>
        <p:blipFill>
          <a:blip r:embed="rId5"/>
          <a:stretch>
            <a:fillRect/>
          </a:stretch>
        </p:blipFill>
        <p:spPr>
          <a:xfrm>
            <a:off x="7350862" y="1727302"/>
            <a:ext cx="294437" cy="294437"/>
          </a:xfrm>
          <a:prstGeom prst="rect">
            <a:avLst/>
          </a:prstGeom>
        </p:spPr>
      </p:pic>
      <p:sp>
        <p:nvSpPr>
          <p:cNvPr id="18" name="Step 3 title"/>
          <p:cNvSpPr txBox="1"/>
          <p:nvPr/>
        </p:nvSpPr>
        <p:spPr>
          <a:xfrm>
            <a:off x="6492240" y="2331720"/>
            <a:ext cx="2011680" cy="365760"/>
          </a:xfrm>
          <a:prstGeom prst="rect">
            <a:avLst/>
          </a:prstGeom>
          <a:noFill/>
          <a:ln/>
        </p:spPr>
        <p:txBody>
          <a:bodyPr wrap="square" lIns="0" tIns="0" rIns="0" bIns="0" rtlCol="0" anchor="ctr"/>
          <a:lstStyle/>
          <a:p>
            <a:pPr algn="ctr" indent="0" marL="0">
              <a:buNone/>
            </a:pPr>
            <a:r>
              <a:rPr lang="en-US" sz="2000" b="1" dirty="0">
                <a:solidFill>
                  <a:schemeClr val="tx1"/>
                </a:solidFill>
              </a:rPr>
              <a:t>Doctor</a:t>
            </a:r>
            <a:endParaRPr lang="en-US" sz="2000" dirty="0"/>
          </a:p>
        </p:txBody>
      </p:sp>
      <p:sp>
        <p:nvSpPr>
          <p:cNvPr id="19" name="Step 3 text"/>
          <p:cNvSpPr txBox="1"/>
          <p:nvPr/>
        </p:nvSpPr>
        <p:spPr>
          <a:xfrm>
            <a:off x="6492240" y="2697480"/>
            <a:ext cx="2011680" cy="548640"/>
          </a:xfrm>
          <a:prstGeom prst="rect">
            <a:avLst/>
          </a:prstGeom>
          <a:noFill/>
          <a:ln/>
        </p:spPr>
        <p:txBody>
          <a:bodyPr wrap="square" lIns="0" tIns="0" rIns="0" bIns="0" rtlCol="0" anchor="t"/>
          <a:lstStyle/>
          <a:p>
            <a:pPr algn="ctr" indent="0" marL="0">
              <a:buNone/>
            </a:pPr>
            <a:r>
              <a:rPr lang="en-US" sz="1500" dirty="0">
                <a:solidFill>
                  <a:srgbClr val="6E6A69"/>
                </a:solidFill>
              </a:rPr>
              <a:t>sees the same record at once</a:t>
            </a:r>
            <a:endParaRPr lang="en-US" sz="1500" dirty="0"/>
          </a:p>
        </p:txBody>
      </p:sp>
      <p:sp>
        <p:nvSpPr>
          <p:cNvPr id="20" name="Tagline"/>
          <p:cNvSpPr txBox="1"/>
          <p:nvPr/>
        </p:nvSpPr>
        <p:spPr>
          <a:xfrm>
            <a:off x="457200" y="3749040"/>
            <a:ext cx="8229600" cy="457200"/>
          </a:xfrm>
          <a:prstGeom prst="rect">
            <a:avLst/>
          </a:prstGeom>
          <a:noFill/>
          <a:ln/>
        </p:spPr>
        <p:txBody>
          <a:bodyPr wrap="square" lIns="0" tIns="0" rIns="0" bIns="0" rtlCol="0" anchor="ctr"/>
          <a:lstStyle/>
          <a:p>
            <a:pPr algn="ctr" indent="0" marL="0">
              <a:buNone/>
            </a:pPr>
            <a:r>
              <a:rPr lang="en-US" sz="1800" i="1" dirty="0">
                <a:solidFill>
                  <a:schemeClr val="tx2"/>
                </a:solidFill>
              </a:rPr>
              <a:t>No paper handed over. Nothing leaves the clinic’s computers.</a:t>
            </a:r>
            <a:endParaRPr lang="en-US" sz="18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E6A69"/>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rPr>
              <a:t>The clinic’s day on one screen</a:t>
            </a:r>
            <a:endParaRPr lang="en-US" sz="3200" dirty="0"/>
          </a:p>
        </p:txBody>
      </p:sp>
      <p:sp>
        <p:nvSpPr>
          <p:cNvPr id="3" name="Point 1 circle"/>
          <p:cNvSpPr/>
          <p:nvPr/>
        </p:nvSpPr>
        <p:spPr>
          <a:xfrm>
            <a:off x="457200" y="1691640"/>
            <a:ext cx="457200" cy="457200"/>
          </a:xfrm>
          <a:prstGeom prst="ellipse">
            <a:avLst/>
          </a:prstGeom>
          <a:solidFill>
            <a:schemeClr val="accent1"/>
          </a:solidFill>
          <a:ln/>
        </p:spPr>
      </p:sp>
      <p:pic>
        <p:nvPicPr>
          <p:cNvPr id="4" name="Point 1 icon" descr="preencoded.png">    </p:cNvPr>
          <p:cNvPicPr>
            <a:picLocks noChangeAspect="1"/>
          </p:cNvPicPr>
          <p:nvPr/>
        </p:nvPicPr>
        <p:blipFill>
          <a:blip r:embed="rId1"/>
          <a:stretch>
            <a:fillRect/>
          </a:stretch>
        </p:blipFill>
        <p:spPr>
          <a:xfrm>
            <a:off x="580644" y="1815084"/>
            <a:ext cx="210312" cy="210312"/>
          </a:xfrm>
          <a:prstGeom prst="rect">
            <a:avLst/>
          </a:prstGeom>
        </p:spPr>
      </p:pic>
      <p:sp>
        <p:nvSpPr>
          <p:cNvPr id="5" name="Point 1 text"/>
          <p:cNvSpPr txBox="1"/>
          <p:nvPr/>
        </p:nvSpPr>
        <p:spPr>
          <a:xfrm>
            <a:off x="1078992" y="1554480"/>
            <a:ext cx="1984248" cy="731520"/>
          </a:xfrm>
          <a:prstGeom prst="rect">
            <a:avLst/>
          </a:prstGeom>
          <a:noFill/>
          <a:ln/>
        </p:spPr>
        <p:txBody>
          <a:bodyPr wrap="square" lIns="0" tIns="0" rIns="0" bIns="0" rtlCol="0" anchor="ctr"/>
          <a:lstStyle/>
          <a:p>
            <a:pPr indent="0" marL="0">
              <a:buNone/>
            </a:pPr>
            <a:r>
              <a:rPr lang="en-US" sz="1500" dirty="0">
                <a:solidFill>
                  <a:schemeClr val="tx1"/>
                </a:solidFill>
              </a:rPr>
              <a:t>Today’s visits and appointments</a:t>
            </a:r>
            <a:endParaRPr lang="en-US" sz="1500" dirty="0"/>
          </a:p>
        </p:txBody>
      </p:sp>
      <p:sp>
        <p:nvSpPr>
          <p:cNvPr id="6" name="Point 2 circle"/>
          <p:cNvSpPr/>
          <p:nvPr/>
        </p:nvSpPr>
        <p:spPr>
          <a:xfrm>
            <a:off x="457200" y="2606040"/>
            <a:ext cx="457200" cy="457200"/>
          </a:xfrm>
          <a:prstGeom prst="ellipse">
            <a:avLst/>
          </a:prstGeom>
          <a:solidFill>
            <a:schemeClr val="accent1"/>
          </a:solidFill>
          <a:ln/>
        </p:spPr>
      </p:sp>
      <p:pic>
        <p:nvPicPr>
          <p:cNvPr id="7" name="Point 2 icon" descr="preencoded.png">    </p:cNvPr>
          <p:cNvPicPr>
            <a:picLocks noChangeAspect="1"/>
          </p:cNvPicPr>
          <p:nvPr/>
        </p:nvPicPr>
        <p:blipFill>
          <a:blip r:embed="rId2"/>
          <a:stretch>
            <a:fillRect/>
          </a:stretch>
        </p:blipFill>
        <p:spPr>
          <a:xfrm>
            <a:off x="580644" y="2729484"/>
            <a:ext cx="210312" cy="210312"/>
          </a:xfrm>
          <a:prstGeom prst="rect">
            <a:avLst/>
          </a:prstGeom>
        </p:spPr>
      </p:pic>
      <p:sp>
        <p:nvSpPr>
          <p:cNvPr id="8" name="Point 2 text"/>
          <p:cNvSpPr txBox="1"/>
          <p:nvPr/>
        </p:nvSpPr>
        <p:spPr>
          <a:xfrm>
            <a:off x="1078992" y="2468880"/>
            <a:ext cx="1984248" cy="731520"/>
          </a:xfrm>
          <a:prstGeom prst="rect">
            <a:avLst/>
          </a:prstGeom>
          <a:noFill/>
          <a:ln/>
        </p:spPr>
        <p:txBody>
          <a:bodyPr wrap="square" lIns="0" tIns="0" rIns="0" bIns="0" rtlCol="0" anchor="ctr"/>
          <a:lstStyle/>
          <a:p>
            <a:pPr indent="0" marL="0">
              <a:buNone/>
            </a:pPr>
            <a:r>
              <a:rPr lang="en-US" sz="1500" dirty="0">
                <a:solidFill>
                  <a:schemeClr val="tx1"/>
                </a:solidFill>
              </a:rPr>
              <a:t>Low-stock medicines and notifications</a:t>
            </a:r>
            <a:endParaRPr lang="en-US" sz="1500" dirty="0"/>
          </a:p>
        </p:txBody>
      </p:sp>
      <p:sp>
        <p:nvSpPr>
          <p:cNvPr id="9" name="Point 3 circle"/>
          <p:cNvSpPr/>
          <p:nvPr/>
        </p:nvSpPr>
        <p:spPr>
          <a:xfrm>
            <a:off x="457200" y="3520440"/>
            <a:ext cx="457200" cy="457200"/>
          </a:xfrm>
          <a:prstGeom prst="ellipse">
            <a:avLst/>
          </a:prstGeom>
          <a:solidFill>
            <a:schemeClr val="accent1"/>
          </a:solidFill>
          <a:ln/>
        </p:spPr>
      </p:sp>
      <p:pic>
        <p:nvPicPr>
          <p:cNvPr id="10" name="Point 3 icon" descr="preencoded.png">    </p:cNvPr>
          <p:cNvPicPr>
            <a:picLocks noChangeAspect="1"/>
          </p:cNvPicPr>
          <p:nvPr/>
        </p:nvPicPr>
        <p:blipFill>
          <a:blip r:embed="rId3"/>
          <a:stretch>
            <a:fillRect/>
          </a:stretch>
        </p:blipFill>
        <p:spPr>
          <a:xfrm>
            <a:off x="580644" y="3643884"/>
            <a:ext cx="210312" cy="210312"/>
          </a:xfrm>
          <a:prstGeom prst="rect">
            <a:avLst/>
          </a:prstGeom>
        </p:spPr>
      </p:pic>
      <p:sp>
        <p:nvSpPr>
          <p:cNvPr id="11" name="Point 3 text"/>
          <p:cNvSpPr txBox="1"/>
          <p:nvPr/>
        </p:nvSpPr>
        <p:spPr>
          <a:xfrm>
            <a:off x="1078992" y="3383280"/>
            <a:ext cx="1984248" cy="731520"/>
          </a:xfrm>
          <a:prstGeom prst="rect">
            <a:avLst/>
          </a:prstGeom>
          <a:noFill/>
          <a:ln/>
        </p:spPr>
        <p:txBody>
          <a:bodyPr wrap="square" lIns="0" tIns="0" rIns="0" bIns="0" rtlCol="0" anchor="ctr"/>
          <a:lstStyle/>
          <a:p>
            <a:pPr indent="0" marL="0">
              <a:buNone/>
            </a:pPr>
            <a:r>
              <a:rPr lang="en-US" sz="1500" dirty="0">
                <a:solidFill>
                  <a:schemeClr val="tx1"/>
                </a:solidFill>
              </a:rPr>
              <a:t>Updates live at every station</a:t>
            </a:r>
            <a:endParaRPr lang="en-US" sz="1500" dirty="0"/>
          </a:p>
        </p:txBody>
      </p:sp>
      <p:sp>
        <p:nvSpPr>
          <p:cNvPr id="12" name="The clinic’s day on one screen screenshot frame"/>
          <p:cNvSpPr/>
          <p:nvPr/>
        </p:nvSpPr>
        <p:spPr>
          <a:xfrm>
            <a:off x="3383280" y="1188720"/>
            <a:ext cx="5303520" cy="3314700"/>
          </a:xfrm>
          <a:prstGeom prst="rect">
            <a:avLst/>
          </a:prstGeom>
          <a:solidFill>
            <a:schemeClr val="bg1"/>
          </a:solidFill>
          <a:ln w="9525">
            <a:solidFill>
              <a:srgbClr val="E4E2E0"/>
            </a:solidFill>
            <a:prstDash val="solid"/>
          </a:ln>
          <a:effectLst>
            <a:outerShdw sx="100000" sy="100000" kx="0" ky="0" algn="bl" rotWithShape="0" blurRad="127000" dist="38100" dir="5400000">
              <a:srgbClr val="000000">
                <a:alpha val="18000"/>
              </a:srgbClr>
            </a:outerShdw>
          </a:effectLst>
        </p:spPr>
      </p:sp>
      <p:pic>
        <p:nvPicPr>
          <p:cNvPr id="13" name="The clinic’s day on one screen screenshot" descr="preencoded.png">    </p:cNvPr>
          <p:cNvPicPr>
            <a:picLocks noChangeAspect="1"/>
          </p:cNvPicPr>
          <p:nvPr/>
        </p:nvPicPr>
        <p:blipFill>
          <a:blip r:embed="rId4"/>
          <a:stretch>
            <a:fillRect/>
          </a:stretch>
        </p:blipFill>
        <p:spPr>
          <a:xfrm>
            <a:off x="3383280" y="1188720"/>
            <a:ext cx="5303520" cy="3314700"/>
          </a:xfrm>
          <a:prstGeom prst="rect">
            <a:avLst/>
          </a:prstGeom>
        </p:spPr>
      </p:pic>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E6A69"/>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rPr>
              <a:t>Check in a patient in a few taps</a:t>
            </a:r>
            <a:endParaRPr lang="en-US" sz="3200" dirty="0"/>
          </a:p>
        </p:txBody>
      </p:sp>
      <p:sp>
        <p:nvSpPr>
          <p:cNvPr id="3" name="Check in a patient in a few taps screenshot frame"/>
          <p:cNvSpPr/>
          <p:nvPr/>
        </p:nvSpPr>
        <p:spPr>
          <a:xfrm>
            <a:off x="457200" y="1188720"/>
            <a:ext cx="5303520" cy="3314700"/>
          </a:xfrm>
          <a:prstGeom prst="rect">
            <a:avLst/>
          </a:prstGeom>
          <a:solidFill>
            <a:schemeClr val="bg1"/>
          </a:solidFill>
          <a:ln w="9525">
            <a:solidFill>
              <a:srgbClr val="E4E2E0"/>
            </a:solidFill>
            <a:prstDash val="solid"/>
          </a:ln>
          <a:effectLst>
            <a:outerShdw sx="100000" sy="100000" kx="0" ky="0" algn="bl" rotWithShape="0" blurRad="127000" dist="38100" dir="5400000">
              <a:srgbClr val="000000">
                <a:alpha val="18000"/>
              </a:srgbClr>
            </a:outerShdw>
          </a:effectLst>
        </p:spPr>
      </p:sp>
      <p:pic>
        <p:nvPicPr>
          <p:cNvPr id="4" name="Check in a patient in a few taps screenshot" descr="preencoded.png">    </p:cNvPr>
          <p:cNvPicPr>
            <a:picLocks noChangeAspect="1"/>
          </p:cNvPicPr>
          <p:nvPr/>
        </p:nvPicPr>
        <p:blipFill>
          <a:blip r:embed="rId1"/>
          <a:stretch>
            <a:fillRect/>
          </a:stretch>
        </p:blipFill>
        <p:spPr>
          <a:xfrm>
            <a:off x="457200" y="1188720"/>
            <a:ext cx="5303520" cy="3314700"/>
          </a:xfrm>
          <a:prstGeom prst="rect">
            <a:avLst/>
          </a:prstGeom>
        </p:spPr>
      </p:pic>
      <p:sp>
        <p:nvSpPr>
          <p:cNvPr id="5" name="Point 1 circle"/>
          <p:cNvSpPr/>
          <p:nvPr/>
        </p:nvSpPr>
        <p:spPr>
          <a:xfrm>
            <a:off x="6080760" y="1691640"/>
            <a:ext cx="457200" cy="457200"/>
          </a:xfrm>
          <a:prstGeom prst="ellipse">
            <a:avLst/>
          </a:prstGeom>
          <a:solidFill>
            <a:schemeClr val="accent1"/>
          </a:solidFill>
          <a:ln/>
        </p:spPr>
      </p:sp>
      <p:pic>
        <p:nvPicPr>
          <p:cNvPr id="6" name="Point 1 icon" descr="preencoded.png">    </p:cNvPr>
          <p:cNvPicPr>
            <a:picLocks noChangeAspect="1"/>
          </p:cNvPicPr>
          <p:nvPr/>
        </p:nvPicPr>
        <p:blipFill>
          <a:blip r:embed="rId2"/>
          <a:stretch>
            <a:fillRect/>
          </a:stretch>
        </p:blipFill>
        <p:spPr>
          <a:xfrm>
            <a:off x="6204204" y="1815084"/>
            <a:ext cx="210312" cy="210312"/>
          </a:xfrm>
          <a:prstGeom prst="rect">
            <a:avLst/>
          </a:prstGeom>
        </p:spPr>
      </p:pic>
      <p:sp>
        <p:nvSpPr>
          <p:cNvPr id="7" name="Point 1 text"/>
          <p:cNvSpPr txBox="1"/>
          <p:nvPr/>
        </p:nvSpPr>
        <p:spPr>
          <a:xfrm>
            <a:off x="6702552" y="1554480"/>
            <a:ext cx="1984248" cy="731520"/>
          </a:xfrm>
          <a:prstGeom prst="rect">
            <a:avLst/>
          </a:prstGeom>
          <a:noFill/>
          <a:ln/>
        </p:spPr>
        <p:txBody>
          <a:bodyPr wrap="square" lIns="0" tIns="0" rIns="0" bIns="0" rtlCol="0" anchor="ctr"/>
          <a:lstStyle/>
          <a:p>
            <a:pPr indent="0" marL="0">
              <a:buNone/>
            </a:pPr>
            <a:r>
              <a:rPr lang="en-US" sz="1500" dirty="0">
                <a:solidFill>
                  <a:schemeClr val="tx1"/>
                </a:solidFill>
              </a:rPr>
              <a:t>Search by name or ID number</a:t>
            </a:r>
            <a:endParaRPr lang="en-US" sz="1500" dirty="0"/>
          </a:p>
        </p:txBody>
      </p:sp>
      <p:sp>
        <p:nvSpPr>
          <p:cNvPr id="8" name="Point 2 circle"/>
          <p:cNvSpPr/>
          <p:nvPr/>
        </p:nvSpPr>
        <p:spPr>
          <a:xfrm>
            <a:off x="6080760" y="2606040"/>
            <a:ext cx="457200" cy="457200"/>
          </a:xfrm>
          <a:prstGeom prst="ellipse">
            <a:avLst/>
          </a:prstGeom>
          <a:solidFill>
            <a:schemeClr val="accent1"/>
          </a:solidFill>
          <a:ln/>
        </p:spPr>
      </p:sp>
      <p:pic>
        <p:nvPicPr>
          <p:cNvPr id="9" name="Point 2 icon" descr="preencoded.png">    </p:cNvPr>
          <p:cNvPicPr>
            <a:picLocks noChangeAspect="1"/>
          </p:cNvPicPr>
          <p:nvPr/>
        </p:nvPicPr>
        <p:blipFill>
          <a:blip r:embed="rId3"/>
          <a:stretch>
            <a:fillRect/>
          </a:stretch>
        </p:blipFill>
        <p:spPr>
          <a:xfrm>
            <a:off x="6204204" y="2729484"/>
            <a:ext cx="210312" cy="210312"/>
          </a:xfrm>
          <a:prstGeom prst="rect">
            <a:avLst/>
          </a:prstGeom>
        </p:spPr>
      </p:pic>
      <p:sp>
        <p:nvSpPr>
          <p:cNvPr id="10" name="Point 2 text"/>
          <p:cNvSpPr txBox="1"/>
          <p:nvPr/>
        </p:nvSpPr>
        <p:spPr>
          <a:xfrm>
            <a:off x="6702552" y="2468880"/>
            <a:ext cx="1984248" cy="731520"/>
          </a:xfrm>
          <a:prstGeom prst="rect">
            <a:avLst/>
          </a:prstGeom>
          <a:noFill/>
          <a:ln/>
        </p:spPr>
        <p:txBody>
          <a:bodyPr wrap="square" lIns="0" tIns="0" rIns="0" bIns="0" rtlCol="0" anchor="ctr"/>
          <a:lstStyle/>
          <a:p>
            <a:pPr indent="0" marL="0">
              <a:buNone/>
            </a:pPr>
            <a:r>
              <a:rPr lang="en-US" sz="1500" dirty="0">
                <a:solidFill>
                  <a:schemeClr val="tx1"/>
                </a:solidFill>
              </a:rPr>
              <a:t>Tap a common complaint</a:t>
            </a:r>
            <a:endParaRPr lang="en-US" sz="1500" dirty="0"/>
          </a:p>
        </p:txBody>
      </p:sp>
      <p:sp>
        <p:nvSpPr>
          <p:cNvPr id="11" name="Point 3 circle"/>
          <p:cNvSpPr/>
          <p:nvPr/>
        </p:nvSpPr>
        <p:spPr>
          <a:xfrm>
            <a:off x="6080760" y="3520440"/>
            <a:ext cx="457200" cy="457200"/>
          </a:xfrm>
          <a:prstGeom prst="ellipse">
            <a:avLst/>
          </a:prstGeom>
          <a:solidFill>
            <a:schemeClr val="accent1"/>
          </a:solidFill>
          <a:ln/>
        </p:spPr>
      </p:sp>
      <p:pic>
        <p:nvPicPr>
          <p:cNvPr id="12" name="Point 3 icon" descr="preencoded.png">    </p:cNvPr>
          <p:cNvPicPr>
            <a:picLocks noChangeAspect="1"/>
          </p:cNvPicPr>
          <p:nvPr/>
        </p:nvPicPr>
        <p:blipFill>
          <a:blip r:embed="rId4"/>
          <a:stretch>
            <a:fillRect/>
          </a:stretch>
        </p:blipFill>
        <p:spPr>
          <a:xfrm>
            <a:off x="6204204" y="3643884"/>
            <a:ext cx="210312" cy="210312"/>
          </a:xfrm>
          <a:prstGeom prst="rect">
            <a:avLst/>
          </a:prstGeom>
        </p:spPr>
      </p:pic>
      <p:sp>
        <p:nvSpPr>
          <p:cNvPr id="13" name="Point 3 text"/>
          <p:cNvSpPr txBox="1"/>
          <p:nvPr/>
        </p:nvSpPr>
        <p:spPr>
          <a:xfrm>
            <a:off x="6702552" y="3383280"/>
            <a:ext cx="1984248" cy="731520"/>
          </a:xfrm>
          <a:prstGeom prst="rect">
            <a:avLst/>
          </a:prstGeom>
          <a:noFill/>
          <a:ln/>
        </p:spPr>
        <p:txBody>
          <a:bodyPr wrap="square" lIns="0" tIns="0" rIns="0" bIns="0" rtlCol="0" anchor="ctr"/>
          <a:lstStyle/>
          <a:p>
            <a:pPr indent="0" marL="0">
              <a:buNone/>
            </a:pPr>
            <a:r>
              <a:rPr lang="en-US" sz="1500" dirty="0">
                <a:solidFill>
                  <a:schemeClr val="tx1"/>
                </a:solidFill>
              </a:rPr>
              <a:t>See who is arriving by appointment</a:t>
            </a:r>
            <a:endParaRPr lang="en-US" sz="15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E6A69"/>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rPr>
              <a:t>One visit record for nurse and doctor</a:t>
            </a:r>
            <a:endParaRPr lang="en-US" sz="3200" dirty="0"/>
          </a:p>
        </p:txBody>
      </p:sp>
      <p:sp>
        <p:nvSpPr>
          <p:cNvPr id="3" name="Point 1 circle"/>
          <p:cNvSpPr/>
          <p:nvPr/>
        </p:nvSpPr>
        <p:spPr>
          <a:xfrm>
            <a:off x="457200" y="1691640"/>
            <a:ext cx="457200" cy="457200"/>
          </a:xfrm>
          <a:prstGeom prst="ellipse">
            <a:avLst/>
          </a:prstGeom>
          <a:solidFill>
            <a:schemeClr val="accent1"/>
          </a:solidFill>
          <a:ln/>
        </p:spPr>
      </p:sp>
      <p:pic>
        <p:nvPicPr>
          <p:cNvPr id="4" name="Point 1 icon" descr="preencoded.png">    </p:cNvPr>
          <p:cNvPicPr>
            <a:picLocks noChangeAspect="1"/>
          </p:cNvPicPr>
          <p:nvPr/>
        </p:nvPicPr>
        <p:blipFill>
          <a:blip r:embed="rId1"/>
          <a:stretch>
            <a:fillRect/>
          </a:stretch>
        </p:blipFill>
        <p:spPr>
          <a:xfrm>
            <a:off x="580644" y="1815084"/>
            <a:ext cx="210312" cy="210312"/>
          </a:xfrm>
          <a:prstGeom prst="rect">
            <a:avLst/>
          </a:prstGeom>
        </p:spPr>
      </p:pic>
      <p:sp>
        <p:nvSpPr>
          <p:cNvPr id="5" name="Point 1 text"/>
          <p:cNvSpPr txBox="1"/>
          <p:nvPr/>
        </p:nvSpPr>
        <p:spPr>
          <a:xfrm>
            <a:off x="1078992" y="1554480"/>
            <a:ext cx="1755648" cy="731520"/>
          </a:xfrm>
          <a:prstGeom prst="rect">
            <a:avLst/>
          </a:prstGeom>
          <a:noFill/>
          <a:ln/>
        </p:spPr>
        <p:txBody>
          <a:bodyPr wrap="square" lIns="0" tIns="0" rIns="0" bIns="0" rtlCol="0" anchor="ctr"/>
          <a:lstStyle/>
          <a:p>
            <a:pPr indent="0" marL="0">
              <a:buNone/>
            </a:pPr>
            <a:r>
              <a:rPr lang="en-US" sz="1500" dirty="0">
                <a:solidFill>
                  <a:schemeClr val="tx1"/>
                </a:solidFill>
              </a:rPr>
              <a:t>Nurse records vital signs and treatment</a:t>
            </a:r>
            <a:endParaRPr lang="en-US" sz="1500" dirty="0"/>
          </a:p>
        </p:txBody>
      </p:sp>
      <p:sp>
        <p:nvSpPr>
          <p:cNvPr id="6" name="Point 2 circle"/>
          <p:cNvSpPr/>
          <p:nvPr/>
        </p:nvSpPr>
        <p:spPr>
          <a:xfrm>
            <a:off x="457200" y="2606040"/>
            <a:ext cx="457200" cy="457200"/>
          </a:xfrm>
          <a:prstGeom prst="ellipse">
            <a:avLst/>
          </a:prstGeom>
          <a:solidFill>
            <a:schemeClr val="accent1"/>
          </a:solidFill>
          <a:ln/>
        </p:spPr>
      </p:sp>
      <p:pic>
        <p:nvPicPr>
          <p:cNvPr id="7" name="Point 2 icon" descr="preencoded.png">    </p:cNvPr>
          <p:cNvPicPr>
            <a:picLocks noChangeAspect="1"/>
          </p:cNvPicPr>
          <p:nvPr/>
        </p:nvPicPr>
        <p:blipFill>
          <a:blip r:embed="rId2"/>
          <a:stretch>
            <a:fillRect/>
          </a:stretch>
        </p:blipFill>
        <p:spPr>
          <a:xfrm>
            <a:off x="580644" y="2729484"/>
            <a:ext cx="210312" cy="210312"/>
          </a:xfrm>
          <a:prstGeom prst="rect">
            <a:avLst/>
          </a:prstGeom>
        </p:spPr>
      </p:pic>
      <p:sp>
        <p:nvSpPr>
          <p:cNvPr id="8" name="Point 2 text"/>
          <p:cNvSpPr txBox="1"/>
          <p:nvPr/>
        </p:nvSpPr>
        <p:spPr>
          <a:xfrm>
            <a:off x="1078992" y="2468880"/>
            <a:ext cx="1755648" cy="731520"/>
          </a:xfrm>
          <a:prstGeom prst="rect">
            <a:avLst/>
          </a:prstGeom>
          <a:noFill/>
          <a:ln/>
        </p:spPr>
        <p:txBody>
          <a:bodyPr wrap="square" lIns="0" tIns="0" rIns="0" bIns="0" rtlCol="0" anchor="ctr"/>
          <a:lstStyle/>
          <a:p>
            <a:pPr indent="0" marL="0">
              <a:buNone/>
            </a:pPr>
            <a:r>
              <a:rPr lang="en-US" sz="1500" dirty="0">
                <a:solidFill>
                  <a:schemeClr val="tx1"/>
                </a:solidFill>
              </a:rPr>
              <a:t>Doctor adds notes and diagnosis</a:t>
            </a:r>
            <a:endParaRPr lang="en-US" sz="1500" dirty="0"/>
          </a:p>
        </p:txBody>
      </p:sp>
      <p:sp>
        <p:nvSpPr>
          <p:cNvPr id="9" name="Point 3 circle"/>
          <p:cNvSpPr/>
          <p:nvPr/>
        </p:nvSpPr>
        <p:spPr>
          <a:xfrm>
            <a:off x="457200" y="3520440"/>
            <a:ext cx="457200" cy="457200"/>
          </a:xfrm>
          <a:prstGeom prst="ellipse">
            <a:avLst/>
          </a:prstGeom>
          <a:solidFill>
            <a:schemeClr val="accent1"/>
          </a:solidFill>
          <a:ln/>
        </p:spPr>
      </p:sp>
      <p:pic>
        <p:nvPicPr>
          <p:cNvPr id="10" name="Point 3 icon" descr="preencoded.png">    </p:cNvPr>
          <p:cNvPicPr>
            <a:picLocks noChangeAspect="1"/>
          </p:cNvPicPr>
          <p:nvPr/>
        </p:nvPicPr>
        <p:blipFill>
          <a:blip r:embed="rId3"/>
          <a:stretch>
            <a:fillRect/>
          </a:stretch>
        </p:blipFill>
        <p:spPr>
          <a:xfrm>
            <a:off x="580644" y="3643884"/>
            <a:ext cx="210312" cy="210312"/>
          </a:xfrm>
          <a:prstGeom prst="rect">
            <a:avLst/>
          </a:prstGeom>
        </p:spPr>
      </p:pic>
      <p:sp>
        <p:nvSpPr>
          <p:cNvPr id="11" name="Point 3 text"/>
          <p:cNvSpPr txBox="1"/>
          <p:nvPr/>
        </p:nvSpPr>
        <p:spPr>
          <a:xfrm>
            <a:off x="1078992" y="3383280"/>
            <a:ext cx="1755648" cy="731520"/>
          </a:xfrm>
          <a:prstGeom prst="rect">
            <a:avLst/>
          </a:prstGeom>
          <a:noFill/>
          <a:ln/>
        </p:spPr>
        <p:txBody>
          <a:bodyPr wrap="square" lIns="0" tIns="0" rIns="0" bIns="0" rtlCol="0" anchor="ctr"/>
          <a:lstStyle/>
          <a:p>
            <a:pPr indent="0" marL="0">
              <a:buNone/>
            </a:pPr>
            <a:r>
              <a:rPr lang="en-US" sz="1500" dirty="0">
                <a:solidFill>
                  <a:schemeClr val="tx1"/>
                </a:solidFill>
              </a:rPr>
              <a:t>Medicine is released from the same record</a:t>
            </a:r>
            <a:endParaRPr lang="en-US" sz="1500" dirty="0"/>
          </a:p>
        </p:txBody>
      </p:sp>
      <p:sp>
        <p:nvSpPr>
          <p:cNvPr id="12" name="Visits list screenshot frame"/>
          <p:cNvSpPr/>
          <p:nvPr/>
        </p:nvSpPr>
        <p:spPr>
          <a:xfrm>
            <a:off x="3063240" y="1783080"/>
            <a:ext cx="3383280" cy="2114550"/>
          </a:xfrm>
          <a:prstGeom prst="rect">
            <a:avLst/>
          </a:prstGeom>
          <a:solidFill>
            <a:schemeClr val="bg1"/>
          </a:solidFill>
          <a:ln w="9525">
            <a:solidFill>
              <a:srgbClr val="E4E2E0"/>
            </a:solidFill>
            <a:prstDash val="solid"/>
          </a:ln>
          <a:effectLst>
            <a:outerShdw sx="100000" sy="100000" kx="0" ky="0" algn="bl" rotWithShape="0" blurRad="127000" dist="38100" dir="5400000">
              <a:srgbClr val="000000">
                <a:alpha val="18000"/>
              </a:srgbClr>
            </a:outerShdw>
          </a:effectLst>
        </p:spPr>
      </p:sp>
      <p:pic>
        <p:nvPicPr>
          <p:cNvPr id="13" name="Visits list screenshot" descr="preencoded.png">    </p:cNvPr>
          <p:cNvPicPr>
            <a:picLocks noChangeAspect="1"/>
          </p:cNvPicPr>
          <p:nvPr/>
        </p:nvPicPr>
        <p:blipFill>
          <a:blip r:embed="rId4"/>
          <a:stretch>
            <a:fillRect/>
          </a:stretch>
        </p:blipFill>
        <p:spPr>
          <a:xfrm>
            <a:off x="3063240" y="1783080"/>
            <a:ext cx="3383280" cy="2114550"/>
          </a:xfrm>
          <a:prstGeom prst="rect">
            <a:avLst/>
          </a:prstGeom>
        </p:spPr>
      </p:pic>
      <p:sp>
        <p:nvSpPr>
          <p:cNvPr id="14" name="Visit record screenshot frame"/>
          <p:cNvSpPr/>
          <p:nvPr/>
        </p:nvSpPr>
        <p:spPr>
          <a:xfrm>
            <a:off x="6675120" y="1188720"/>
            <a:ext cx="2011680" cy="3143250"/>
          </a:xfrm>
          <a:prstGeom prst="rect">
            <a:avLst/>
          </a:prstGeom>
          <a:solidFill>
            <a:schemeClr val="bg1"/>
          </a:solidFill>
          <a:ln w="9525">
            <a:solidFill>
              <a:srgbClr val="E4E2E0"/>
            </a:solidFill>
            <a:prstDash val="solid"/>
          </a:ln>
          <a:effectLst>
            <a:outerShdw sx="100000" sy="100000" kx="0" ky="0" algn="bl" rotWithShape="0" blurRad="127000" dist="38100" dir="5400000">
              <a:srgbClr val="000000">
                <a:alpha val="18000"/>
              </a:srgbClr>
            </a:outerShdw>
          </a:effectLst>
        </p:spPr>
      </p:sp>
      <p:pic>
        <p:nvPicPr>
          <p:cNvPr id="15" name="Visit record screenshot" descr="preencoded.png">    </p:cNvPr>
          <p:cNvPicPr>
            <a:picLocks noChangeAspect="1"/>
          </p:cNvPicPr>
          <p:nvPr/>
        </p:nvPicPr>
        <p:blipFill>
          <a:blip r:embed="rId5"/>
          <a:stretch>
            <a:fillRect/>
          </a:stretch>
        </p:blipFill>
        <p:spPr>
          <a:xfrm>
            <a:off x="6675120" y="1188720"/>
            <a:ext cx="2011680" cy="3143250"/>
          </a:xfrm>
          <a:prstGeom prst="rect">
            <a:avLst/>
          </a:prstGeom>
        </p:spPr>
      </p:pic>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E6A69"/>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rPr>
              <a:t>Each patient’s record in one place</a:t>
            </a:r>
            <a:endParaRPr lang="en-US" sz="3200" dirty="0"/>
          </a:p>
        </p:txBody>
      </p:sp>
      <p:sp>
        <p:nvSpPr>
          <p:cNvPr id="3" name="Each patient’s record in one place screenshot frame"/>
          <p:cNvSpPr/>
          <p:nvPr/>
        </p:nvSpPr>
        <p:spPr>
          <a:xfrm>
            <a:off x="457200" y="1188720"/>
            <a:ext cx="5303520" cy="3314700"/>
          </a:xfrm>
          <a:prstGeom prst="rect">
            <a:avLst/>
          </a:prstGeom>
          <a:solidFill>
            <a:schemeClr val="bg1"/>
          </a:solidFill>
          <a:ln w="9525">
            <a:solidFill>
              <a:srgbClr val="E4E2E0"/>
            </a:solidFill>
            <a:prstDash val="solid"/>
          </a:ln>
          <a:effectLst>
            <a:outerShdw sx="100000" sy="100000" kx="0" ky="0" algn="bl" rotWithShape="0" blurRad="127000" dist="38100" dir="5400000">
              <a:srgbClr val="000000">
                <a:alpha val="18000"/>
              </a:srgbClr>
            </a:outerShdw>
          </a:effectLst>
        </p:spPr>
      </p:sp>
      <p:pic>
        <p:nvPicPr>
          <p:cNvPr id="4" name="Each patient’s record in one place screenshot" descr="preencoded.png">    </p:cNvPr>
          <p:cNvPicPr>
            <a:picLocks noChangeAspect="1"/>
          </p:cNvPicPr>
          <p:nvPr/>
        </p:nvPicPr>
        <p:blipFill>
          <a:blip r:embed="rId1"/>
          <a:stretch>
            <a:fillRect/>
          </a:stretch>
        </p:blipFill>
        <p:spPr>
          <a:xfrm>
            <a:off x="457200" y="1188720"/>
            <a:ext cx="5303520" cy="3314700"/>
          </a:xfrm>
          <a:prstGeom prst="rect">
            <a:avLst/>
          </a:prstGeom>
        </p:spPr>
      </p:pic>
      <p:sp>
        <p:nvSpPr>
          <p:cNvPr id="5" name="Point 1 circle"/>
          <p:cNvSpPr/>
          <p:nvPr/>
        </p:nvSpPr>
        <p:spPr>
          <a:xfrm>
            <a:off x="6080760" y="1691640"/>
            <a:ext cx="457200" cy="457200"/>
          </a:xfrm>
          <a:prstGeom prst="ellipse">
            <a:avLst/>
          </a:prstGeom>
          <a:solidFill>
            <a:schemeClr val="accent1"/>
          </a:solidFill>
          <a:ln/>
        </p:spPr>
      </p:sp>
      <p:pic>
        <p:nvPicPr>
          <p:cNvPr id="6" name="Point 1 icon" descr="preencoded.png">    </p:cNvPr>
          <p:cNvPicPr>
            <a:picLocks noChangeAspect="1"/>
          </p:cNvPicPr>
          <p:nvPr/>
        </p:nvPicPr>
        <p:blipFill>
          <a:blip r:embed="rId2"/>
          <a:stretch>
            <a:fillRect/>
          </a:stretch>
        </p:blipFill>
        <p:spPr>
          <a:xfrm>
            <a:off x="6204204" y="1815084"/>
            <a:ext cx="210312" cy="210312"/>
          </a:xfrm>
          <a:prstGeom prst="rect">
            <a:avLst/>
          </a:prstGeom>
        </p:spPr>
      </p:pic>
      <p:sp>
        <p:nvSpPr>
          <p:cNvPr id="7" name="Point 1 text"/>
          <p:cNvSpPr txBox="1"/>
          <p:nvPr/>
        </p:nvSpPr>
        <p:spPr>
          <a:xfrm>
            <a:off x="6702552" y="1554480"/>
            <a:ext cx="1984248" cy="731520"/>
          </a:xfrm>
          <a:prstGeom prst="rect">
            <a:avLst/>
          </a:prstGeom>
          <a:noFill/>
          <a:ln/>
        </p:spPr>
        <p:txBody>
          <a:bodyPr wrap="square" lIns="0" tIns="0" rIns="0" bIns="0" rtlCol="0" anchor="ctr"/>
          <a:lstStyle/>
          <a:p>
            <a:pPr indent="0" marL="0">
              <a:buNone/>
            </a:pPr>
            <a:r>
              <a:rPr lang="en-US" sz="1500" dirty="0">
                <a:solidFill>
                  <a:schemeClr val="tx1"/>
                </a:solidFill>
              </a:rPr>
              <a:t>Alerts are shown first</a:t>
            </a:r>
            <a:endParaRPr lang="en-US" sz="1500" dirty="0"/>
          </a:p>
        </p:txBody>
      </p:sp>
      <p:sp>
        <p:nvSpPr>
          <p:cNvPr id="8" name="Point 2 circle"/>
          <p:cNvSpPr/>
          <p:nvPr/>
        </p:nvSpPr>
        <p:spPr>
          <a:xfrm>
            <a:off x="6080760" y="2606040"/>
            <a:ext cx="457200" cy="457200"/>
          </a:xfrm>
          <a:prstGeom prst="ellipse">
            <a:avLst/>
          </a:prstGeom>
          <a:solidFill>
            <a:schemeClr val="accent1"/>
          </a:solidFill>
          <a:ln/>
        </p:spPr>
      </p:sp>
      <p:pic>
        <p:nvPicPr>
          <p:cNvPr id="9" name="Point 2 icon" descr="preencoded.png">    </p:cNvPr>
          <p:cNvPicPr>
            <a:picLocks noChangeAspect="1"/>
          </p:cNvPicPr>
          <p:nvPr/>
        </p:nvPicPr>
        <p:blipFill>
          <a:blip r:embed="rId3"/>
          <a:stretch>
            <a:fillRect/>
          </a:stretch>
        </p:blipFill>
        <p:spPr>
          <a:xfrm>
            <a:off x="6204204" y="2729484"/>
            <a:ext cx="210312" cy="210312"/>
          </a:xfrm>
          <a:prstGeom prst="rect">
            <a:avLst/>
          </a:prstGeom>
        </p:spPr>
      </p:pic>
      <p:sp>
        <p:nvSpPr>
          <p:cNvPr id="10" name="Point 2 text"/>
          <p:cNvSpPr txBox="1"/>
          <p:nvPr/>
        </p:nvSpPr>
        <p:spPr>
          <a:xfrm>
            <a:off x="6702552" y="2468880"/>
            <a:ext cx="1984248" cy="731520"/>
          </a:xfrm>
          <a:prstGeom prst="rect">
            <a:avLst/>
          </a:prstGeom>
          <a:noFill/>
          <a:ln/>
        </p:spPr>
        <p:txBody>
          <a:bodyPr wrap="square" lIns="0" tIns="0" rIns="0" bIns="0" rtlCol="0" anchor="ctr"/>
          <a:lstStyle/>
          <a:p>
            <a:pPr indent="0" marL="0">
              <a:buNone/>
            </a:pPr>
            <a:r>
              <a:rPr lang="en-US" sz="1500" dirty="0">
                <a:solidFill>
                  <a:schemeClr val="tx1"/>
                </a:solidFill>
              </a:rPr>
              <a:t>Full visit history</a:t>
            </a:r>
            <a:endParaRPr lang="en-US" sz="1500" dirty="0"/>
          </a:p>
        </p:txBody>
      </p:sp>
      <p:sp>
        <p:nvSpPr>
          <p:cNvPr id="11" name="Point 3 circle"/>
          <p:cNvSpPr/>
          <p:nvPr/>
        </p:nvSpPr>
        <p:spPr>
          <a:xfrm>
            <a:off x="6080760" y="3520440"/>
            <a:ext cx="457200" cy="457200"/>
          </a:xfrm>
          <a:prstGeom prst="ellipse">
            <a:avLst/>
          </a:prstGeom>
          <a:solidFill>
            <a:schemeClr val="accent1"/>
          </a:solidFill>
          <a:ln/>
        </p:spPr>
      </p:sp>
      <p:pic>
        <p:nvPicPr>
          <p:cNvPr id="12" name="Point 3 icon" descr="preencoded.png">    </p:cNvPr>
          <p:cNvPicPr>
            <a:picLocks noChangeAspect="1"/>
          </p:cNvPicPr>
          <p:nvPr/>
        </p:nvPicPr>
        <p:blipFill>
          <a:blip r:embed="rId4"/>
          <a:stretch>
            <a:fillRect/>
          </a:stretch>
        </p:blipFill>
        <p:spPr>
          <a:xfrm>
            <a:off x="6204204" y="3643884"/>
            <a:ext cx="210312" cy="210312"/>
          </a:xfrm>
          <a:prstGeom prst="rect">
            <a:avLst/>
          </a:prstGeom>
        </p:spPr>
      </p:pic>
      <p:sp>
        <p:nvSpPr>
          <p:cNvPr id="13" name="Point 3 text"/>
          <p:cNvSpPr txBox="1"/>
          <p:nvPr/>
        </p:nvSpPr>
        <p:spPr>
          <a:xfrm>
            <a:off x="6702552" y="3383280"/>
            <a:ext cx="1984248" cy="731520"/>
          </a:xfrm>
          <a:prstGeom prst="rect">
            <a:avLst/>
          </a:prstGeom>
          <a:noFill/>
          <a:ln/>
        </p:spPr>
        <p:txBody>
          <a:bodyPr wrap="square" lIns="0" tIns="0" rIns="0" bIns="0" rtlCol="0" anchor="ctr"/>
          <a:lstStyle/>
          <a:p>
            <a:pPr indent="0" marL="0">
              <a:buNone/>
            </a:pPr>
            <a:r>
              <a:rPr lang="en-US" sz="1500" dirty="0">
                <a:solidFill>
                  <a:schemeClr val="tx1"/>
                </a:solidFill>
              </a:rPr>
              <a:t>Attachments such as lab results</a:t>
            </a:r>
            <a:endParaRPr lang="en-US" sz="15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E6A69"/>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rPr>
              <a:t>Book, confirm and check in</a:t>
            </a:r>
            <a:endParaRPr lang="en-US" sz="3200" dirty="0"/>
          </a:p>
        </p:txBody>
      </p:sp>
      <p:sp>
        <p:nvSpPr>
          <p:cNvPr id="3" name="Point 1 circle"/>
          <p:cNvSpPr/>
          <p:nvPr/>
        </p:nvSpPr>
        <p:spPr>
          <a:xfrm>
            <a:off x="457200" y="1691640"/>
            <a:ext cx="457200" cy="457200"/>
          </a:xfrm>
          <a:prstGeom prst="ellipse">
            <a:avLst/>
          </a:prstGeom>
          <a:solidFill>
            <a:schemeClr val="accent1"/>
          </a:solidFill>
          <a:ln/>
        </p:spPr>
      </p:sp>
      <p:pic>
        <p:nvPicPr>
          <p:cNvPr id="4" name="Point 1 icon" descr="preencoded.png">    </p:cNvPr>
          <p:cNvPicPr>
            <a:picLocks noChangeAspect="1"/>
          </p:cNvPicPr>
          <p:nvPr/>
        </p:nvPicPr>
        <p:blipFill>
          <a:blip r:embed="rId1"/>
          <a:stretch>
            <a:fillRect/>
          </a:stretch>
        </p:blipFill>
        <p:spPr>
          <a:xfrm>
            <a:off x="580644" y="1815084"/>
            <a:ext cx="210312" cy="210312"/>
          </a:xfrm>
          <a:prstGeom prst="rect">
            <a:avLst/>
          </a:prstGeom>
        </p:spPr>
      </p:pic>
      <p:sp>
        <p:nvSpPr>
          <p:cNvPr id="5" name="Point 1 text"/>
          <p:cNvSpPr txBox="1"/>
          <p:nvPr/>
        </p:nvSpPr>
        <p:spPr>
          <a:xfrm>
            <a:off x="1078992" y="1554480"/>
            <a:ext cx="1984248" cy="731520"/>
          </a:xfrm>
          <a:prstGeom prst="rect">
            <a:avLst/>
          </a:prstGeom>
          <a:noFill/>
          <a:ln/>
        </p:spPr>
        <p:txBody>
          <a:bodyPr wrap="square" lIns="0" tIns="0" rIns="0" bIns="0" rtlCol="0" anchor="ctr"/>
          <a:lstStyle/>
          <a:p>
            <a:pPr indent="0" marL="0">
              <a:buNone/>
            </a:pPr>
            <a:r>
              <a:rPr lang="en-US" sz="1500" dirty="0">
                <a:solidFill>
                  <a:schemeClr val="tx1"/>
                </a:solidFill>
              </a:rPr>
              <a:t>Appointments by day</a:t>
            </a:r>
            <a:endParaRPr lang="en-US" sz="1500" dirty="0"/>
          </a:p>
        </p:txBody>
      </p:sp>
      <p:sp>
        <p:nvSpPr>
          <p:cNvPr id="6" name="Point 2 circle"/>
          <p:cNvSpPr/>
          <p:nvPr/>
        </p:nvSpPr>
        <p:spPr>
          <a:xfrm>
            <a:off x="457200" y="2606040"/>
            <a:ext cx="457200" cy="457200"/>
          </a:xfrm>
          <a:prstGeom prst="ellipse">
            <a:avLst/>
          </a:prstGeom>
          <a:solidFill>
            <a:schemeClr val="accent1"/>
          </a:solidFill>
          <a:ln/>
        </p:spPr>
      </p:sp>
      <p:pic>
        <p:nvPicPr>
          <p:cNvPr id="7" name="Point 2 icon" descr="preencoded.png">    </p:cNvPr>
          <p:cNvPicPr>
            <a:picLocks noChangeAspect="1"/>
          </p:cNvPicPr>
          <p:nvPr/>
        </p:nvPicPr>
        <p:blipFill>
          <a:blip r:embed="rId2"/>
          <a:stretch>
            <a:fillRect/>
          </a:stretch>
        </p:blipFill>
        <p:spPr>
          <a:xfrm>
            <a:off x="580644" y="2729484"/>
            <a:ext cx="210312" cy="210312"/>
          </a:xfrm>
          <a:prstGeom prst="rect">
            <a:avLst/>
          </a:prstGeom>
        </p:spPr>
      </p:pic>
      <p:sp>
        <p:nvSpPr>
          <p:cNvPr id="8" name="Point 2 text"/>
          <p:cNvSpPr txBox="1"/>
          <p:nvPr/>
        </p:nvSpPr>
        <p:spPr>
          <a:xfrm>
            <a:off x="1078992" y="2468880"/>
            <a:ext cx="1984248" cy="731520"/>
          </a:xfrm>
          <a:prstGeom prst="rect">
            <a:avLst/>
          </a:prstGeom>
          <a:noFill/>
          <a:ln/>
        </p:spPr>
        <p:txBody>
          <a:bodyPr wrap="square" lIns="0" tIns="0" rIns="0" bIns="0" rtlCol="0" anchor="ctr"/>
          <a:lstStyle/>
          <a:p>
            <a:pPr indent="0" marL="0">
              <a:buNone/>
            </a:pPr>
            <a:r>
              <a:rPr lang="en-US" sz="1500" dirty="0">
                <a:solidFill>
                  <a:schemeClr val="tx1"/>
                </a:solidFill>
              </a:rPr>
              <a:t>The coordinator confirms or cancels</a:t>
            </a:r>
            <a:endParaRPr lang="en-US" sz="1500" dirty="0"/>
          </a:p>
        </p:txBody>
      </p:sp>
      <p:sp>
        <p:nvSpPr>
          <p:cNvPr id="9" name="Point 3 circle"/>
          <p:cNvSpPr/>
          <p:nvPr/>
        </p:nvSpPr>
        <p:spPr>
          <a:xfrm>
            <a:off x="457200" y="3520440"/>
            <a:ext cx="457200" cy="457200"/>
          </a:xfrm>
          <a:prstGeom prst="ellipse">
            <a:avLst/>
          </a:prstGeom>
          <a:solidFill>
            <a:schemeClr val="accent1"/>
          </a:solidFill>
          <a:ln/>
        </p:spPr>
      </p:sp>
      <p:pic>
        <p:nvPicPr>
          <p:cNvPr id="10" name="Point 3 icon" descr="preencoded.png">    </p:cNvPr>
          <p:cNvPicPr>
            <a:picLocks noChangeAspect="1"/>
          </p:cNvPicPr>
          <p:nvPr/>
        </p:nvPicPr>
        <p:blipFill>
          <a:blip r:embed="rId3"/>
          <a:stretch>
            <a:fillRect/>
          </a:stretch>
        </p:blipFill>
        <p:spPr>
          <a:xfrm>
            <a:off x="580644" y="3643884"/>
            <a:ext cx="210312" cy="210312"/>
          </a:xfrm>
          <a:prstGeom prst="rect">
            <a:avLst/>
          </a:prstGeom>
        </p:spPr>
      </p:pic>
      <p:sp>
        <p:nvSpPr>
          <p:cNvPr id="11" name="Point 3 text"/>
          <p:cNvSpPr txBox="1"/>
          <p:nvPr/>
        </p:nvSpPr>
        <p:spPr>
          <a:xfrm>
            <a:off x="1078992" y="3383280"/>
            <a:ext cx="1984248" cy="731520"/>
          </a:xfrm>
          <a:prstGeom prst="rect">
            <a:avLst/>
          </a:prstGeom>
          <a:noFill/>
          <a:ln/>
        </p:spPr>
        <p:txBody>
          <a:bodyPr wrap="square" lIns="0" tIns="0" rIns="0" bIns="0" rtlCol="0" anchor="ctr"/>
          <a:lstStyle/>
          <a:p>
            <a:pPr indent="0" marL="0">
              <a:buNone/>
            </a:pPr>
            <a:r>
              <a:rPr lang="en-US" sz="1500" dirty="0">
                <a:solidFill>
                  <a:schemeClr val="tx1"/>
                </a:solidFill>
              </a:rPr>
              <a:t>One tap to check in on arrival</a:t>
            </a:r>
            <a:endParaRPr lang="en-US" sz="1500" dirty="0"/>
          </a:p>
        </p:txBody>
      </p:sp>
      <p:sp>
        <p:nvSpPr>
          <p:cNvPr id="12" name="Book, confirm and check in screenshot frame"/>
          <p:cNvSpPr/>
          <p:nvPr/>
        </p:nvSpPr>
        <p:spPr>
          <a:xfrm>
            <a:off x="3383280" y="1188720"/>
            <a:ext cx="5303520" cy="3314700"/>
          </a:xfrm>
          <a:prstGeom prst="rect">
            <a:avLst/>
          </a:prstGeom>
          <a:solidFill>
            <a:schemeClr val="bg1"/>
          </a:solidFill>
          <a:ln w="9525">
            <a:solidFill>
              <a:srgbClr val="E4E2E0"/>
            </a:solidFill>
            <a:prstDash val="solid"/>
          </a:ln>
          <a:effectLst>
            <a:outerShdw sx="100000" sy="100000" kx="0" ky="0" algn="bl" rotWithShape="0" blurRad="127000" dist="38100" dir="5400000">
              <a:srgbClr val="000000">
                <a:alpha val="18000"/>
              </a:srgbClr>
            </a:outerShdw>
          </a:effectLst>
        </p:spPr>
      </p:sp>
      <p:pic>
        <p:nvPicPr>
          <p:cNvPr id="13" name="Book, confirm and check in screenshot" descr="preencoded.png">    </p:cNvPr>
          <p:cNvPicPr>
            <a:picLocks noChangeAspect="1"/>
          </p:cNvPicPr>
          <p:nvPr/>
        </p:nvPicPr>
        <p:blipFill>
          <a:blip r:embed="rId4"/>
          <a:stretch>
            <a:fillRect/>
          </a:stretch>
        </p:blipFill>
        <p:spPr>
          <a:xfrm>
            <a:off x="3383280" y="1188720"/>
            <a:ext cx="5303520" cy="3314700"/>
          </a:xfrm>
          <a:prstGeom prst="rect">
            <a:avLst/>
          </a:prstGeom>
        </p:spPr>
      </p:pic>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E6A69"/>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rPr>
              <a:t>Medicine stock that keeps count</a:t>
            </a:r>
            <a:endParaRPr lang="en-US" sz="3200" dirty="0"/>
          </a:p>
        </p:txBody>
      </p:sp>
      <p:sp>
        <p:nvSpPr>
          <p:cNvPr id="3" name="Medicine stock that keeps count screenshot frame"/>
          <p:cNvSpPr/>
          <p:nvPr/>
        </p:nvSpPr>
        <p:spPr>
          <a:xfrm>
            <a:off x="457200" y="1188720"/>
            <a:ext cx="5303520" cy="3314700"/>
          </a:xfrm>
          <a:prstGeom prst="rect">
            <a:avLst/>
          </a:prstGeom>
          <a:solidFill>
            <a:schemeClr val="bg1"/>
          </a:solidFill>
          <a:ln w="9525">
            <a:solidFill>
              <a:srgbClr val="E4E2E0"/>
            </a:solidFill>
            <a:prstDash val="solid"/>
          </a:ln>
          <a:effectLst>
            <a:outerShdw sx="100000" sy="100000" kx="0" ky="0" algn="bl" rotWithShape="0" blurRad="127000" dist="38100" dir="5400000">
              <a:srgbClr val="000000">
                <a:alpha val="18000"/>
              </a:srgbClr>
            </a:outerShdw>
          </a:effectLst>
        </p:spPr>
      </p:sp>
      <p:pic>
        <p:nvPicPr>
          <p:cNvPr id="4" name="Medicine stock that keeps count screenshot" descr="preencoded.png">    </p:cNvPr>
          <p:cNvPicPr>
            <a:picLocks noChangeAspect="1"/>
          </p:cNvPicPr>
          <p:nvPr/>
        </p:nvPicPr>
        <p:blipFill>
          <a:blip r:embed="rId1"/>
          <a:stretch>
            <a:fillRect/>
          </a:stretch>
        </p:blipFill>
        <p:spPr>
          <a:xfrm>
            <a:off x="457200" y="1188720"/>
            <a:ext cx="5303520" cy="3314700"/>
          </a:xfrm>
          <a:prstGeom prst="rect">
            <a:avLst/>
          </a:prstGeom>
        </p:spPr>
      </p:pic>
      <p:sp>
        <p:nvSpPr>
          <p:cNvPr id="5" name="Point 1 circle"/>
          <p:cNvSpPr/>
          <p:nvPr/>
        </p:nvSpPr>
        <p:spPr>
          <a:xfrm>
            <a:off x="6080760" y="1691640"/>
            <a:ext cx="457200" cy="457200"/>
          </a:xfrm>
          <a:prstGeom prst="ellipse">
            <a:avLst/>
          </a:prstGeom>
          <a:solidFill>
            <a:schemeClr val="accent1"/>
          </a:solidFill>
          <a:ln/>
        </p:spPr>
      </p:sp>
      <p:pic>
        <p:nvPicPr>
          <p:cNvPr id="6" name="Point 1 icon" descr="preencoded.png">    </p:cNvPr>
          <p:cNvPicPr>
            <a:picLocks noChangeAspect="1"/>
          </p:cNvPicPr>
          <p:nvPr/>
        </p:nvPicPr>
        <p:blipFill>
          <a:blip r:embed="rId2"/>
          <a:stretch>
            <a:fillRect/>
          </a:stretch>
        </p:blipFill>
        <p:spPr>
          <a:xfrm>
            <a:off x="6204204" y="1815084"/>
            <a:ext cx="210312" cy="210312"/>
          </a:xfrm>
          <a:prstGeom prst="rect">
            <a:avLst/>
          </a:prstGeom>
        </p:spPr>
      </p:pic>
      <p:sp>
        <p:nvSpPr>
          <p:cNvPr id="7" name="Point 1 text"/>
          <p:cNvSpPr txBox="1"/>
          <p:nvPr/>
        </p:nvSpPr>
        <p:spPr>
          <a:xfrm>
            <a:off x="6702552" y="1554480"/>
            <a:ext cx="1984248" cy="731520"/>
          </a:xfrm>
          <a:prstGeom prst="rect">
            <a:avLst/>
          </a:prstGeom>
          <a:noFill/>
          <a:ln/>
        </p:spPr>
        <p:txBody>
          <a:bodyPr wrap="square" lIns="0" tIns="0" rIns="0" bIns="0" rtlCol="0" anchor="ctr"/>
          <a:lstStyle/>
          <a:p>
            <a:pPr indent="0" marL="0">
              <a:buNone/>
            </a:pPr>
            <a:r>
              <a:rPr lang="en-US" sz="1500" dirty="0">
                <a:solidFill>
                  <a:schemeClr val="tx1"/>
                </a:solidFill>
              </a:rPr>
              <a:t>Stock goes down when medicine is released</a:t>
            </a:r>
            <a:endParaRPr lang="en-US" sz="1500" dirty="0"/>
          </a:p>
        </p:txBody>
      </p:sp>
      <p:sp>
        <p:nvSpPr>
          <p:cNvPr id="8" name="Point 2 circle"/>
          <p:cNvSpPr/>
          <p:nvPr/>
        </p:nvSpPr>
        <p:spPr>
          <a:xfrm>
            <a:off x="6080760" y="2606040"/>
            <a:ext cx="457200" cy="457200"/>
          </a:xfrm>
          <a:prstGeom prst="ellipse">
            <a:avLst/>
          </a:prstGeom>
          <a:solidFill>
            <a:schemeClr val="accent1"/>
          </a:solidFill>
          <a:ln/>
        </p:spPr>
      </p:sp>
      <p:pic>
        <p:nvPicPr>
          <p:cNvPr id="9" name="Point 2 icon" descr="preencoded.png">    </p:cNvPr>
          <p:cNvPicPr>
            <a:picLocks noChangeAspect="1"/>
          </p:cNvPicPr>
          <p:nvPr/>
        </p:nvPicPr>
        <p:blipFill>
          <a:blip r:embed="rId3"/>
          <a:stretch>
            <a:fillRect/>
          </a:stretch>
        </p:blipFill>
        <p:spPr>
          <a:xfrm>
            <a:off x="6204204" y="2729484"/>
            <a:ext cx="210312" cy="210312"/>
          </a:xfrm>
          <a:prstGeom prst="rect">
            <a:avLst/>
          </a:prstGeom>
        </p:spPr>
      </p:pic>
      <p:sp>
        <p:nvSpPr>
          <p:cNvPr id="10" name="Point 2 text"/>
          <p:cNvSpPr txBox="1"/>
          <p:nvPr/>
        </p:nvSpPr>
        <p:spPr>
          <a:xfrm>
            <a:off x="6702552" y="2468880"/>
            <a:ext cx="1984248" cy="731520"/>
          </a:xfrm>
          <a:prstGeom prst="rect">
            <a:avLst/>
          </a:prstGeom>
          <a:noFill/>
          <a:ln/>
        </p:spPr>
        <p:txBody>
          <a:bodyPr wrap="square" lIns="0" tIns="0" rIns="0" bIns="0" rtlCol="0" anchor="ctr"/>
          <a:lstStyle/>
          <a:p>
            <a:pPr indent="0" marL="0">
              <a:buNone/>
            </a:pPr>
            <a:r>
              <a:rPr lang="en-US" sz="1500" dirty="0">
                <a:solidFill>
                  <a:schemeClr val="tx1"/>
                </a:solidFill>
              </a:rPr>
              <a:t>Low-stock warning</a:t>
            </a:r>
            <a:endParaRPr lang="en-US" sz="1500" dirty="0"/>
          </a:p>
        </p:txBody>
      </p:sp>
      <p:sp>
        <p:nvSpPr>
          <p:cNvPr id="11" name="Point 3 circle"/>
          <p:cNvSpPr/>
          <p:nvPr/>
        </p:nvSpPr>
        <p:spPr>
          <a:xfrm>
            <a:off x="6080760" y="3520440"/>
            <a:ext cx="457200" cy="457200"/>
          </a:xfrm>
          <a:prstGeom prst="ellipse">
            <a:avLst/>
          </a:prstGeom>
          <a:solidFill>
            <a:schemeClr val="accent1"/>
          </a:solidFill>
          <a:ln/>
        </p:spPr>
      </p:sp>
      <p:pic>
        <p:nvPicPr>
          <p:cNvPr id="12" name="Point 3 icon" descr="preencoded.png">    </p:cNvPr>
          <p:cNvPicPr>
            <a:picLocks noChangeAspect="1"/>
          </p:cNvPicPr>
          <p:nvPr/>
        </p:nvPicPr>
        <p:blipFill>
          <a:blip r:embed="rId4"/>
          <a:stretch>
            <a:fillRect/>
          </a:stretch>
        </p:blipFill>
        <p:spPr>
          <a:xfrm>
            <a:off x="6204204" y="3643884"/>
            <a:ext cx="210312" cy="210312"/>
          </a:xfrm>
          <a:prstGeom prst="rect">
            <a:avLst/>
          </a:prstGeom>
        </p:spPr>
      </p:pic>
      <p:sp>
        <p:nvSpPr>
          <p:cNvPr id="13" name="Point 3 text"/>
          <p:cNvSpPr txBox="1"/>
          <p:nvPr/>
        </p:nvSpPr>
        <p:spPr>
          <a:xfrm>
            <a:off x="6702552" y="3383280"/>
            <a:ext cx="1984248" cy="731520"/>
          </a:xfrm>
          <a:prstGeom prst="rect">
            <a:avLst/>
          </a:prstGeom>
          <a:noFill/>
          <a:ln/>
        </p:spPr>
        <p:txBody>
          <a:bodyPr wrap="square" lIns="0" tIns="0" rIns="0" bIns="0" rtlCol="0" anchor="ctr"/>
          <a:lstStyle/>
          <a:p>
            <a:pPr indent="0" marL="0">
              <a:buNone/>
            </a:pPr>
            <a:r>
              <a:rPr lang="en-US" sz="1500" dirty="0">
                <a:solidFill>
                  <a:schemeClr val="tx1"/>
                </a:solidFill>
              </a:rPr>
              <a:t>Every release is in the log</a:t>
            </a:r>
            <a:endParaRPr lang="en-US" sz="15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E6A69"/>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rPr>
              <a:t>Clinic statistics for any period</a:t>
            </a:r>
            <a:endParaRPr lang="en-US" sz="3200" dirty="0"/>
          </a:p>
        </p:txBody>
      </p:sp>
      <p:sp>
        <p:nvSpPr>
          <p:cNvPr id="3" name="Point 1 circle"/>
          <p:cNvSpPr/>
          <p:nvPr/>
        </p:nvSpPr>
        <p:spPr>
          <a:xfrm>
            <a:off x="457200" y="1691640"/>
            <a:ext cx="457200" cy="457200"/>
          </a:xfrm>
          <a:prstGeom prst="ellipse">
            <a:avLst/>
          </a:prstGeom>
          <a:solidFill>
            <a:schemeClr val="accent1"/>
          </a:solidFill>
          <a:ln/>
        </p:spPr>
      </p:sp>
      <p:pic>
        <p:nvPicPr>
          <p:cNvPr id="4" name="Point 1 icon" descr="preencoded.png">    </p:cNvPr>
          <p:cNvPicPr>
            <a:picLocks noChangeAspect="1"/>
          </p:cNvPicPr>
          <p:nvPr/>
        </p:nvPicPr>
        <p:blipFill>
          <a:blip r:embed="rId1"/>
          <a:stretch>
            <a:fillRect/>
          </a:stretch>
        </p:blipFill>
        <p:spPr>
          <a:xfrm>
            <a:off x="580644" y="1815084"/>
            <a:ext cx="210312" cy="210312"/>
          </a:xfrm>
          <a:prstGeom prst="rect">
            <a:avLst/>
          </a:prstGeom>
        </p:spPr>
      </p:pic>
      <p:sp>
        <p:nvSpPr>
          <p:cNvPr id="5" name="Point 1 text"/>
          <p:cNvSpPr txBox="1"/>
          <p:nvPr/>
        </p:nvSpPr>
        <p:spPr>
          <a:xfrm>
            <a:off x="1078992" y="1554480"/>
            <a:ext cx="1984248" cy="731520"/>
          </a:xfrm>
          <a:prstGeom prst="rect">
            <a:avLst/>
          </a:prstGeom>
          <a:noFill/>
          <a:ln/>
        </p:spPr>
        <p:txBody>
          <a:bodyPr wrap="square" lIns="0" tIns="0" rIns="0" bIns="0" rtlCol="0" anchor="ctr"/>
          <a:lstStyle/>
          <a:p>
            <a:pPr indent="0" marL="0">
              <a:buNone/>
            </a:pPr>
            <a:r>
              <a:rPr lang="en-US" sz="1500" dirty="0">
                <a:solidFill>
                  <a:schemeClr val="tx1"/>
                </a:solidFill>
              </a:rPr>
              <a:t>By month, semester or summer term</a:t>
            </a:r>
            <a:endParaRPr lang="en-US" sz="1500" dirty="0"/>
          </a:p>
        </p:txBody>
      </p:sp>
      <p:sp>
        <p:nvSpPr>
          <p:cNvPr id="6" name="Point 2 circle"/>
          <p:cNvSpPr/>
          <p:nvPr/>
        </p:nvSpPr>
        <p:spPr>
          <a:xfrm>
            <a:off x="457200" y="2606040"/>
            <a:ext cx="457200" cy="457200"/>
          </a:xfrm>
          <a:prstGeom prst="ellipse">
            <a:avLst/>
          </a:prstGeom>
          <a:solidFill>
            <a:schemeClr val="accent1"/>
          </a:solidFill>
          <a:ln/>
        </p:spPr>
      </p:sp>
      <p:pic>
        <p:nvPicPr>
          <p:cNvPr id="7" name="Point 2 icon" descr="preencoded.png">    </p:cNvPr>
          <p:cNvPicPr>
            <a:picLocks noChangeAspect="1"/>
          </p:cNvPicPr>
          <p:nvPr/>
        </p:nvPicPr>
        <p:blipFill>
          <a:blip r:embed="rId2"/>
          <a:stretch>
            <a:fillRect/>
          </a:stretch>
        </p:blipFill>
        <p:spPr>
          <a:xfrm>
            <a:off x="580644" y="2729484"/>
            <a:ext cx="210312" cy="210312"/>
          </a:xfrm>
          <a:prstGeom prst="rect">
            <a:avLst/>
          </a:prstGeom>
        </p:spPr>
      </p:pic>
      <p:sp>
        <p:nvSpPr>
          <p:cNvPr id="8" name="Point 2 text"/>
          <p:cNvSpPr txBox="1"/>
          <p:nvPr/>
        </p:nvSpPr>
        <p:spPr>
          <a:xfrm>
            <a:off x="1078992" y="2468880"/>
            <a:ext cx="1984248" cy="731520"/>
          </a:xfrm>
          <a:prstGeom prst="rect">
            <a:avLst/>
          </a:prstGeom>
          <a:noFill/>
          <a:ln/>
        </p:spPr>
        <p:txBody>
          <a:bodyPr wrap="square" lIns="0" tIns="0" rIns="0" bIns="0" rtlCol="0" anchor="ctr"/>
          <a:lstStyle/>
          <a:p>
            <a:pPr indent="0" marL="0">
              <a:buNone/>
            </a:pPr>
            <a:r>
              <a:rPr lang="en-US" sz="1500" dirty="0">
                <a:solidFill>
                  <a:schemeClr val="tx1"/>
                </a:solidFill>
              </a:rPr>
              <a:t>Visits by type, department and complaint</a:t>
            </a:r>
            <a:endParaRPr lang="en-US" sz="1500" dirty="0"/>
          </a:p>
        </p:txBody>
      </p:sp>
      <p:sp>
        <p:nvSpPr>
          <p:cNvPr id="9" name="Point 3 circle"/>
          <p:cNvSpPr/>
          <p:nvPr/>
        </p:nvSpPr>
        <p:spPr>
          <a:xfrm>
            <a:off x="457200" y="3520440"/>
            <a:ext cx="457200" cy="457200"/>
          </a:xfrm>
          <a:prstGeom prst="ellipse">
            <a:avLst/>
          </a:prstGeom>
          <a:solidFill>
            <a:schemeClr val="accent1"/>
          </a:solidFill>
          <a:ln/>
        </p:spPr>
      </p:sp>
      <p:pic>
        <p:nvPicPr>
          <p:cNvPr id="10" name="Point 3 icon" descr="preencoded.png">    </p:cNvPr>
          <p:cNvPicPr>
            <a:picLocks noChangeAspect="1"/>
          </p:cNvPicPr>
          <p:nvPr/>
        </p:nvPicPr>
        <p:blipFill>
          <a:blip r:embed="rId3"/>
          <a:stretch>
            <a:fillRect/>
          </a:stretch>
        </p:blipFill>
        <p:spPr>
          <a:xfrm>
            <a:off x="580644" y="3643884"/>
            <a:ext cx="210312" cy="210312"/>
          </a:xfrm>
          <a:prstGeom prst="rect">
            <a:avLst/>
          </a:prstGeom>
        </p:spPr>
      </p:pic>
      <p:sp>
        <p:nvSpPr>
          <p:cNvPr id="11" name="Point 3 text"/>
          <p:cNvSpPr txBox="1"/>
          <p:nvPr/>
        </p:nvSpPr>
        <p:spPr>
          <a:xfrm>
            <a:off x="1078992" y="3383280"/>
            <a:ext cx="1984248" cy="731520"/>
          </a:xfrm>
          <a:prstGeom prst="rect">
            <a:avLst/>
          </a:prstGeom>
          <a:noFill/>
          <a:ln/>
        </p:spPr>
        <p:txBody>
          <a:bodyPr wrap="square" lIns="0" tIns="0" rIns="0" bIns="0" rtlCol="0" anchor="ctr"/>
          <a:lstStyle/>
          <a:p>
            <a:pPr indent="0" marL="0">
              <a:buNone/>
            </a:pPr>
            <a:r>
              <a:rPr lang="en-US" sz="1500" dirty="0">
                <a:solidFill>
                  <a:schemeClr val="tx1"/>
                </a:solidFill>
              </a:rPr>
              <a:t>Download as CSV or save the report</a:t>
            </a:r>
            <a:endParaRPr lang="en-US" sz="1500" dirty="0"/>
          </a:p>
        </p:txBody>
      </p:sp>
      <p:sp>
        <p:nvSpPr>
          <p:cNvPr id="12" name="Clinic statistics for any period screenshot frame"/>
          <p:cNvSpPr/>
          <p:nvPr/>
        </p:nvSpPr>
        <p:spPr>
          <a:xfrm>
            <a:off x="3383280" y="1188720"/>
            <a:ext cx="5303520" cy="3314700"/>
          </a:xfrm>
          <a:prstGeom prst="rect">
            <a:avLst/>
          </a:prstGeom>
          <a:solidFill>
            <a:schemeClr val="bg1"/>
          </a:solidFill>
          <a:ln w="9525">
            <a:solidFill>
              <a:srgbClr val="E4E2E0"/>
            </a:solidFill>
            <a:prstDash val="solid"/>
          </a:ln>
          <a:effectLst>
            <a:outerShdw sx="100000" sy="100000" kx="0" ky="0" algn="bl" rotWithShape="0" blurRad="127000" dist="38100" dir="5400000">
              <a:srgbClr val="000000">
                <a:alpha val="18000"/>
              </a:srgbClr>
            </a:outerShdw>
          </a:effectLst>
        </p:spPr>
      </p:sp>
      <p:pic>
        <p:nvPicPr>
          <p:cNvPr id="13" name="Clinic statistics for any period screenshot" descr="preencoded.png">    </p:cNvPr>
          <p:cNvPicPr>
            <a:picLocks noChangeAspect="1"/>
          </p:cNvPicPr>
          <p:nvPr/>
        </p:nvPicPr>
        <p:blipFill>
          <a:blip r:embed="rId4"/>
          <a:stretch>
            <a:fillRect/>
          </a:stretch>
        </p:blipFill>
        <p:spPr>
          <a:xfrm>
            <a:off x="3383280" y="1188720"/>
            <a:ext cx="5303520" cy="3314700"/>
          </a:xfrm>
          <a:prstGeom prst="rect">
            <a:avLst/>
          </a:prstGeom>
        </p:spPr>
      </p:pic>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E6A69"/>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rPr>
              <a:t>Built to protect patient data</a:t>
            </a:r>
            <a:endParaRPr lang="en-US" sz="3200" dirty="0"/>
          </a:p>
        </p:txBody>
      </p:sp>
      <p:sp>
        <p:nvSpPr>
          <p:cNvPr id="3" name="Privacy card 1"/>
          <p:cNvSpPr/>
          <p:nvPr/>
        </p:nvSpPr>
        <p:spPr>
          <a:xfrm>
            <a:off x="457200" y="1234440"/>
            <a:ext cx="4023360" cy="1280160"/>
          </a:xfrm>
          <a:prstGeom prst="roundRect">
            <a:avLst>
              <a:gd name="adj" fmla="val 5714"/>
            </a:avLst>
          </a:prstGeom>
          <a:solidFill>
            <a:schemeClr val="bg2"/>
          </a:solidFill>
          <a:ln/>
        </p:spPr>
      </p:sp>
      <p:sp>
        <p:nvSpPr>
          <p:cNvPr id="4" name="Privacy 1 circle"/>
          <p:cNvSpPr/>
          <p:nvPr/>
        </p:nvSpPr>
        <p:spPr>
          <a:xfrm>
            <a:off x="685800" y="1600200"/>
            <a:ext cx="548640" cy="548640"/>
          </a:xfrm>
          <a:prstGeom prst="ellipse">
            <a:avLst/>
          </a:prstGeom>
          <a:solidFill>
            <a:schemeClr val="accent1"/>
          </a:solidFill>
          <a:ln/>
        </p:spPr>
      </p:sp>
      <p:pic>
        <p:nvPicPr>
          <p:cNvPr id="5" name="Privacy 1 icon" descr="preencoded.png">    </p:cNvPr>
          <p:cNvPicPr>
            <a:picLocks noChangeAspect="1"/>
          </p:cNvPicPr>
          <p:nvPr/>
        </p:nvPicPr>
        <p:blipFill>
          <a:blip r:embed="rId1"/>
          <a:stretch>
            <a:fillRect/>
          </a:stretch>
        </p:blipFill>
        <p:spPr>
          <a:xfrm>
            <a:off x="833933" y="1748333"/>
            <a:ext cx="252374" cy="252374"/>
          </a:xfrm>
          <a:prstGeom prst="rect">
            <a:avLst/>
          </a:prstGeom>
        </p:spPr>
      </p:pic>
      <p:sp>
        <p:nvSpPr>
          <p:cNvPr id="6" name="Privacy 1 title"/>
          <p:cNvSpPr txBox="1"/>
          <p:nvPr/>
        </p:nvSpPr>
        <p:spPr>
          <a:xfrm>
            <a:off x="1463040" y="1417320"/>
            <a:ext cx="2834640" cy="365760"/>
          </a:xfrm>
          <a:prstGeom prst="rect">
            <a:avLst/>
          </a:prstGeom>
          <a:noFill/>
          <a:ln/>
        </p:spPr>
        <p:txBody>
          <a:bodyPr wrap="square" lIns="0" tIns="0" rIns="0" bIns="0" rtlCol="0" anchor="ctr"/>
          <a:lstStyle/>
          <a:p>
            <a:pPr indent="0" marL="0">
              <a:buNone/>
            </a:pPr>
            <a:r>
              <a:rPr lang="en-US" sz="1800" b="1" dirty="0">
                <a:solidFill>
                  <a:schemeClr val="tx1"/>
                </a:solidFill>
              </a:rPr>
              <a:t>Stays in the clinic</a:t>
            </a:r>
            <a:endParaRPr lang="en-US" sz="1800" dirty="0"/>
          </a:p>
        </p:txBody>
      </p:sp>
      <p:sp>
        <p:nvSpPr>
          <p:cNvPr id="7" name="Privacy 1 text"/>
          <p:cNvSpPr txBox="1"/>
          <p:nvPr/>
        </p:nvSpPr>
        <p:spPr>
          <a:xfrm>
            <a:off x="1463040" y="1801368"/>
            <a:ext cx="2834640" cy="548640"/>
          </a:xfrm>
          <a:prstGeom prst="rect">
            <a:avLst/>
          </a:prstGeom>
          <a:noFill/>
          <a:ln/>
        </p:spPr>
        <p:txBody>
          <a:bodyPr wrap="square" lIns="0" tIns="0" rIns="0" bIns="0" rtlCol="0" anchor="t"/>
          <a:lstStyle/>
          <a:p>
            <a:pPr indent="0" marL="0">
              <a:buNone/>
            </a:pPr>
            <a:r>
              <a:rPr lang="en-US" sz="1400" dirty="0">
                <a:solidFill>
                  <a:srgbClr val="6E6A69"/>
                </a:solidFill>
              </a:rPr>
              <a:t>Runs on the clinic’s own network</a:t>
            </a:r>
            <a:endParaRPr lang="en-US" sz="1400" dirty="0"/>
          </a:p>
        </p:txBody>
      </p:sp>
      <p:sp>
        <p:nvSpPr>
          <p:cNvPr id="8" name="Privacy card 2"/>
          <p:cNvSpPr/>
          <p:nvPr/>
        </p:nvSpPr>
        <p:spPr>
          <a:xfrm>
            <a:off x="4663440" y="1234440"/>
            <a:ext cx="4023360" cy="1280160"/>
          </a:xfrm>
          <a:prstGeom prst="roundRect">
            <a:avLst>
              <a:gd name="adj" fmla="val 5714"/>
            </a:avLst>
          </a:prstGeom>
          <a:solidFill>
            <a:schemeClr val="bg2"/>
          </a:solidFill>
          <a:ln/>
        </p:spPr>
      </p:sp>
      <p:sp>
        <p:nvSpPr>
          <p:cNvPr id="9" name="Privacy 2 circle"/>
          <p:cNvSpPr/>
          <p:nvPr/>
        </p:nvSpPr>
        <p:spPr>
          <a:xfrm>
            <a:off x="4892040" y="1600200"/>
            <a:ext cx="548640" cy="548640"/>
          </a:xfrm>
          <a:prstGeom prst="ellipse">
            <a:avLst/>
          </a:prstGeom>
          <a:solidFill>
            <a:schemeClr val="accent1"/>
          </a:solidFill>
          <a:ln/>
        </p:spPr>
      </p:sp>
      <p:pic>
        <p:nvPicPr>
          <p:cNvPr id="10" name="Privacy 2 icon" descr="preencoded.png">    </p:cNvPr>
          <p:cNvPicPr>
            <a:picLocks noChangeAspect="1"/>
          </p:cNvPicPr>
          <p:nvPr/>
        </p:nvPicPr>
        <p:blipFill>
          <a:blip r:embed="rId2"/>
          <a:stretch>
            <a:fillRect/>
          </a:stretch>
        </p:blipFill>
        <p:spPr>
          <a:xfrm>
            <a:off x="5040173" y="1748333"/>
            <a:ext cx="252374" cy="252374"/>
          </a:xfrm>
          <a:prstGeom prst="rect">
            <a:avLst/>
          </a:prstGeom>
        </p:spPr>
      </p:pic>
      <p:sp>
        <p:nvSpPr>
          <p:cNvPr id="11" name="Privacy 2 title"/>
          <p:cNvSpPr txBox="1"/>
          <p:nvPr/>
        </p:nvSpPr>
        <p:spPr>
          <a:xfrm>
            <a:off x="5669280" y="1417320"/>
            <a:ext cx="2834640" cy="365760"/>
          </a:xfrm>
          <a:prstGeom prst="rect">
            <a:avLst/>
          </a:prstGeom>
          <a:noFill/>
          <a:ln/>
        </p:spPr>
        <p:txBody>
          <a:bodyPr wrap="square" lIns="0" tIns="0" rIns="0" bIns="0" rtlCol="0" anchor="ctr"/>
          <a:lstStyle/>
          <a:p>
            <a:pPr indent="0" marL="0">
              <a:buNone/>
            </a:pPr>
            <a:r>
              <a:rPr lang="en-US" sz="1800" b="1" dirty="0">
                <a:solidFill>
                  <a:schemeClr val="tx1"/>
                </a:solidFill>
              </a:rPr>
              <a:t>Access by role</a:t>
            </a:r>
            <a:endParaRPr lang="en-US" sz="1800" dirty="0"/>
          </a:p>
        </p:txBody>
      </p:sp>
      <p:sp>
        <p:nvSpPr>
          <p:cNvPr id="12" name="Privacy 2 text"/>
          <p:cNvSpPr txBox="1"/>
          <p:nvPr/>
        </p:nvSpPr>
        <p:spPr>
          <a:xfrm>
            <a:off x="5669280" y="1801368"/>
            <a:ext cx="2834640" cy="548640"/>
          </a:xfrm>
          <a:prstGeom prst="rect">
            <a:avLst/>
          </a:prstGeom>
          <a:noFill/>
          <a:ln/>
        </p:spPr>
        <p:txBody>
          <a:bodyPr wrap="square" lIns="0" tIns="0" rIns="0" bIns="0" rtlCol="0" anchor="t"/>
          <a:lstStyle/>
          <a:p>
            <a:pPr indent="0" marL="0">
              <a:buNone/>
            </a:pPr>
            <a:r>
              <a:rPr lang="en-US" sz="1400" dirty="0">
                <a:solidFill>
                  <a:srgbClr val="6E6A69"/>
                </a:solidFill>
              </a:rPr>
              <a:t>Coordinator, clinic staff and doctor see only what they need</a:t>
            </a:r>
            <a:endParaRPr lang="en-US" sz="1400" dirty="0"/>
          </a:p>
        </p:txBody>
      </p:sp>
      <p:sp>
        <p:nvSpPr>
          <p:cNvPr id="13" name="Privacy card 3"/>
          <p:cNvSpPr/>
          <p:nvPr/>
        </p:nvSpPr>
        <p:spPr>
          <a:xfrm>
            <a:off x="457200" y="2697480"/>
            <a:ext cx="4023360" cy="1280160"/>
          </a:xfrm>
          <a:prstGeom prst="roundRect">
            <a:avLst>
              <a:gd name="adj" fmla="val 5714"/>
            </a:avLst>
          </a:prstGeom>
          <a:solidFill>
            <a:schemeClr val="bg2"/>
          </a:solidFill>
          <a:ln/>
        </p:spPr>
      </p:sp>
      <p:sp>
        <p:nvSpPr>
          <p:cNvPr id="14" name="Privacy 3 circle"/>
          <p:cNvSpPr/>
          <p:nvPr/>
        </p:nvSpPr>
        <p:spPr>
          <a:xfrm>
            <a:off x="685800" y="3063240"/>
            <a:ext cx="548640" cy="548640"/>
          </a:xfrm>
          <a:prstGeom prst="ellipse">
            <a:avLst/>
          </a:prstGeom>
          <a:solidFill>
            <a:schemeClr val="accent1"/>
          </a:solidFill>
          <a:ln/>
        </p:spPr>
      </p:sp>
      <p:pic>
        <p:nvPicPr>
          <p:cNvPr id="15" name="Privacy 3 icon" descr="preencoded.png">    </p:cNvPr>
          <p:cNvPicPr>
            <a:picLocks noChangeAspect="1"/>
          </p:cNvPicPr>
          <p:nvPr/>
        </p:nvPicPr>
        <p:blipFill>
          <a:blip r:embed="rId3"/>
          <a:stretch>
            <a:fillRect/>
          </a:stretch>
        </p:blipFill>
        <p:spPr>
          <a:xfrm>
            <a:off x="833933" y="3211373"/>
            <a:ext cx="252374" cy="252374"/>
          </a:xfrm>
          <a:prstGeom prst="rect">
            <a:avLst/>
          </a:prstGeom>
        </p:spPr>
      </p:pic>
      <p:sp>
        <p:nvSpPr>
          <p:cNvPr id="16" name="Privacy 3 title"/>
          <p:cNvSpPr txBox="1"/>
          <p:nvPr/>
        </p:nvSpPr>
        <p:spPr>
          <a:xfrm>
            <a:off x="1463040" y="2880360"/>
            <a:ext cx="2834640" cy="365760"/>
          </a:xfrm>
          <a:prstGeom prst="rect">
            <a:avLst/>
          </a:prstGeom>
          <a:noFill/>
          <a:ln/>
        </p:spPr>
        <p:txBody>
          <a:bodyPr wrap="square" lIns="0" tIns="0" rIns="0" bIns="0" rtlCol="0" anchor="ctr"/>
          <a:lstStyle/>
          <a:p>
            <a:pPr indent="0" marL="0">
              <a:buNone/>
            </a:pPr>
            <a:r>
              <a:rPr lang="en-US" sz="1800" b="1" dirty="0">
                <a:solidFill>
                  <a:schemeClr val="tx1"/>
                </a:solidFill>
              </a:rPr>
              <a:t>Every view is logged</a:t>
            </a:r>
            <a:endParaRPr lang="en-US" sz="1800" dirty="0"/>
          </a:p>
        </p:txBody>
      </p:sp>
      <p:sp>
        <p:nvSpPr>
          <p:cNvPr id="17" name="Privacy 3 text"/>
          <p:cNvSpPr txBox="1"/>
          <p:nvPr/>
        </p:nvSpPr>
        <p:spPr>
          <a:xfrm>
            <a:off x="1463040" y="3264408"/>
            <a:ext cx="2834640" cy="548640"/>
          </a:xfrm>
          <a:prstGeom prst="rect">
            <a:avLst/>
          </a:prstGeom>
          <a:noFill/>
          <a:ln/>
        </p:spPr>
        <p:txBody>
          <a:bodyPr wrap="square" lIns="0" tIns="0" rIns="0" bIns="0" rtlCol="0" anchor="t"/>
          <a:lstStyle/>
          <a:p>
            <a:pPr indent="0" marL="0">
              <a:buNone/>
            </a:pPr>
            <a:r>
              <a:rPr lang="en-US" sz="1400" dirty="0">
                <a:solidFill>
                  <a:srgbClr val="6E6A69"/>
                </a:solidFill>
              </a:rPr>
              <a:t>The audit log shows who viewed or changed a record</a:t>
            </a:r>
            <a:endParaRPr lang="en-US" sz="1400" dirty="0"/>
          </a:p>
        </p:txBody>
      </p:sp>
      <p:sp>
        <p:nvSpPr>
          <p:cNvPr id="18" name="Privacy card 4"/>
          <p:cNvSpPr/>
          <p:nvPr/>
        </p:nvSpPr>
        <p:spPr>
          <a:xfrm>
            <a:off x="4663440" y="2697480"/>
            <a:ext cx="4023360" cy="1280160"/>
          </a:xfrm>
          <a:prstGeom prst="roundRect">
            <a:avLst>
              <a:gd name="adj" fmla="val 5714"/>
            </a:avLst>
          </a:prstGeom>
          <a:solidFill>
            <a:schemeClr val="bg2"/>
          </a:solidFill>
          <a:ln/>
        </p:spPr>
      </p:sp>
      <p:sp>
        <p:nvSpPr>
          <p:cNvPr id="19" name="Privacy 4 circle"/>
          <p:cNvSpPr/>
          <p:nvPr/>
        </p:nvSpPr>
        <p:spPr>
          <a:xfrm>
            <a:off x="4892040" y="3063240"/>
            <a:ext cx="548640" cy="548640"/>
          </a:xfrm>
          <a:prstGeom prst="ellipse">
            <a:avLst/>
          </a:prstGeom>
          <a:solidFill>
            <a:schemeClr val="accent1"/>
          </a:solidFill>
          <a:ln/>
        </p:spPr>
      </p:sp>
      <p:pic>
        <p:nvPicPr>
          <p:cNvPr id="20" name="Privacy 4 icon" descr="preencoded.png">    </p:cNvPr>
          <p:cNvPicPr>
            <a:picLocks noChangeAspect="1"/>
          </p:cNvPicPr>
          <p:nvPr/>
        </p:nvPicPr>
        <p:blipFill>
          <a:blip r:embed="rId4"/>
          <a:stretch>
            <a:fillRect/>
          </a:stretch>
        </p:blipFill>
        <p:spPr>
          <a:xfrm>
            <a:off x="5040173" y="3211373"/>
            <a:ext cx="252374" cy="252374"/>
          </a:xfrm>
          <a:prstGeom prst="rect">
            <a:avLst/>
          </a:prstGeom>
        </p:spPr>
      </p:pic>
      <p:sp>
        <p:nvSpPr>
          <p:cNvPr id="21" name="Privacy 4 title"/>
          <p:cNvSpPr txBox="1"/>
          <p:nvPr/>
        </p:nvSpPr>
        <p:spPr>
          <a:xfrm>
            <a:off x="5669280" y="2880360"/>
            <a:ext cx="2834640" cy="365760"/>
          </a:xfrm>
          <a:prstGeom prst="rect">
            <a:avLst/>
          </a:prstGeom>
          <a:noFill/>
          <a:ln/>
        </p:spPr>
        <p:txBody>
          <a:bodyPr wrap="square" lIns="0" tIns="0" rIns="0" bIns="0" rtlCol="0" anchor="ctr"/>
          <a:lstStyle/>
          <a:p>
            <a:pPr indent="0" marL="0">
              <a:buNone/>
            </a:pPr>
            <a:r>
              <a:rPr lang="en-US" sz="1800" b="1" dirty="0">
                <a:solidFill>
                  <a:schemeClr val="tx1"/>
                </a:solidFill>
              </a:rPr>
              <a:t>Automatic sign-out</a:t>
            </a:r>
            <a:endParaRPr lang="en-US" sz="1800" dirty="0"/>
          </a:p>
        </p:txBody>
      </p:sp>
      <p:sp>
        <p:nvSpPr>
          <p:cNvPr id="22" name="Privacy 4 text"/>
          <p:cNvSpPr txBox="1"/>
          <p:nvPr/>
        </p:nvSpPr>
        <p:spPr>
          <a:xfrm>
            <a:off x="5669280" y="3264408"/>
            <a:ext cx="2834640" cy="548640"/>
          </a:xfrm>
          <a:prstGeom prst="rect">
            <a:avLst/>
          </a:prstGeom>
          <a:noFill/>
          <a:ln/>
        </p:spPr>
        <p:txBody>
          <a:bodyPr wrap="square" lIns="0" tIns="0" rIns="0" bIns="0" rtlCol="0" anchor="t"/>
          <a:lstStyle/>
          <a:p>
            <a:pPr indent="0" marL="0">
              <a:buNone/>
            </a:pPr>
            <a:r>
              <a:rPr lang="en-US" sz="1400" dirty="0">
                <a:solidFill>
                  <a:srgbClr val="6E6A69"/>
                </a:solidFill>
              </a:rPr>
              <a:t>A station left unused for an hour signs out</a:t>
            </a:r>
            <a:endParaRPr lang="en-US" sz="1400" dirty="0"/>
          </a:p>
        </p:txBody>
      </p:sp>
      <p:sp>
        <p:nvSpPr>
          <p:cNvPr id="23" name="Privacy note"/>
          <p:cNvSpPr txBox="1"/>
          <p:nvPr/>
        </p:nvSpPr>
        <p:spPr>
          <a:xfrm>
            <a:off x="457200" y="4224528"/>
            <a:ext cx="8229600" cy="320040"/>
          </a:xfrm>
          <a:prstGeom prst="rect">
            <a:avLst/>
          </a:prstGeom>
          <a:noFill/>
          <a:ln/>
        </p:spPr>
        <p:txBody>
          <a:bodyPr wrap="square" lIns="0" tIns="0" rIns="0" bIns="0" rtlCol="0" anchor="ctr"/>
          <a:lstStyle/>
          <a:p>
            <a:pPr indent="0" marL="0">
              <a:buNone/>
            </a:pPr>
            <a:r>
              <a:rPr lang="en-US" sz="1400" i="1" dirty="0">
                <a:solidFill>
                  <a:schemeClr val="tx2"/>
                </a:solidFill>
              </a:rPr>
              <a:t>In keeping with the Data Privacy Act of 2012</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E6A69"/>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rPr>
              <a:t>Where the project is now</a:t>
            </a:r>
            <a:endParaRPr lang="en-US" sz="3200" dirty="0"/>
          </a:p>
        </p:txBody>
      </p:sp>
      <p:sp>
        <p:nvSpPr>
          <p:cNvPr id="3" name="Timeline line"/>
          <p:cNvSpPr/>
          <p:nvPr/>
        </p:nvSpPr>
        <p:spPr>
          <a:xfrm>
            <a:off x="1280160" y="1783080"/>
            <a:ext cx="6583680" cy="0"/>
          </a:xfrm>
          <a:prstGeom prst="line">
            <a:avLst/>
          </a:prstGeom>
          <a:noFill/>
          <a:ln w="25400">
            <a:solidFill>
              <a:srgbClr val="E4E2E0"/>
            </a:solidFill>
            <a:prstDash val="solid"/>
          </a:ln>
        </p:spPr>
      </p:sp>
      <p:sp>
        <p:nvSpPr>
          <p:cNvPr id="4" name="Phase 1 circle"/>
          <p:cNvSpPr/>
          <p:nvPr/>
        </p:nvSpPr>
        <p:spPr>
          <a:xfrm>
            <a:off x="960120" y="1463040"/>
            <a:ext cx="640080" cy="640080"/>
          </a:xfrm>
          <a:prstGeom prst="ellipse">
            <a:avLst/>
          </a:prstGeom>
          <a:solidFill>
            <a:schemeClr val="accent3"/>
          </a:solidFill>
          <a:ln/>
        </p:spPr>
      </p:sp>
      <p:pic>
        <p:nvPicPr>
          <p:cNvPr id="5" name="Phase 1 icon" descr="preencoded.png">    </p:cNvPr>
          <p:cNvPicPr>
            <a:picLocks noChangeAspect="1"/>
          </p:cNvPicPr>
          <p:nvPr/>
        </p:nvPicPr>
        <p:blipFill>
          <a:blip r:embed="rId1"/>
          <a:stretch>
            <a:fillRect/>
          </a:stretch>
        </p:blipFill>
        <p:spPr>
          <a:xfrm>
            <a:off x="1132942" y="1635862"/>
            <a:ext cx="294437" cy="294437"/>
          </a:xfrm>
          <a:prstGeom prst="rect">
            <a:avLst/>
          </a:prstGeom>
        </p:spPr>
      </p:pic>
      <p:sp>
        <p:nvSpPr>
          <p:cNvPr id="6" name="Phase 1 number"/>
          <p:cNvSpPr txBox="1"/>
          <p:nvPr/>
        </p:nvSpPr>
        <p:spPr>
          <a:xfrm>
            <a:off x="502920" y="2240280"/>
            <a:ext cx="1554480" cy="256032"/>
          </a:xfrm>
          <a:prstGeom prst="rect">
            <a:avLst/>
          </a:prstGeom>
          <a:noFill/>
          <a:ln/>
        </p:spPr>
        <p:txBody>
          <a:bodyPr wrap="square" lIns="0" tIns="0" rIns="0" bIns="0" rtlCol="0" anchor="ctr"/>
          <a:lstStyle/>
          <a:p>
            <a:pPr algn="ctr" indent="0" marL="0">
              <a:buNone/>
            </a:pPr>
            <a:r>
              <a:rPr lang="en-US" sz="1100" dirty="0">
                <a:solidFill>
                  <a:srgbClr val="6E6A69"/>
                </a:solidFill>
              </a:rPr>
              <a:t>Phase 1</a:t>
            </a:r>
            <a:endParaRPr lang="en-US" sz="1100" dirty="0"/>
          </a:p>
        </p:txBody>
      </p:sp>
      <p:sp>
        <p:nvSpPr>
          <p:cNvPr id="7" name="Phase 1 label"/>
          <p:cNvSpPr txBox="1"/>
          <p:nvPr/>
        </p:nvSpPr>
        <p:spPr>
          <a:xfrm>
            <a:off x="502920" y="2487168"/>
            <a:ext cx="1554480" cy="329184"/>
          </a:xfrm>
          <a:prstGeom prst="rect">
            <a:avLst/>
          </a:prstGeom>
          <a:noFill/>
          <a:ln/>
        </p:spPr>
        <p:txBody>
          <a:bodyPr wrap="square" lIns="0" tIns="0" rIns="0" bIns="0" rtlCol="0" anchor="ctr"/>
          <a:lstStyle/>
          <a:p>
            <a:pPr algn="ctr" indent="0" marL="0">
              <a:buNone/>
            </a:pPr>
            <a:r>
              <a:rPr lang="en-US" sz="1700" b="1" dirty="0">
                <a:solidFill>
                  <a:schemeClr val="tx1"/>
                </a:solidFill>
              </a:rPr>
              <a:t>Proposal</a:t>
            </a:r>
            <a:endParaRPr lang="en-US" sz="1700" dirty="0"/>
          </a:p>
        </p:txBody>
      </p:sp>
      <p:sp>
        <p:nvSpPr>
          <p:cNvPr id="8" name="Phase 1 text"/>
          <p:cNvSpPr txBox="1"/>
          <p:nvPr/>
        </p:nvSpPr>
        <p:spPr>
          <a:xfrm>
            <a:off x="502920" y="2816352"/>
            <a:ext cx="1554480" cy="292608"/>
          </a:xfrm>
          <a:prstGeom prst="rect">
            <a:avLst/>
          </a:prstGeom>
          <a:noFill/>
          <a:ln/>
        </p:spPr>
        <p:txBody>
          <a:bodyPr wrap="square" lIns="0" tIns="0" rIns="0" bIns="0" rtlCol="0" anchor="ctr"/>
          <a:lstStyle/>
          <a:p>
            <a:pPr algn="ctr" indent="0" marL="0">
              <a:buNone/>
            </a:pPr>
            <a:r>
              <a:rPr lang="en-US" sz="1300" dirty="0">
                <a:solidFill>
                  <a:srgbClr val="6E6A69"/>
                </a:solidFill>
              </a:rPr>
              <a:t>Approved</a:t>
            </a:r>
            <a:endParaRPr lang="en-US" sz="1300" dirty="0"/>
          </a:p>
        </p:txBody>
      </p:sp>
      <p:sp>
        <p:nvSpPr>
          <p:cNvPr id="9" name="Phase 2 circle"/>
          <p:cNvSpPr/>
          <p:nvPr/>
        </p:nvSpPr>
        <p:spPr>
          <a:xfrm>
            <a:off x="2606040" y="1463040"/>
            <a:ext cx="640080" cy="640080"/>
          </a:xfrm>
          <a:prstGeom prst="ellipse">
            <a:avLst/>
          </a:prstGeom>
          <a:solidFill>
            <a:schemeClr val="accent3"/>
          </a:solidFill>
          <a:ln/>
        </p:spPr>
      </p:sp>
      <p:pic>
        <p:nvPicPr>
          <p:cNvPr id="10" name="Phase 2 icon" descr="preencoded.png">    </p:cNvPr>
          <p:cNvPicPr>
            <a:picLocks noChangeAspect="1"/>
          </p:cNvPicPr>
          <p:nvPr/>
        </p:nvPicPr>
        <p:blipFill>
          <a:blip r:embed="rId2"/>
          <a:stretch>
            <a:fillRect/>
          </a:stretch>
        </p:blipFill>
        <p:spPr>
          <a:xfrm>
            <a:off x="2778862" y="1635862"/>
            <a:ext cx="294437" cy="294437"/>
          </a:xfrm>
          <a:prstGeom prst="rect">
            <a:avLst/>
          </a:prstGeom>
        </p:spPr>
      </p:pic>
      <p:sp>
        <p:nvSpPr>
          <p:cNvPr id="11" name="Phase 2 number"/>
          <p:cNvSpPr txBox="1"/>
          <p:nvPr/>
        </p:nvSpPr>
        <p:spPr>
          <a:xfrm>
            <a:off x="2148840" y="2240280"/>
            <a:ext cx="1554480" cy="256032"/>
          </a:xfrm>
          <a:prstGeom prst="rect">
            <a:avLst/>
          </a:prstGeom>
          <a:noFill/>
          <a:ln/>
        </p:spPr>
        <p:txBody>
          <a:bodyPr wrap="square" lIns="0" tIns="0" rIns="0" bIns="0" rtlCol="0" anchor="ctr"/>
          <a:lstStyle/>
          <a:p>
            <a:pPr algn="ctr" indent="0" marL="0">
              <a:buNone/>
            </a:pPr>
            <a:r>
              <a:rPr lang="en-US" sz="1100" dirty="0">
                <a:solidFill>
                  <a:srgbClr val="6E6A69"/>
                </a:solidFill>
              </a:rPr>
              <a:t>Phase 2</a:t>
            </a:r>
            <a:endParaRPr lang="en-US" sz="1100" dirty="0"/>
          </a:p>
        </p:txBody>
      </p:sp>
      <p:sp>
        <p:nvSpPr>
          <p:cNvPr id="12" name="Phase 2 label"/>
          <p:cNvSpPr txBox="1"/>
          <p:nvPr/>
        </p:nvSpPr>
        <p:spPr>
          <a:xfrm>
            <a:off x="2148840" y="2487168"/>
            <a:ext cx="1554480" cy="329184"/>
          </a:xfrm>
          <a:prstGeom prst="rect">
            <a:avLst/>
          </a:prstGeom>
          <a:noFill/>
          <a:ln/>
        </p:spPr>
        <p:txBody>
          <a:bodyPr wrap="square" lIns="0" tIns="0" rIns="0" bIns="0" rtlCol="0" anchor="ctr"/>
          <a:lstStyle/>
          <a:p>
            <a:pPr algn="ctr" indent="0" marL="0">
              <a:buNone/>
            </a:pPr>
            <a:r>
              <a:rPr lang="en-US" sz="1700" b="1" dirty="0">
                <a:solidFill>
                  <a:schemeClr val="tx1"/>
                </a:solidFill>
              </a:rPr>
              <a:t>Requirements</a:t>
            </a:r>
            <a:endParaRPr lang="en-US" sz="1700" dirty="0"/>
          </a:p>
        </p:txBody>
      </p:sp>
      <p:sp>
        <p:nvSpPr>
          <p:cNvPr id="13" name="Phase 2 text"/>
          <p:cNvSpPr txBox="1"/>
          <p:nvPr/>
        </p:nvSpPr>
        <p:spPr>
          <a:xfrm>
            <a:off x="2148840" y="2816352"/>
            <a:ext cx="1554480" cy="292608"/>
          </a:xfrm>
          <a:prstGeom prst="rect">
            <a:avLst/>
          </a:prstGeom>
          <a:noFill/>
          <a:ln/>
        </p:spPr>
        <p:txBody>
          <a:bodyPr wrap="square" lIns="0" tIns="0" rIns="0" bIns="0" rtlCol="0" anchor="ctr"/>
          <a:lstStyle/>
          <a:p>
            <a:pPr algn="ctr" indent="0" marL="0">
              <a:buNone/>
            </a:pPr>
            <a:r>
              <a:rPr lang="en-US" sz="1300" dirty="0">
                <a:solidFill>
                  <a:srgbClr val="6E6A69"/>
                </a:solidFill>
              </a:rPr>
              <a:t>Clinic interview</a:t>
            </a:r>
            <a:endParaRPr lang="en-US" sz="1300" dirty="0"/>
          </a:p>
        </p:txBody>
      </p:sp>
      <p:sp>
        <p:nvSpPr>
          <p:cNvPr id="14" name="Phase 3 circle"/>
          <p:cNvSpPr/>
          <p:nvPr/>
        </p:nvSpPr>
        <p:spPr>
          <a:xfrm>
            <a:off x="4251960" y="1463040"/>
            <a:ext cx="640080" cy="640080"/>
          </a:xfrm>
          <a:prstGeom prst="ellipse">
            <a:avLst/>
          </a:prstGeom>
          <a:solidFill>
            <a:schemeClr val="accent3"/>
          </a:solidFill>
          <a:ln/>
        </p:spPr>
      </p:sp>
      <p:pic>
        <p:nvPicPr>
          <p:cNvPr id="15" name="Phase 3 icon" descr="preencoded.png">    </p:cNvPr>
          <p:cNvPicPr>
            <a:picLocks noChangeAspect="1"/>
          </p:cNvPicPr>
          <p:nvPr/>
        </p:nvPicPr>
        <p:blipFill>
          <a:blip r:embed="rId3"/>
          <a:stretch>
            <a:fillRect/>
          </a:stretch>
        </p:blipFill>
        <p:spPr>
          <a:xfrm>
            <a:off x="4424782" y="1635862"/>
            <a:ext cx="294437" cy="294437"/>
          </a:xfrm>
          <a:prstGeom prst="rect">
            <a:avLst/>
          </a:prstGeom>
        </p:spPr>
      </p:pic>
      <p:sp>
        <p:nvSpPr>
          <p:cNvPr id="16" name="Phase 3 number"/>
          <p:cNvSpPr txBox="1"/>
          <p:nvPr/>
        </p:nvSpPr>
        <p:spPr>
          <a:xfrm>
            <a:off x="3794760" y="2240280"/>
            <a:ext cx="1554480" cy="256032"/>
          </a:xfrm>
          <a:prstGeom prst="rect">
            <a:avLst/>
          </a:prstGeom>
          <a:noFill/>
          <a:ln/>
        </p:spPr>
        <p:txBody>
          <a:bodyPr wrap="square" lIns="0" tIns="0" rIns="0" bIns="0" rtlCol="0" anchor="ctr"/>
          <a:lstStyle/>
          <a:p>
            <a:pPr algn="ctr" indent="0" marL="0">
              <a:buNone/>
            </a:pPr>
            <a:r>
              <a:rPr lang="en-US" sz="1100" dirty="0">
                <a:solidFill>
                  <a:srgbClr val="6E6A69"/>
                </a:solidFill>
              </a:rPr>
              <a:t>Phase 3</a:t>
            </a:r>
            <a:endParaRPr lang="en-US" sz="1100" dirty="0"/>
          </a:p>
        </p:txBody>
      </p:sp>
      <p:sp>
        <p:nvSpPr>
          <p:cNvPr id="17" name="Phase 3 label"/>
          <p:cNvSpPr txBox="1"/>
          <p:nvPr/>
        </p:nvSpPr>
        <p:spPr>
          <a:xfrm>
            <a:off x="3794760" y="2487168"/>
            <a:ext cx="1554480" cy="329184"/>
          </a:xfrm>
          <a:prstGeom prst="rect">
            <a:avLst/>
          </a:prstGeom>
          <a:noFill/>
          <a:ln/>
        </p:spPr>
        <p:txBody>
          <a:bodyPr wrap="square" lIns="0" tIns="0" rIns="0" bIns="0" rtlCol="0" anchor="ctr"/>
          <a:lstStyle/>
          <a:p>
            <a:pPr algn="ctr" indent="0" marL="0">
              <a:buNone/>
            </a:pPr>
            <a:r>
              <a:rPr lang="en-US" sz="1700" b="1" dirty="0">
                <a:solidFill>
                  <a:schemeClr val="tx1"/>
                </a:solidFill>
              </a:rPr>
              <a:t>Database</a:t>
            </a:r>
            <a:endParaRPr lang="en-US" sz="1700" dirty="0"/>
          </a:p>
        </p:txBody>
      </p:sp>
      <p:sp>
        <p:nvSpPr>
          <p:cNvPr id="18" name="Phase 3 text"/>
          <p:cNvSpPr txBox="1"/>
          <p:nvPr/>
        </p:nvSpPr>
        <p:spPr>
          <a:xfrm>
            <a:off x="3794760" y="2816352"/>
            <a:ext cx="1554480" cy="292608"/>
          </a:xfrm>
          <a:prstGeom prst="rect">
            <a:avLst/>
          </a:prstGeom>
          <a:noFill/>
          <a:ln/>
        </p:spPr>
        <p:txBody>
          <a:bodyPr wrap="square" lIns="0" tIns="0" rIns="0" bIns="0" rtlCol="0" anchor="ctr"/>
          <a:lstStyle/>
          <a:p>
            <a:pPr algn="ctr" indent="0" marL="0">
              <a:buNone/>
            </a:pPr>
            <a:r>
              <a:rPr lang="en-US" sz="1300" dirty="0">
                <a:solidFill>
                  <a:srgbClr val="6E6A69"/>
                </a:solidFill>
              </a:rPr>
              <a:t>Records and security</a:t>
            </a:r>
            <a:endParaRPr lang="en-US" sz="1300" dirty="0"/>
          </a:p>
        </p:txBody>
      </p:sp>
      <p:sp>
        <p:nvSpPr>
          <p:cNvPr id="19" name="Phase 4 circle"/>
          <p:cNvSpPr/>
          <p:nvPr/>
        </p:nvSpPr>
        <p:spPr>
          <a:xfrm>
            <a:off x="5897880" y="1463040"/>
            <a:ext cx="640080" cy="640080"/>
          </a:xfrm>
          <a:prstGeom prst="ellipse">
            <a:avLst/>
          </a:prstGeom>
          <a:solidFill>
            <a:schemeClr val="accent3"/>
          </a:solidFill>
          <a:ln/>
        </p:spPr>
      </p:sp>
      <p:pic>
        <p:nvPicPr>
          <p:cNvPr id="20" name="Phase 4 icon" descr="preencoded.png">    </p:cNvPr>
          <p:cNvPicPr>
            <a:picLocks noChangeAspect="1"/>
          </p:cNvPicPr>
          <p:nvPr/>
        </p:nvPicPr>
        <p:blipFill>
          <a:blip r:embed="rId4"/>
          <a:stretch>
            <a:fillRect/>
          </a:stretch>
        </p:blipFill>
        <p:spPr>
          <a:xfrm>
            <a:off x="6070702" y="1635862"/>
            <a:ext cx="294437" cy="294437"/>
          </a:xfrm>
          <a:prstGeom prst="rect">
            <a:avLst/>
          </a:prstGeom>
        </p:spPr>
      </p:pic>
      <p:sp>
        <p:nvSpPr>
          <p:cNvPr id="21" name="Phase 4 number"/>
          <p:cNvSpPr txBox="1"/>
          <p:nvPr/>
        </p:nvSpPr>
        <p:spPr>
          <a:xfrm>
            <a:off x="5440680" y="2240280"/>
            <a:ext cx="1554480" cy="256032"/>
          </a:xfrm>
          <a:prstGeom prst="rect">
            <a:avLst/>
          </a:prstGeom>
          <a:noFill/>
          <a:ln/>
        </p:spPr>
        <p:txBody>
          <a:bodyPr wrap="square" lIns="0" tIns="0" rIns="0" bIns="0" rtlCol="0" anchor="ctr"/>
          <a:lstStyle/>
          <a:p>
            <a:pPr algn="ctr" indent="0" marL="0">
              <a:buNone/>
            </a:pPr>
            <a:r>
              <a:rPr lang="en-US" sz="1100" dirty="0">
                <a:solidFill>
                  <a:srgbClr val="6E6A69"/>
                </a:solidFill>
              </a:rPr>
              <a:t>Phase 4</a:t>
            </a:r>
            <a:endParaRPr lang="en-US" sz="1100" dirty="0"/>
          </a:p>
        </p:txBody>
      </p:sp>
      <p:sp>
        <p:nvSpPr>
          <p:cNvPr id="22" name="Phase 4 label"/>
          <p:cNvSpPr txBox="1"/>
          <p:nvPr/>
        </p:nvSpPr>
        <p:spPr>
          <a:xfrm>
            <a:off x="5440680" y="2487168"/>
            <a:ext cx="1554480" cy="329184"/>
          </a:xfrm>
          <a:prstGeom prst="rect">
            <a:avLst/>
          </a:prstGeom>
          <a:noFill/>
          <a:ln/>
        </p:spPr>
        <p:txBody>
          <a:bodyPr wrap="square" lIns="0" tIns="0" rIns="0" bIns="0" rtlCol="0" anchor="ctr"/>
          <a:lstStyle/>
          <a:p>
            <a:pPr algn="ctr" indent="0" marL="0">
              <a:buNone/>
            </a:pPr>
            <a:r>
              <a:rPr lang="en-US" sz="1700" b="1" dirty="0">
                <a:solidFill>
                  <a:schemeClr val="tx1"/>
                </a:solidFill>
              </a:rPr>
              <a:t>Screens</a:t>
            </a:r>
            <a:endParaRPr lang="en-US" sz="1700" dirty="0"/>
          </a:p>
        </p:txBody>
      </p:sp>
      <p:sp>
        <p:nvSpPr>
          <p:cNvPr id="23" name="Phase 4 text"/>
          <p:cNvSpPr txBox="1"/>
          <p:nvPr/>
        </p:nvSpPr>
        <p:spPr>
          <a:xfrm>
            <a:off x="5440680" y="2816352"/>
            <a:ext cx="1554480" cy="292608"/>
          </a:xfrm>
          <a:prstGeom prst="rect">
            <a:avLst/>
          </a:prstGeom>
          <a:noFill/>
          <a:ln/>
        </p:spPr>
        <p:txBody>
          <a:bodyPr wrap="square" lIns="0" tIns="0" rIns="0" bIns="0" rtlCol="0" anchor="ctr"/>
          <a:lstStyle/>
          <a:p>
            <a:pPr algn="ctr" indent="0" marL="0">
              <a:buNone/>
            </a:pPr>
            <a:r>
              <a:rPr lang="en-US" sz="1300" dirty="0">
                <a:solidFill>
                  <a:srgbClr val="6E6A69"/>
                </a:solidFill>
              </a:rPr>
              <a:t>Every screen built</a:t>
            </a:r>
            <a:endParaRPr lang="en-US" sz="1300" dirty="0"/>
          </a:p>
        </p:txBody>
      </p:sp>
      <p:sp>
        <p:nvSpPr>
          <p:cNvPr id="24" name="Phase 5 circle"/>
          <p:cNvSpPr/>
          <p:nvPr/>
        </p:nvSpPr>
        <p:spPr>
          <a:xfrm>
            <a:off x="7543800" y="1463040"/>
            <a:ext cx="640080" cy="640080"/>
          </a:xfrm>
          <a:prstGeom prst="ellipse">
            <a:avLst/>
          </a:prstGeom>
          <a:solidFill>
            <a:schemeClr val="accent4"/>
          </a:solidFill>
          <a:ln/>
        </p:spPr>
      </p:sp>
      <p:pic>
        <p:nvPicPr>
          <p:cNvPr id="25" name="Phase 5 icon" descr="preencoded.png">    </p:cNvPr>
          <p:cNvPicPr>
            <a:picLocks noChangeAspect="1"/>
          </p:cNvPicPr>
          <p:nvPr/>
        </p:nvPicPr>
        <p:blipFill>
          <a:blip r:embed="rId5"/>
          <a:stretch>
            <a:fillRect/>
          </a:stretch>
        </p:blipFill>
        <p:spPr>
          <a:xfrm>
            <a:off x="7716622" y="1635862"/>
            <a:ext cx="294437" cy="294437"/>
          </a:xfrm>
          <a:prstGeom prst="rect">
            <a:avLst/>
          </a:prstGeom>
        </p:spPr>
      </p:pic>
      <p:sp>
        <p:nvSpPr>
          <p:cNvPr id="26" name="Phase 5 number"/>
          <p:cNvSpPr txBox="1"/>
          <p:nvPr/>
        </p:nvSpPr>
        <p:spPr>
          <a:xfrm>
            <a:off x="7086600" y="2240280"/>
            <a:ext cx="1554480" cy="256032"/>
          </a:xfrm>
          <a:prstGeom prst="rect">
            <a:avLst/>
          </a:prstGeom>
          <a:noFill/>
          <a:ln/>
        </p:spPr>
        <p:txBody>
          <a:bodyPr wrap="square" lIns="0" tIns="0" rIns="0" bIns="0" rtlCol="0" anchor="ctr"/>
          <a:lstStyle/>
          <a:p>
            <a:pPr algn="ctr" indent="0" marL="0">
              <a:buNone/>
            </a:pPr>
            <a:r>
              <a:rPr lang="en-US" sz="1100" dirty="0">
                <a:solidFill>
                  <a:srgbClr val="6E6A69"/>
                </a:solidFill>
              </a:rPr>
              <a:t>Phase 5</a:t>
            </a:r>
            <a:endParaRPr lang="en-US" sz="1100" dirty="0"/>
          </a:p>
        </p:txBody>
      </p:sp>
      <p:sp>
        <p:nvSpPr>
          <p:cNvPr id="27" name="Phase 5 label"/>
          <p:cNvSpPr txBox="1"/>
          <p:nvPr/>
        </p:nvSpPr>
        <p:spPr>
          <a:xfrm>
            <a:off x="7086600" y="2487168"/>
            <a:ext cx="1554480" cy="329184"/>
          </a:xfrm>
          <a:prstGeom prst="rect">
            <a:avLst/>
          </a:prstGeom>
          <a:noFill/>
          <a:ln/>
        </p:spPr>
        <p:txBody>
          <a:bodyPr wrap="square" lIns="0" tIns="0" rIns="0" bIns="0" rtlCol="0" anchor="ctr"/>
          <a:lstStyle/>
          <a:p>
            <a:pPr algn="ctr" indent="0" marL="0">
              <a:buNone/>
            </a:pPr>
            <a:r>
              <a:rPr lang="en-US" sz="1700" b="1" dirty="0">
                <a:solidFill>
                  <a:schemeClr val="tx1"/>
                </a:solidFill>
              </a:rPr>
              <a:t>Testing</a:t>
            </a:r>
            <a:endParaRPr lang="en-US" sz="1700" dirty="0"/>
          </a:p>
        </p:txBody>
      </p:sp>
      <p:sp>
        <p:nvSpPr>
          <p:cNvPr id="28" name="Phase 5 text"/>
          <p:cNvSpPr txBox="1"/>
          <p:nvPr/>
        </p:nvSpPr>
        <p:spPr>
          <a:xfrm>
            <a:off x="7086600" y="2816352"/>
            <a:ext cx="1554480" cy="292608"/>
          </a:xfrm>
          <a:prstGeom prst="rect">
            <a:avLst/>
          </a:prstGeom>
          <a:noFill/>
          <a:ln/>
        </p:spPr>
        <p:txBody>
          <a:bodyPr wrap="square" lIns="0" tIns="0" rIns="0" bIns="0" rtlCol="0" anchor="ctr"/>
          <a:lstStyle/>
          <a:p>
            <a:pPr algn="ctr" indent="0" marL="0">
              <a:buNone/>
            </a:pPr>
            <a:r>
              <a:rPr lang="en-US" sz="1300" dirty="0">
                <a:solidFill>
                  <a:srgbClr val="6E6A69"/>
                </a:solidFill>
              </a:rPr>
              <a:t>Happening now</a:t>
            </a:r>
            <a:endParaRPr lang="en-US" sz="1300" dirty="0"/>
          </a:p>
        </p:txBody>
      </p:sp>
      <p:sp>
        <p:nvSpPr>
          <p:cNvPr id="29" name="Status card"/>
          <p:cNvSpPr/>
          <p:nvPr/>
        </p:nvSpPr>
        <p:spPr>
          <a:xfrm>
            <a:off x="457200" y="3520440"/>
            <a:ext cx="8229600" cy="868680"/>
          </a:xfrm>
          <a:prstGeom prst="roundRect">
            <a:avLst>
              <a:gd name="adj" fmla="val 8421"/>
            </a:avLst>
          </a:prstGeom>
          <a:solidFill>
            <a:schemeClr val="bg2"/>
          </a:solidFill>
          <a:ln/>
        </p:spPr>
      </p:sp>
      <p:sp>
        <p:nvSpPr>
          <p:cNvPr id="30" name="Status text"/>
          <p:cNvSpPr txBox="1"/>
          <p:nvPr/>
        </p:nvSpPr>
        <p:spPr>
          <a:xfrm>
            <a:off x="731520" y="3520440"/>
            <a:ext cx="7680960" cy="868680"/>
          </a:xfrm>
          <a:prstGeom prst="rect">
            <a:avLst/>
          </a:prstGeom>
          <a:noFill/>
          <a:ln/>
        </p:spPr>
        <p:txBody>
          <a:bodyPr wrap="square" lIns="0" tIns="0" rIns="0" bIns="0" rtlCol="0" anchor="ctr"/>
          <a:lstStyle/>
          <a:p>
            <a:pPr indent="0" marL="0">
              <a:buNone/>
            </a:pPr>
            <a:r>
              <a:rPr lang="en-US" sz="1600" b="1" dirty="0">
                <a:solidFill>
                  <a:schemeClr val="tx2"/>
                </a:solidFill>
              </a:rPr>
              <a:t>Built and working. </a:t>
            </a:r>
            <a:pPr indent="0" marL="0">
              <a:buNone/>
            </a:pPr>
            <a:r>
              <a:rPr lang="en-US" sz="1600" dirty="0">
                <a:solidFill>
                  <a:schemeClr val="tx1"/>
                </a:solidFill>
              </a:rPr>
              <a:t>Every planned feature is in, except the urgent-case queue.</a:t>
            </a:r>
            <a:endParaRPr lang="en-US" sz="16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E6A69"/>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rPr>
              <a:t>Next steps with the clinic</a:t>
            </a:r>
            <a:endParaRPr lang="en-US" sz="3200" dirty="0"/>
          </a:p>
        </p:txBody>
      </p:sp>
      <p:sp>
        <p:nvSpPr>
          <p:cNvPr id="3" name="Step 1 number"/>
          <p:cNvSpPr txBox="1"/>
          <p:nvPr/>
        </p:nvSpPr>
        <p:spPr>
          <a:xfrm>
            <a:off x="457200" y="1280160"/>
            <a:ext cx="822960" cy="914400"/>
          </a:xfrm>
          <a:prstGeom prst="rect">
            <a:avLst/>
          </a:prstGeom>
          <a:noFill/>
          <a:ln/>
        </p:spPr>
        <p:txBody>
          <a:bodyPr wrap="square" lIns="0" tIns="0" rIns="0" bIns="0" rtlCol="0" anchor="ctr"/>
          <a:lstStyle/>
          <a:p>
            <a:pPr algn="l" indent="0" marL="0">
              <a:buNone/>
            </a:pPr>
            <a:r>
              <a:rPr lang="en-US" sz="5400" b="1" dirty="0">
                <a:solidFill>
                  <a:schemeClr val="tx2"/>
                </a:solidFill>
                <a:latin typeface="Cambria" pitchFamily="34" charset="0"/>
                <a:ea typeface="Cambria" pitchFamily="34" charset="-122"/>
                <a:cs typeface="Cambria" pitchFamily="34" charset="-120"/>
              </a:rPr>
              <a:t>1</a:t>
            </a:r>
            <a:endParaRPr lang="en-US" sz="5400" dirty="0"/>
          </a:p>
        </p:txBody>
      </p:sp>
      <p:sp>
        <p:nvSpPr>
          <p:cNvPr id="4" name="Step 1 title"/>
          <p:cNvSpPr txBox="1"/>
          <p:nvPr/>
        </p:nvSpPr>
        <p:spPr>
          <a:xfrm>
            <a:off x="1371600" y="1371600"/>
            <a:ext cx="3657600" cy="365760"/>
          </a:xfrm>
          <a:prstGeom prst="rect">
            <a:avLst/>
          </a:prstGeom>
          <a:noFill/>
          <a:ln/>
        </p:spPr>
        <p:txBody>
          <a:bodyPr wrap="square" lIns="0" tIns="0" rIns="0" bIns="0" rtlCol="0" anchor="ctr"/>
          <a:lstStyle/>
          <a:p>
            <a:pPr indent="0" marL="0">
              <a:buNone/>
            </a:pPr>
            <a:r>
              <a:rPr lang="en-US" sz="2000" b="1" dirty="0">
                <a:solidFill>
                  <a:schemeClr val="tx1"/>
                </a:solidFill>
              </a:rPr>
              <a:t>Team testing</a:t>
            </a:r>
            <a:endParaRPr lang="en-US" sz="2000" dirty="0"/>
          </a:p>
        </p:txBody>
      </p:sp>
      <p:sp>
        <p:nvSpPr>
          <p:cNvPr id="5" name="Step 1 text"/>
          <p:cNvSpPr txBox="1"/>
          <p:nvPr/>
        </p:nvSpPr>
        <p:spPr>
          <a:xfrm>
            <a:off x="1371600" y="1737360"/>
            <a:ext cx="3657600" cy="365760"/>
          </a:xfrm>
          <a:prstGeom prst="rect">
            <a:avLst/>
          </a:prstGeom>
          <a:noFill/>
          <a:ln/>
        </p:spPr>
        <p:txBody>
          <a:bodyPr wrap="square" lIns="0" tIns="0" rIns="0" bIns="0" rtlCol="0" anchor="t"/>
          <a:lstStyle/>
          <a:p>
            <a:pPr indent="0" marL="0">
              <a:buNone/>
            </a:pPr>
            <a:r>
              <a:rPr lang="en-US" sz="1500" dirty="0">
                <a:solidFill>
                  <a:srgbClr val="6E6A69"/>
                </a:solidFill>
              </a:rPr>
              <a:t>We finish testing on our own computers</a:t>
            </a:r>
            <a:endParaRPr lang="en-US" sz="1500" dirty="0"/>
          </a:p>
        </p:txBody>
      </p:sp>
      <p:sp>
        <p:nvSpPr>
          <p:cNvPr id="6" name="Step 2 number"/>
          <p:cNvSpPr txBox="1"/>
          <p:nvPr/>
        </p:nvSpPr>
        <p:spPr>
          <a:xfrm>
            <a:off x="457200" y="2377440"/>
            <a:ext cx="822960" cy="914400"/>
          </a:xfrm>
          <a:prstGeom prst="rect">
            <a:avLst/>
          </a:prstGeom>
          <a:noFill/>
          <a:ln/>
        </p:spPr>
        <p:txBody>
          <a:bodyPr wrap="square" lIns="0" tIns="0" rIns="0" bIns="0" rtlCol="0" anchor="ctr"/>
          <a:lstStyle/>
          <a:p>
            <a:pPr algn="l" indent="0" marL="0">
              <a:buNone/>
            </a:pPr>
            <a:r>
              <a:rPr lang="en-US" sz="5400" b="1" dirty="0">
                <a:solidFill>
                  <a:schemeClr val="tx2"/>
                </a:solidFill>
                <a:latin typeface="Cambria" pitchFamily="34" charset="0"/>
                <a:ea typeface="Cambria" pitchFamily="34" charset="-122"/>
                <a:cs typeface="Cambria" pitchFamily="34" charset="-120"/>
              </a:rPr>
              <a:t>2</a:t>
            </a:r>
            <a:endParaRPr lang="en-US" sz="5400" dirty="0"/>
          </a:p>
        </p:txBody>
      </p:sp>
      <p:sp>
        <p:nvSpPr>
          <p:cNvPr id="7" name="Step 2 title"/>
          <p:cNvSpPr txBox="1"/>
          <p:nvPr/>
        </p:nvSpPr>
        <p:spPr>
          <a:xfrm>
            <a:off x="1371600" y="2468880"/>
            <a:ext cx="3657600" cy="365760"/>
          </a:xfrm>
          <a:prstGeom prst="rect">
            <a:avLst/>
          </a:prstGeom>
          <a:noFill/>
          <a:ln/>
        </p:spPr>
        <p:txBody>
          <a:bodyPr wrap="square" lIns="0" tIns="0" rIns="0" bIns="0" rtlCol="0" anchor="ctr"/>
          <a:lstStyle/>
          <a:p>
            <a:pPr indent="0" marL="0">
              <a:buNone/>
            </a:pPr>
            <a:r>
              <a:rPr lang="en-US" sz="2000" b="1" dirty="0">
                <a:solidFill>
                  <a:schemeClr val="tx1"/>
                </a:solidFill>
              </a:rPr>
              <a:t>Clinic walkthrough</a:t>
            </a:r>
            <a:endParaRPr lang="en-US" sz="2000" dirty="0"/>
          </a:p>
        </p:txBody>
      </p:sp>
      <p:sp>
        <p:nvSpPr>
          <p:cNvPr id="8" name="Step 2 text"/>
          <p:cNvSpPr txBox="1"/>
          <p:nvPr/>
        </p:nvSpPr>
        <p:spPr>
          <a:xfrm>
            <a:off x="1371600" y="2834640"/>
            <a:ext cx="3657600" cy="365760"/>
          </a:xfrm>
          <a:prstGeom prst="rect">
            <a:avLst/>
          </a:prstGeom>
          <a:noFill/>
          <a:ln/>
        </p:spPr>
        <p:txBody>
          <a:bodyPr wrap="square" lIns="0" tIns="0" rIns="0" bIns="0" rtlCol="0" anchor="t"/>
          <a:lstStyle/>
          <a:p>
            <a:pPr indent="0" marL="0">
              <a:buNone/>
            </a:pPr>
            <a:r>
              <a:rPr lang="en-US" sz="1500" dirty="0">
                <a:solidFill>
                  <a:srgbClr val="6E6A69"/>
                </a:solidFill>
              </a:rPr>
              <a:t>Clinic personnel try it and tell us what to change</a:t>
            </a:r>
            <a:endParaRPr lang="en-US" sz="1500" dirty="0"/>
          </a:p>
        </p:txBody>
      </p:sp>
      <p:sp>
        <p:nvSpPr>
          <p:cNvPr id="9" name="Step 3 number"/>
          <p:cNvSpPr txBox="1"/>
          <p:nvPr/>
        </p:nvSpPr>
        <p:spPr>
          <a:xfrm>
            <a:off x="457200" y="3474720"/>
            <a:ext cx="822960" cy="914400"/>
          </a:xfrm>
          <a:prstGeom prst="rect">
            <a:avLst/>
          </a:prstGeom>
          <a:noFill/>
          <a:ln/>
        </p:spPr>
        <p:txBody>
          <a:bodyPr wrap="square" lIns="0" tIns="0" rIns="0" bIns="0" rtlCol="0" anchor="ctr"/>
          <a:lstStyle/>
          <a:p>
            <a:pPr algn="l" indent="0" marL="0">
              <a:buNone/>
            </a:pPr>
            <a:r>
              <a:rPr lang="en-US" sz="5400" b="1" dirty="0">
                <a:solidFill>
                  <a:schemeClr val="tx2"/>
                </a:solidFill>
                <a:latin typeface="Cambria" pitchFamily="34" charset="0"/>
                <a:ea typeface="Cambria" pitchFamily="34" charset="-122"/>
                <a:cs typeface="Cambria" pitchFamily="34" charset="-120"/>
              </a:rPr>
              <a:t>3</a:t>
            </a:r>
            <a:endParaRPr lang="en-US" sz="5400" dirty="0"/>
          </a:p>
        </p:txBody>
      </p:sp>
      <p:sp>
        <p:nvSpPr>
          <p:cNvPr id="10" name="Step 3 title"/>
          <p:cNvSpPr txBox="1"/>
          <p:nvPr/>
        </p:nvSpPr>
        <p:spPr>
          <a:xfrm>
            <a:off x="1371600" y="3566160"/>
            <a:ext cx="3657600" cy="365760"/>
          </a:xfrm>
          <a:prstGeom prst="rect">
            <a:avLst/>
          </a:prstGeom>
          <a:noFill/>
          <a:ln/>
        </p:spPr>
        <p:txBody>
          <a:bodyPr wrap="square" lIns="0" tIns="0" rIns="0" bIns="0" rtlCol="0" anchor="ctr"/>
          <a:lstStyle/>
          <a:p>
            <a:pPr indent="0" marL="0">
              <a:buNone/>
            </a:pPr>
            <a:r>
              <a:rPr lang="en-US" sz="2000" b="1" dirty="0">
                <a:solidFill>
                  <a:schemeClr val="tx1"/>
                </a:solidFill>
              </a:rPr>
              <a:t>Installation</a:t>
            </a:r>
            <a:endParaRPr lang="en-US" sz="2000" dirty="0"/>
          </a:p>
        </p:txBody>
      </p:sp>
      <p:sp>
        <p:nvSpPr>
          <p:cNvPr id="11" name="Step 3 text"/>
          <p:cNvSpPr txBox="1"/>
          <p:nvPr/>
        </p:nvSpPr>
        <p:spPr>
          <a:xfrm>
            <a:off x="1371600" y="3931920"/>
            <a:ext cx="3657600" cy="365760"/>
          </a:xfrm>
          <a:prstGeom prst="rect">
            <a:avLst/>
          </a:prstGeom>
          <a:noFill/>
          <a:ln/>
        </p:spPr>
        <p:txBody>
          <a:bodyPr wrap="square" lIns="0" tIns="0" rIns="0" bIns="0" rtlCol="0" anchor="t"/>
          <a:lstStyle/>
          <a:p>
            <a:pPr indent="0" marL="0">
              <a:buNone/>
            </a:pPr>
            <a:r>
              <a:rPr lang="en-US" sz="1500" dirty="0">
                <a:solidFill>
                  <a:srgbClr val="6E6A69"/>
                </a:solidFill>
              </a:rPr>
              <a:t>Set up on the clinic’s computer, then turnover</a:t>
            </a:r>
            <a:endParaRPr lang="en-US" sz="1500" dirty="0"/>
          </a:p>
        </p:txBody>
      </p:sp>
      <p:sp>
        <p:nvSpPr>
          <p:cNvPr id="12" name="Ask card"/>
          <p:cNvSpPr/>
          <p:nvPr/>
        </p:nvSpPr>
        <p:spPr>
          <a:xfrm>
            <a:off x="5486400" y="1371600"/>
            <a:ext cx="3200400" cy="2926080"/>
          </a:xfrm>
          <a:prstGeom prst="roundRect">
            <a:avLst>
              <a:gd name="adj" fmla="val 2500"/>
            </a:avLst>
          </a:prstGeom>
          <a:solidFill>
            <a:schemeClr val="tx2"/>
          </a:solidFill>
          <a:ln/>
        </p:spPr>
      </p:sp>
      <p:pic>
        <p:nvPicPr>
          <p:cNvPr id="13" name="Ask icon" descr="preencoded.png">    </p:cNvPr>
          <p:cNvPicPr>
            <a:picLocks noChangeAspect="1"/>
          </p:cNvPicPr>
          <p:nvPr/>
        </p:nvPicPr>
        <p:blipFill>
          <a:blip r:embed="rId1"/>
          <a:stretch>
            <a:fillRect/>
          </a:stretch>
        </p:blipFill>
        <p:spPr>
          <a:xfrm>
            <a:off x="5806440" y="1920240"/>
            <a:ext cx="548640" cy="548640"/>
          </a:xfrm>
          <a:prstGeom prst="rect">
            <a:avLst/>
          </a:prstGeom>
        </p:spPr>
      </p:pic>
      <p:sp>
        <p:nvSpPr>
          <p:cNvPr id="14" name="Ask title"/>
          <p:cNvSpPr txBox="1"/>
          <p:nvPr/>
        </p:nvSpPr>
        <p:spPr>
          <a:xfrm>
            <a:off x="5806440" y="2606040"/>
            <a:ext cx="2560320" cy="365760"/>
          </a:xfrm>
          <a:prstGeom prst="rect">
            <a:avLst/>
          </a:prstGeom>
          <a:noFill/>
          <a:ln/>
        </p:spPr>
        <p:txBody>
          <a:bodyPr wrap="square" lIns="0" tIns="0" rIns="0" bIns="0" rtlCol="0" anchor="ctr"/>
          <a:lstStyle/>
          <a:p>
            <a:pPr indent="0" marL="0">
              <a:buNone/>
            </a:pPr>
            <a:r>
              <a:rPr lang="en-US" sz="2000" b="1" dirty="0">
                <a:solidFill>
                  <a:schemeClr val="bg1"/>
                </a:solidFill>
              </a:rPr>
              <a:t>What we ask</a:t>
            </a:r>
            <a:endParaRPr lang="en-US" sz="2000" dirty="0"/>
          </a:p>
        </p:txBody>
      </p:sp>
      <p:sp>
        <p:nvSpPr>
          <p:cNvPr id="15" name="Ask text"/>
          <p:cNvSpPr txBox="1"/>
          <p:nvPr/>
        </p:nvSpPr>
        <p:spPr>
          <a:xfrm>
            <a:off x="5806440" y="3017520"/>
            <a:ext cx="2560320" cy="914400"/>
          </a:xfrm>
          <a:prstGeom prst="rect">
            <a:avLst/>
          </a:prstGeom>
          <a:noFill/>
          <a:ln/>
        </p:spPr>
        <p:txBody>
          <a:bodyPr wrap="square" lIns="0" tIns="0" rIns="0" bIns="0" rtlCol="0" anchor="t"/>
          <a:lstStyle/>
          <a:p>
            <a:pPr indent="0" marL="0">
              <a:buNone/>
            </a:pPr>
            <a:r>
              <a:rPr lang="en-US" sz="1600" dirty="0">
                <a:solidFill>
                  <a:schemeClr val="bg1"/>
                </a:solidFill>
              </a:rPr>
              <a:t>Your time for a short walkthrough, and your honest feedback.</a:t>
            </a:r>
            <a:endParaRPr lang="en-US" sz="16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E6A69"/>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914400"/>
            <a:ext cx="8046720" cy="822960"/>
          </a:xfrm>
          <a:prstGeom prst="rect">
            <a:avLst/>
          </a:prstGeom>
          <a:noFill/>
          <a:ln/>
        </p:spPr>
        <p:txBody>
          <a:bodyPr wrap="square" lIns="0" tIns="0" rIns="0" bIns="0" rtlCol="0" anchor="ctr"/>
          <a:lstStyle/>
          <a:p>
            <a:pPr algn="l" indent="0" marL="0">
              <a:buNone/>
            </a:pPr>
            <a:r>
              <a:rPr lang="en-US" sz="4400" b="1" dirty="0">
                <a:solidFill>
                  <a:schemeClr val="bg1"/>
                </a:solidFill>
              </a:rPr>
              <a:t>Thank you</a:t>
            </a:r>
            <a:endParaRPr lang="en-US" sz="4400" dirty="0"/>
          </a:p>
        </p:txBody>
      </p:sp>
      <p:sp>
        <p:nvSpPr>
          <p:cNvPr id="3" name="Text 0"/>
          <p:cNvSpPr/>
          <p:nvPr>
            <p:ph idx="101" type="body" hasCustomPrompt="1"/>
          </p:nvPr>
        </p:nvSpPr>
        <p:spPr>
          <a:xfrm>
            <a:off x="548640" y="1783080"/>
            <a:ext cx="8046720" cy="457200"/>
          </a:xfrm>
          <a:prstGeom prst="rect">
            <a:avLst/>
          </a:prstGeom>
          <a:noFill/>
          <a:ln/>
        </p:spPr>
        <p:txBody>
          <a:bodyPr wrap="square" lIns="0" tIns="0" rIns="0" bIns="0" rtlCol="0" anchor="t"/>
          <a:lstStyle/>
          <a:p>
            <a:pPr algn="l" indent="0" marL="0">
              <a:buNone/>
            </a:pPr>
            <a:r>
              <a:rPr lang="en-US" sz="1800" dirty="0">
                <a:solidFill>
                  <a:schemeClr val="bg1"/>
                </a:solidFill>
              </a:rPr>
              <a:t>We welcome your questions and suggestions.</a:t>
            </a:r>
            <a:endParaRPr lang="en-US" sz="1800" dirty="0"/>
          </a:p>
        </p:txBody>
      </p:sp>
      <p:sp>
        <p:nvSpPr>
          <p:cNvPr id="4" name="Seal circle"/>
          <p:cNvSpPr/>
          <p:nvPr/>
        </p:nvSpPr>
        <p:spPr>
          <a:xfrm>
            <a:off x="7635240" y="548640"/>
            <a:ext cx="960120" cy="960120"/>
          </a:xfrm>
          <a:prstGeom prst="ellipse">
            <a:avLst/>
          </a:prstGeom>
          <a:solidFill>
            <a:schemeClr val="bg1"/>
          </a:solidFill>
          <a:ln/>
        </p:spPr>
      </p:sp>
      <p:pic>
        <p:nvPicPr>
          <p:cNvPr id="5" name="HAU seal" descr="preencoded.png">    </p:cNvPr>
          <p:cNvPicPr>
            <a:picLocks noChangeAspect="1"/>
          </p:cNvPicPr>
          <p:nvPr/>
        </p:nvPicPr>
        <p:blipFill>
          <a:blip r:embed="rId1"/>
          <a:stretch>
            <a:fillRect/>
          </a:stretch>
        </p:blipFill>
        <p:spPr>
          <a:xfrm>
            <a:off x="7703820" y="617220"/>
            <a:ext cx="822960" cy="822960"/>
          </a:xfrm>
          <a:prstGeom prst="rect">
            <a:avLst/>
          </a:prstGeom>
        </p:spPr>
      </p:pic>
      <p:sp>
        <p:nvSpPr>
          <p:cNvPr id="6" name="Team heading"/>
          <p:cNvSpPr txBox="1"/>
          <p:nvPr/>
        </p:nvSpPr>
        <p:spPr>
          <a:xfrm>
            <a:off x="548640" y="2743200"/>
            <a:ext cx="5486400" cy="274320"/>
          </a:xfrm>
          <a:prstGeom prst="rect">
            <a:avLst/>
          </a:prstGeom>
          <a:noFill/>
          <a:ln/>
        </p:spPr>
        <p:txBody>
          <a:bodyPr wrap="square" lIns="0" tIns="0" rIns="0" bIns="0" rtlCol="0" anchor="ctr"/>
          <a:lstStyle/>
          <a:p>
            <a:pPr indent="0" marL="0">
              <a:buNone/>
            </a:pPr>
            <a:r>
              <a:rPr lang="en-US" sz="1200" b="1" dirty="0">
                <a:solidFill>
                  <a:schemeClr val="bg1"/>
                </a:solidFill>
              </a:rPr>
              <a:t>The team · CS-302</a:t>
            </a:r>
            <a:endParaRPr lang="en-US" sz="1200" dirty="0"/>
          </a:p>
        </p:txBody>
      </p:sp>
      <p:sp>
        <p:nvSpPr>
          <p:cNvPr id="7" name="Team column 1"/>
          <p:cNvSpPr txBox="1"/>
          <p:nvPr/>
        </p:nvSpPr>
        <p:spPr>
          <a:xfrm>
            <a:off x="548640" y="3063240"/>
            <a:ext cx="2926080" cy="868680"/>
          </a:xfrm>
          <a:prstGeom prst="rect">
            <a:avLst/>
          </a:prstGeom>
          <a:noFill/>
          <a:ln/>
        </p:spPr>
        <p:txBody>
          <a:bodyPr wrap="square" lIns="0" tIns="0" rIns="0" bIns="0" rtlCol="0" anchor="t"/>
          <a:lstStyle/>
          <a:p>
            <a:pPr indent="0" marL="0">
              <a:buNone/>
            </a:pPr>
            <a:r>
              <a:rPr lang="en-US" sz="1400" dirty="0">
                <a:solidFill>
                  <a:schemeClr val="bg1"/>
                </a:solidFill>
              </a:rPr>
              <a:t>Sean Jarin Dela Cruz</a:t>
            </a:r>
            <a:endParaRPr lang="en-US" sz="1400" dirty="0"/>
          </a:p>
          <a:p>
            <a:pPr indent="0" marL="0">
              <a:buNone/>
            </a:pPr>
            <a:r>
              <a:rPr lang="en-US" sz="1400" dirty="0">
                <a:solidFill>
                  <a:schemeClr val="bg1"/>
                </a:solidFill>
              </a:rPr>
              <a:t>Mikko Brandon B. Panergo</a:t>
            </a:r>
            <a:endParaRPr lang="en-US" sz="1400" dirty="0"/>
          </a:p>
          <a:p>
            <a:pPr indent="0" marL="0">
              <a:buNone/>
            </a:pPr>
            <a:r>
              <a:rPr lang="en-US" sz="1400" dirty="0">
                <a:solidFill>
                  <a:schemeClr val="bg1"/>
                </a:solidFill>
              </a:rPr>
              <a:t>Bernard Rodriguez Jr.</a:t>
            </a:r>
            <a:endParaRPr lang="en-US" sz="1400" dirty="0"/>
          </a:p>
        </p:txBody>
      </p:sp>
      <p:sp>
        <p:nvSpPr>
          <p:cNvPr id="8" name="Team column 2"/>
          <p:cNvSpPr txBox="1"/>
          <p:nvPr/>
        </p:nvSpPr>
        <p:spPr>
          <a:xfrm>
            <a:off x="3566160" y="3063240"/>
            <a:ext cx="2926080" cy="868680"/>
          </a:xfrm>
          <a:prstGeom prst="rect">
            <a:avLst/>
          </a:prstGeom>
          <a:noFill/>
          <a:ln/>
        </p:spPr>
        <p:txBody>
          <a:bodyPr wrap="square" lIns="0" tIns="0" rIns="0" bIns="0" rtlCol="0" anchor="t"/>
          <a:lstStyle/>
          <a:p>
            <a:pPr indent="0" marL="0">
              <a:buNone/>
            </a:pPr>
            <a:r>
              <a:rPr lang="en-US" sz="1400" dirty="0">
                <a:solidFill>
                  <a:schemeClr val="bg1"/>
                </a:solidFill>
              </a:rPr>
              <a:t>Gil Miranda</a:t>
            </a:r>
            <a:endParaRPr lang="en-US" sz="1400" dirty="0"/>
          </a:p>
          <a:p>
            <a:pPr indent="0" marL="0">
              <a:buNone/>
            </a:pPr>
            <a:r>
              <a:rPr lang="en-US" sz="1400" dirty="0">
                <a:solidFill>
                  <a:schemeClr val="bg1"/>
                </a:solidFill>
              </a:rPr>
              <a:t>Mclaren Ais Miranda</a:t>
            </a:r>
            <a:endParaRPr lang="en-US" sz="1400" dirty="0"/>
          </a:p>
          <a:p>
            <a:pPr indent="0" marL="0">
              <a:buNone/>
            </a:pPr>
            <a:r>
              <a:rPr lang="en-US" sz="1400" dirty="0">
                <a:solidFill>
                  <a:schemeClr val="bg1"/>
                </a:solidFill>
              </a:rPr>
              <a:t>Paolo Villanueva</a:t>
            </a:r>
            <a:endParaRPr lang="en-US" sz="1400" dirty="0"/>
          </a:p>
        </p:txBody>
      </p:sp>
      <p:sp>
        <p:nvSpPr>
          <p:cNvPr id="9" name="Adviser"/>
          <p:cNvSpPr txBox="1"/>
          <p:nvPr/>
        </p:nvSpPr>
        <p:spPr>
          <a:xfrm>
            <a:off x="548640" y="4206240"/>
            <a:ext cx="5486400" cy="274320"/>
          </a:xfrm>
          <a:prstGeom prst="rect">
            <a:avLst/>
          </a:prstGeom>
          <a:noFill/>
          <a:ln/>
        </p:spPr>
        <p:txBody>
          <a:bodyPr wrap="square" lIns="0" tIns="0" rIns="0" bIns="0" rtlCol="0" anchor="ctr"/>
          <a:lstStyle/>
          <a:p>
            <a:pPr indent="0" marL="0">
              <a:buNone/>
            </a:pPr>
            <a:r>
              <a:rPr lang="en-US" sz="1200" dirty="0">
                <a:solidFill>
                  <a:schemeClr val="bg1"/>
                </a:solidFill>
              </a:rPr>
              <a:t>Project adviser: Prof. Evicen Flores</a:t>
            </a:r>
            <a:endParaRPr lang="en-US" sz="1200" dirty="0"/>
          </a:p>
        </p:txBody>
      </p:sp>
    </p:spTree>
  </p:cSld>
  <p:clrMapOvr>
    <a:masterClrMapping/>
  </p:clrMapOvr>
</p:sld>
</file>

<file path=ppt/theme/theme1.xml><?xml version="1.0" encoding="utf-8"?>
<a:theme xmlns:a="http://schemas.openxmlformats.org/drawingml/2006/main" name="HAU-Sync">
  <a:themeElements>
    <a:clrScheme name="HAU-Sync">
      <a:dk1>
        <a:srgbClr val="1F1D1D"/>
      </a:dk1>
      <a:lt1>
        <a:srgbClr val="FFFFFF"/>
      </a:lt1>
      <a:dk2>
        <a:srgbClr val="7A1C2A"/>
      </a:dk2>
      <a:lt2>
        <a:srgbClr val="F5F5F4"/>
      </a:lt2>
      <a:accent1>
        <a:srgbClr val="7A1C2A"/>
      </a:accent1>
      <a:accent2>
        <a:srgbClr val="2E2C2C"/>
      </a:accent2>
      <a:accent3>
        <a:srgbClr val="1B7A3D"/>
      </a:accent3>
      <a:accent4>
        <a:srgbClr val="A85B06"/>
      </a:accent4>
      <a:accent5>
        <a:srgbClr val="1D4EA8"/>
      </a:accent5>
      <a:accent6>
        <a:srgbClr val="6A3D9A"/>
      </a:accent6>
      <a:hlink>
        <a:srgbClr val="7A1C2A"/>
      </a:hlink>
      <a:folHlink>
        <a:srgbClr val="6B1623"/>
      </a:folHlink>
    </a:clrScheme>
    <a:fontScheme name="HAU-Sync">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HAU-Sync: Introduction for the University Clinic</dc:title>
  <dc:subject>PptxGenJS Presentation</dc:subject>
  <dc:creator>CS-302, Holy Angel University</dc:creator>
  <cp:lastModifiedBy>CS-302, Holy Angel University</cp:lastModifiedBy>
  <cp:revision>1</cp:revision>
  <dcterms:created xsi:type="dcterms:W3CDTF">2026-10-07T03:15:16Z</dcterms:created>
  <dcterms:modified xsi:type="dcterms:W3CDTF">2026-10-07T03:15:16Z</dcterms:modified>
</cp:coreProperties>
</file>